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c4cdaca6d946ab" /><Relationship Type="http://schemas.openxmlformats.org/officeDocument/2006/relationships/extended-properties" Target="/docProps/app.xml" Id="R833572bfb4ac4a57" /><Relationship Type="http://schemas.openxmlformats.org/officeDocument/2006/relationships/officeDocument" Target="/ppt/presentation.xml" Id="R3d1ba1ddf19a48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3adc0ec65c4ea5"/>
  </p:sldMasterIdLst>
  <p:notesMasterIdLst>
    <p:notesMasterId xmlns:r="http://schemas.openxmlformats.org/officeDocument/2006/relationships" r:id="Rdd60807093fd4fde"/>
  </p:notesMasterIdLst>
  <p:sldIdLst>
    <p:sldId xmlns:r="http://schemas.openxmlformats.org/officeDocument/2006/relationships" id="256" r:id="R226d2194b6fb4d97"/>
    <p:sldId xmlns:r="http://schemas.openxmlformats.org/officeDocument/2006/relationships" id="257" r:id="Rfe9c97a6d9f24e07"/>
    <p:sldId xmlns:r="http://schemas.openxmlformats.org/officeDocument/2006/relationships" id="258" r:id="R4844436c945d4ba8"/>
    <p:sldId xmlns:r="http://schemas.openxmlformats.org/officeDocument/2006/relationships" id="259" r:id="Rc64755a9ee0e4414"/>
    <p:sldId xmlns:r="http://schemas.openxmlformats.org/officeDocument/2006/relationships" id="260" r:id="Rec34629fc9e4414a"/>
    <p:sldId xmlns:r="http://schemas.openxmlformats.org/officeDocument/2006/relationships" id="261" r:id="Re85faee80e1e41ac"/>
    <p:sldId xmlns:r="http://schemas.openxmlformats.org/officeDocument/2006/relationships" id="262" r:id="R1caac9e1890a49d5"/>
    <p:sldId xmlns:r="http://schemas.openxmlformats.org/officeDocument/2006/relationships" id="263" r:id="R8290dc069ec14de9"/>
    <p:sldId xmlns:r="http://schemas.openxmlformats.org/officeDocument/2006/relationships" id="264" r:id="Rd42ec99468e64c82"/>
    <p:sldId xmlns:r="http://schemas.openxmlformats.org/officeDocument/2006/relationships" id="265" r:id="R665712657a994119"/>
    <p:sldId xmlns:r="http://schemas.openxmlformats.org/officeDocument/2006/relationships" id="266" r:id="Ra330c668e6e74d86"/>
    <p:sldId xmlns:r="http://schemas.openxmlformats.org/officeDocument/2006/relationships" id="267" r:id="Reee2b4fa469a43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adc0ec65c4ea5" /><Relationship Type="http://schemas.openxmlformats.org/officeDocument/2006/relationships/theme" Target="/ppt/theme/theme1.xml" Id="R2cb03ee6173a4cc4" /><Relationship Type="http://schemas.openxmlformats.org/officeDocument/2006/relationships/notesMaster" Target="/ppt/notesMasters/notesMaster1.xml" Id="Rdd60807093fd4fde" /><Relationship Type="http://schemas.openxmlformats.org/officeDocument/2006/relationships/presProps" Target="/ppt/presProps.xml" Id="R553185b448e84304" /><Relationship Type="http://schemas.openxmlformats.org/officeDocument/2006/relationships/viewProps" Target="/ppt/viewProps.xml" Id="Reb479c371ec44919" /><Relationship Type="http://schemas.openxmlformats.org/officeDocument/2006/relationships/tableStyles" Target="/ppt/tableStyles.xml" Id="R9ef5834f79ad4740" /><Relationship Type="http://schemas.openxmlformats.org/officeDocument/2006/relationships/slide" Target="/ppt/slides/slide1.xml" Id="R226d2194b6fb4d97" /><Relationship Type="http://schemas.openxmlformats.org/officeDocument/2006/relationships/slide" Target="/ppt/slides/slide2.xml" Id="Rfe9c97a6d9f24e07" /><Relationship Type="http://schemas.openxmlformats.org/officeDocument/2006/relationships/slide" Target="/ppt/slides/slide3.xml" Id="R4844436c945d4ba8" /><Relationship Type="http://schemas.openxmlformats.org/officeDocument/2006/relationships/slide" Target="/ppt/slides/slide4.xml" Id="Rc64755a9ee0e4414" /><Relationship Type="http://schemas.openxmlformats.org/officeDocument/2006/relationships/slide" Target="/ppt/slides/slide5.xml" Id="Rec34629fc9e4414a" /><Relationship Type="http://schemas.openxmlformats.org/officeDocument/2006/relationships/slide" Target="/ppt/slides/slide6.xml" Id="Re85faee80e1e41ac" /><Relationship Type="http://schemas.openxmlformats.org/officeDocument/2006/relationships/slide" Target="/ppt/slides/slide7.xml" Id="R1caac9e1890a49d5" /><Relationship Type="http://schemas.openxmlformats.org/officeDocument/2006/relationships/slide" Target="/ppt/slides/slide8.xml" Id="R8290dc069ec14de9" /><Relationship Type="http://schemas.openxmlformats.org/officeDocument/2006/relationships/slide" Target="/ppt/slides/slide9.xml" Id="Rd42ec99468e64c82" /><Relationship Type="http://schemas.openxmlformats.org/officeDocument/2006/relationships/slide" Target="/ppt/slides/slide10.xml" Id="R665712657a994119" /><Relationship Type="http://schemas.openxmlformats.org/officeDocument/2006/relationships/slide" Target="/ppt/slides/slide11.xml" Id="Ra330c668e6e74d86" /><Relationship Type="http://schemas.openxmlformats.org/officeDocument/2006/relationships/slide" Target="/ppt/slides/slide12.xml" Id="Reee2b4fa469a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f2f7bd9289447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00e8458b574c02" /><Relationship Type="http://schemas.openxmlformats.org/officeDocument/2006/relationships/notesMaster" Target="/ppt/notesMasters/notesMaster1.xml" Id="Rb3b095138e1f41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98ffc6ec6740c7" /><Relationship Type="http://schemas.openxmlformats.org/officeDocument/2006/relationships/notesMaster" Target="/ppt/notesMasters/notesMaster1.xml" Id="R4da639ff52d941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df046ec6e341c2" /><Relationship Type="http://schemas.openxmlformats.org/officeDocument/2006/relationships/notesMaster" Target="/ppt/notesMasters/notesMaster1.xml" Id="Rec910797c56148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c2c59ec294e0d" /><Relationship Type="http://schemas.openxmlformats.org/officeDocument/2006/relationships/notesMaster" Target="/ppt/notesMasters/notesMaster1.xml" Id="R2bc40f8bab9a43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770c3d50cd47d5" /><Relationship Type="http://schemas.openxmlformats.org/officeDocument/2006/relationships/notesMaster" Target="/ppt/notesMasters/notesMaster1.xml" Id="Rb77474134c2a43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96448def274d70" /><Relationship Type="http://schemas.openxmlformats.org/officeDocument/2006/relationships/notesMaster" Target="/ppt/notesMasters/notesMaster1.xml" Id="R7b90df0b2bb64c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f119b6ced94a2a" /><Relationship Type="http://schemas.openxmlformats.org/officeDocument/2006/relationships/notesMaster" Target="/ppt/notesMasters/notesMaster1.xml" Id="R5775f36cc4324f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c512d121af4dfe" /><Relationship Type="http://schemas.openxmlformats.org/officeDocument/2006/relationships/notesMaster" Target="/ppt/notesMasters/notesMaster1.xml" Id="R4cb66f55f72c41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8ae1930b93437f" /><Relationship Type="http://schemas.openxmlformats.org/officeDocument/2006/relationships/notesMaster" Target="/ppt/notesMasters/notesMaster1.xml" Id="R8dadfec236b847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6d87828bdc49cc" /><Relationship Type="http://schemas.openxmlformats.org/officeDocument/2006/relationships/notesMaster" Target="/ppt/notesMasters/notesMaster1.xml" Id="Rea5dc34cf5b645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a772ce24c84c2b" /><Relationship Type="http://schemas.openxmlformats.org/officeDocument/2006/relationships/notesMaster" Target="/ppt/notesMasters/notesMaster1.xml" Id="Re8d0f0a4d7064d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a5d747a73d4fc3" /><Relationship Type="http://schemas.openxmlformats.org/officeDocument/2006/relationships/notesMaster" Target="/ppt/notesMasters/notesMaster1.xml" Id="R486550e1b6c547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今天我汇报的是 DeepAudit 智能审计平台。先给一个结论：它已经不是单点扫描工具，而是一套把“项目接入、分析、验证、报告交付”串成闭环的审计平台。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我会从四个部分展开：为什么要做、现在已经做成了什么、背后的架构和实现方法，以及现场怎么演示。整场汇报我会尽量少讲概念，多讲结果和能力，也会把现场演示和技术实现对应起来，方便大家更直观地看到 DeepAudit 已经具备的完整链路。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我们之所以做 DeepAudit，核心原因是传统扫描工具虽然能发现问题，但普遍存在三个短板：第一，结果解释弱，很多时候只能告诉你“有问题”，但不能很好地说明“为什么是问题”；第二，验证弱，很多发现停留在静态扫描层面，缺少动态验证和上下文判断；第三，交付弱，结果往往碎片化，难以直接形成标准化报告，也不利于复盘和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DeepAudit 的定位不是“再做一个扫描器”，而是把审计升级成一个可运行、可追踪、可复用的工作台。它要解决的不是单次发现，而是把项目接入之后的分析、验证和报告形成一个完整闭环，让审计结果真正能用于汇报、留档和后续治理。换句话说，DeepAudit 的价值不是多扫几个漏洞，而是把安全审计从“工具输出”变成“流程化交付”。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这一页我想重点说明，DeepAudit 现在已经不是一些零散功能点，而是形成了“接入—分析—治理—交付”的完整链路。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在项目接入层面，我们支持仓库、ZIP、分支、成员、回收站等对象，项目的权限和上下文都已经可以统一管理；在审计能力层面，既支持传统扫描，也支持 Agent 审计和即时分析；在策略治理层面，规则集、提示词模板、RAG 知识库和系统配置都已经对象化管理；在结果交付层面，Dashboard、任务详情、PDF 和 JSON 报告也已经串通。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如果把它抽象成对象模型，可以理解为以 AuditProject 作为上下文根对象，下面挂着 AuditTask、AgentTask、AgentFinding、AuditArtifact、Report 这些核心对象。这样做的好处是，项目、任务、策略、知识和报告都围绕同一个主链来组织，既便于追踪，也便于回放和复用。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架构上，DeepAudit 采用的是独立前端加后端聚合服务的方式。前端是单独的 /deepaudit-app/，主要负责交互、展示和实时渲染；后端统一挂在 /api/deepaudit/*，按业务域拆分，不是一个大接口包打天下；长任务则交给 Celery 和 AgentRunner 去执行，实时结果再通过 SSE 和 WebSocket 回传到前端。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这里最关键的不是“接口多不多”，而是“执行”和“回传”被拆开了。这样长任务就不会把页面卡死，前端也能持续看到过程，而不是只能等一个最终结果。整条链路里，ASGI、Redis、Channels 和 Nginx 都不是背景板，而是整个实时链路成立的基础。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从运行方式上看，我们其实是把 DeepAudit 做成了一个可观测的异步系统：用户看到的是界面，系统内部跑的是任务编排、状态传递和事件流推送。这样既能支撑现场演示，也能支撑后续正式部署。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这一页讲的是多智能体编排架构。DeepAudit 不是让一个大模型一把梭，而是让 Orchestrator 先做规划，再把任务拆给不同角色的 Agent 去执行。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Orchestrator 的职责是判断当前审计阶段应该先做什么，再决定是走侦察、分析还是验证。它采用的不是静态流程图，而是基于 ReAct 的循环决策：先思考，再调用工具或派发子任务，再根据观察结果继续收敛。这样做的好处是，面对不同项目、不同代码结构、不同风险类型时，系统可以动态调整策略，而不是被固定规则限制住。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下面这三个子 Agent 的分工也很清晰：Recon 负责识别项目结构、技术栈和高危入口；Analysis 负责结合工具和上下文做深层漏洞挖掘；Verification 负责减少误报，并在必要时做更进一步的验证。它们之间不是并列摆设，而是通过 TaskHandoff 协议传递上下文、证据和高优先级区域。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所以这一页的核心信息是：DeepAudit 的智能不是“一个模型说了算”，而是“编排、分工、交接、验证”共同形成的。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实现方法上，DeepAudit 的核心思路可以概括成一句话：先工具、再推理；先收敛、再验证；先回传、再报告。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在任务入口层，我们把项目任务、传统扫描任务和 Agent 审计任务分成不同的服务域来处理，避免一套逻辑覆盖所有场景。工作区准备阶段会统一处理 workspace、git worktree、ZIP、SSH 和目录清理，这样不管是仓库、压缩包还是远程访问，都能进入同一条分析链。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在编排层，Orchestrator 负责先决定审计范围，再调度 recon、analysis、verification、reporting 这些阶段。这里不是一上来就让模型直接下结论，而是先让工具跑起来，再让模型做语义收敛和解释。像 Semgrep、Bandit、Gitleaks、OSV-Scanner 这些外部工具，会先帮我们把事实面的问题筛出来；随后模型再结合上下文做归因、解释和建议。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在实时层，我们把 thinking、tool_call、finding、checkpoint 这些中间状态都持续回传出来，前端也支持断点续传和重连。这样一来，DeepAudit 展示给领导的不是一个静态终稿，而是一个过程可见、结果可复核、任务可恢复的审计系统。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这一页继续讲工具链和沙箱验证。DeepAudit 的思路不是只依赖模型，而是先把专业工具链接进来，用工具负责事实面的覆盖，再由模型负责解释和收敛。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工具层里，像 Semgrep、Bandit、Gitleaks、OSV-Scanner 这些外部工具先承担广覆盖扫描；同时我们也保留 AST 和代码语义能力，帮助模型更准确地理解函数、类、调用链和数据流。这样做的好处是，模型不会只看到文本片段，而是能拿到更完整的上下文。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更关键的是验证层。对于有条件进一步确认的漏洞，DeepAudit 会把上下文交给沙箱环境，自动生成 PoC 或验证逻辑，再在隔离环境中执行。这样就能把“疑似问题”往“可利用问题”推进，减少传统静态扫描里最常见的误报和歧义。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所以这一页想强调的是：DeepAudit 不是只会发现问题，而是尽量把问题确认到可解释、可验证的程度。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这一页的重点是：我们把“经验”和“事实”分开管理了。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通用漏洞知识、项目专项知识和项目代码 RAG 三层分别承担不同职责。共享基线知识负责通用漏洞模式和长期稳定规则；项目专项知识负责团队经验、误报边界和内部规范；项目 RAG 则负责把当前仓库里的事实找出来，也就是“这个项目现在到底有什么”。这样设计之后，DeepAudit 就不会把知识、规则和项目上下文混在一起，减少经验散落和重复维护。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在配置上，LLM 和 Embedding 都可以通过内网网关访问，LLM_BASE_URL 和 EMBEDDING_BASE_URL 都可以指向受控地址，避免生产流量直接出网；首 token 超时和流式超时也都有独立控制；tiktoken 还能走本地缓存，保证离线或内网环境也能稳定运行。同时，用户级配置还能覆盖系统默认值，这样不同团队、不同模型策略都能按自己的方式接入。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所以这部分的本质是：知识库负责经验，RAG 负责事实，模型配置负责边界。三者一起，DeepAudit 才能稳定地做出可解释、可控的审计结果。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这一页我建议按固定顺序演示，这样领导能先看到结果，再看到过程。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第一步先看 Dashboard，让大家先建立整体印象：总览、最近项目、任务数量、规则和模板统计都能一眼看到。第二步进入项目管理，看看仓库、ZIP、分支、成员和项目详情，确认项目接入本身是完整的。第三步打开一个 Agent 审计任务，重点看实时事件流、任务树、Finding 和 Checkpoint，让大家看到它不是一次性出结果，而是边分析边回传。第四步打开报告页，展示问题定位、修复建议，以及 PDF / JSON 的导出。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如果现场实时流比较稳定，就尽量让大家看到完整过程；如果实时流临时不稳定，也不要硬撑，直接切到报告页或截图兜底，因为今天要证明的不是某个按钮，而是“项目接入 + 分析 + 报告”这条主线已经跑通。演示时我会特别强调：DeepAudit 的价值不是把页面点一遍，而是把一个项目从接入到交付的闭环完整跑出来。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这一页我想传达两个信息。第一，DeepAudit 的主线闭环已经成型，项目接入、智能分析、实时回传和报告交付都已经跑通；第二，现在已经不是“有没有”的问题，而是“怎么持续运营、怎么沉淀价值”的问题。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所以接下来我们的重点会放在四件事上：一是继续补充知识库，把更多真实场景、误报边界和修复建议沉淀进去；二是扩展规则覆盖，让更多语言、框架和项目类型都能更稳定地支持；三是完善部署监控，把 ASGI、Redis、Nginx 和日志告警这些基础设施补齐；四是补真实运营指标。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这页里预留的几个指标位，比如审计任务数、有效发现数、报告导出数、知识库条目数，建议现场前再补真实数据，避免在 PPT 里硬编数字。所以这一页的结论很简单：平台已经跑通，下一步是把能力沉淀成可持续运营的能力。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这页主要是给领导和现场问答做技术备份，方便快速对上“页面怎么进、接口怎么挂”。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前端这边，/ 是 Agent 审计工作台，/dashboard 是仪表盘，/projects 是项目管理，/instant-analysis 是即时分析，/audit-tasks 是传统任务，/audit-rules、/prompts、/admin、/recycle-bin 则对应策略治理和回收站。这样做的好处是，页面和业务域是一一对应的，不会混在一起。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后端这边，接口按业务域拆分：项目、成员、扫描、Agent 任务、规则、提示词、配置、RAG、数据工具、看板和报告都各有入口，不是单一大接口。前端实时链路则由 agentStream.ts、useResilientStream.ts 和相关适配层一起支撑，整体通过 SSE 和 WebSocket 回传。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如果现场有人问“为什么要这么拆”，你可以直接回答：因为这样更利于维护、更利于扩展，也更利于把一个大平台拆成清晰的业务边界。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这页是现场兜底说明，主要解决两个问题：如果实时流不稳怎么办，以及正式演示前要先确认哪些基础依赖。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第一，演示时如果 SSE 或 WebSocket 不稳定，我们就先保主线，再切截图兜底。只要“项目接入 + 分析 + 报告”能跑通，主线就成立，实时流是加分项，不是唯一证明方式。第二，部署前要先确认 ASGI、Celery、Redis、Channels、Nginx 这些基础依赖都正常，特别是流式输出不要被代理缓冲。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常见故障可以这么排查：如果页面能打开但不刷新，优先查 SSE、WebSocket、buffering 和 Nginx 配置；如果接口返回 401 或 404，先看 token、baseURL 和 /basic-api/api 是否对齐；如果日志里有任务但 UI 没事件，通常是 Redis、Channels 或 worker 没起来。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所以现场演示的原则很简单：先保主线，再看细节；先看结果，再解释过程。最后就可以进入 Q&amp;A。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e8792d7804f9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e83a1cac744a5f" /><Relationship Type="http://schemas.openxmlformats.org/officeDocument/2006/relationships/slideLayout" Target="/ppt/slideLayouts/slideLayout2.xml" Id="R6fe9f90ee4514f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e9f90ee4514f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4080745bdb433c" /><Relationship Type="http://schemas.openxmlformats.org/officeDocument/2006/relationships/image" Target="/ppt/media/image.png" Id="R544ed94cc238454d" /><Relationship Type="http://schemas.openxmlformats.org/officeDocument/2006/relationships/notesSlide" Target="/ppt/notesSlides/notesSlide1.xml" Id="Rdecafbd2812c46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f5a68a397f45c7" /><Relationship Type="http://schemas.openxmlformats.org/officeDocument/2006/relationships/notesSlide" Target="/ppt/notesSlides/notesSlide2.xml" Id="Rcdc119b3cc7c45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3c472be62d40e2" /><Relationship Type="http://schemas.openxmlformats.org/officeDocument/2006/relationships/notesSlide" Target="/ppt/notesSlides/notesSlide3.xml" Id="R4e2b7cd7a99b4e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cfaefe5f424157" /><Relationship Type="http://schemas.openxmlformats.org/officeDocument/2006/relationships/notesSlide" Target="/ppt/notesSlides/notesSlide4.xml" Id="R912fe479f58a45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550db04d842f8" /><Relationship Type="http://schemas.openxmlformats.org/officeDocument/2006/relationships/notesSlide" Target="/ppt/notesSlides/notesSlide5.xml" Id="R53c7640138d049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39fdbaaee34b87" /><Relationship Type="http://schemas.openxmlformats.org/officeDocument/2006/relationships/notesSlide" Target="/ppt/notesSlides/notesSlide6.xml" Id="R23f8500d4b034d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281b2929e4d9e" /><Relationship Type="http://schemas.openxmlformats.org/officeDocument/2006/relationships/notesSlide" Target="/ppt/notesSlides/notesSlide7.xml" Id="R0fb6132973854d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29b02011964df5" /><Relationship Type="http://schemas.openxmlformats.org/officeDocument/2006/relationships/notesSlide" Target="/ppt/notesSlides/notesSlide8.xml" Id="Rfc089ba9c74c45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2d52a7724440a0" /><Relationship Type="http://schemas.openxmlformats.org/officeDocument/2006/relationships/image" Target="/ppt/media/image2.png" Id="Rb82052eccdbf404d" /><Relationship Type="http://schemas.openxmlformats.org/officeDocument/2006/relationships/notesSlide" Target="/ppt/notesSlides/notesSlide9.xml" Id="R74050d6bf55d4d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21ba943fef4080" /><Relationship Type="http://schemas.openxmlformats.org/officeDocument/2006/relationships/notesSlide" Target="/ppt/notesSlides/notesSlide10.xml" Id="R93e12597f4cd4b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c286a1ed554d27" /><Relationship Type="http://schemas.openxmlformats.org/officeDocument/2006/relationships/notesSlide" Target="/ppt/notesSlides/notesSlide11.xml" Id="R60994150902348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246329b44d4c1a" /><Relationship Type="http://schemas.openxmlformats.org/officeDocument/2006/relationships/notesSlide" Target="/ppt/notesSlides/notesSlide12.xml" Id="R83cb5345174041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ed94cc238454d"/>
          <a:srcRect xmlns:a="http://schemas.openxmlformats.org/drawingml/2006/main" l="1914" t="0" r="19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scrim">
            <a:extLst xmlns:a="http://schemas.openxmlformats.org/drawingml/2006/main">
              <a:ext uri="{FF2B5EF4-FFF2-40B4-BE49-F238E27FC236}">
                <a16:creationId xmlns:a16="http://schemas.microsoft.com/office/drawing/2014/main" id="{14E1E787-F814-44D9-9B60-1117098B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E">
              <a:alpha val="80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cover-glow">
            <a:extLst xmlns:a="http://schemas.openxmlformats.org/drawingml/2006/main">
              <a:ext uri="{FF2B5EF4-FFF2-40B4-BE49-F238E27FC236}">
                <a16:creationId xmlns:a16="http://schemas.microsoft.com/office/drawing/2014/main" id="{7C9D567D-38A9-4557-858B-DCAAFF45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cover-lead">
            <a:extLst xmlns:a="http://schemas.openxmlformats.org/drawingml/2006/main">
              <a:ext uri="{FF2B5EF4-FFF2-40B4-BE49-F238E27FC236}">
                <a16:creationId xmlns:a16="http://schemas.microsoft.com/office/drawing/2014/main" id="{3A16523F-FC06-4E79-AE9F-83FDC9C3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39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部门汇报 · 15 分钟</a:t>
            </a:r>
          </a:p>
        </p:txBody>
      </p:sp>
      <p:sp>
        <p:nvSpPr>
          <p:cNvPr id="5" name="cover-title-a">
            <a:extLst xmlns:a="http://schemas.openxmlformats.org/drawingml/2006/main">
              <a:ext uri="{FF2B5EF4-FFF2-40B4-BE49-F238E27FC236}">
                <a16:creationId xmlns:a16="http://schemas.microsoft.com/office/drawing/2014/main" id="{4A9F8521-5999-45B3-BAEB-D788D2F1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4330"/>
            <a:ext cx="3405949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49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DeepAudit</a:t>
            </a:r>
          </a:p>
        </p:txBody>
      </p:sp>
      <p:sp>
        <p:nvSpPr>
          <p:cNvPr id="6" name="cover-title-b">
            <a:extLst xmlns:a="http://schemas.openxmlformats.org/drawingml/2006/main">
              <a:ext uri="{FF2B5EF4-FFF2-40B4-BE49-F238E27FC236}">
                <a16:creationId xmlns:a16="http://schemas.microsoft.com/office/drawing/2014/main" id="{2BF74EF2-21AF-4998-959F-607B3961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3150679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智能审计平台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6B99EA0-4931-411C-AE26-AC98BEF9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68830"/>
            <a:ext cx="40005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LLM + RAG + 多智能体，把“项目接入 → 分析 → 验证 → 报告”做成闭环</a:t>
            </a:r>
          </a:p>
        </p:txBody>
      </p:sp>
      <p:sp>
        <p:nvSpPr>
          <p:cNvPr id="8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34A34F95-1D11-489C-BF34-4517BD3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9" name="chip-项目演示">
            <a:extLst xmlns:a="http://schemas.openxmlformats.org/drawingml/2006/main">
              <a:ext uri="{FF2B5EF4-FFF2-40B4-BE49-F238E27FC236}">
                <a16:creationId xmlns:a16="http://schemas.microsoft.com/office/drawing/2014/main" id="{DC4E52A6-38F1-498B-839C-60CA5D3C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3970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14000"/>
            </a:srgbClr>
          </a:solidFill>
          <a:ln xmlns:a="http://schemas.openxmlformats.org/drawingml/2006/main" w="9525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10" name="chip-text-项目演示">
            <a:extLst xmlns:a="http://schemas.openxmlformats.org/drawingml/2006/main">
              <a:ext uri="{FF2B5EF4-FFF2-40B4-BE49-F238E27FC236}">
                <a16:creationId xmlns:a16="http://schemas.microsoft.com/office/drawing/2014/main" id="{82F3D6BF-76B3-4961-9264-298F0615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33" y="293370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项目演示</a:t>
            </a:r>
          </a:p>
        </p:txBody>
      </p:sp>
      <p:sp>
        <p:nvSpPr>
          <p:cNvPr id="11" name="chip-架构设计">
            <a:extLst xmlns:a="http://schemas.openxmlformats.org/drawingml/2006/main">
              <a:ext uri="{FF2B5EF4-FFF2-40B4-BE49-F238E27FC236}">
                <a16:creationId xmlns:a16="http://schemas.microsoft.com/office/drawing/2014/main" id="{13E0D8B6-DF65-401B-8FBC-99CDBB5D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50" y="2933700"/>
            <a:ext cx="13970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chip-text-架构设计">
            <a:extLst xmlns:a="http://schemas.openxmlformats.org/drawingml/2006/main">
              <a:ext uri="{FF2B5EF4-FFF2-40B4-BE49-F238E27FC236}">
                <a16:creationId xmlns:a16="http://schemas.microsoft.com/office/drawing/2014/main" id="{84E5142F-41A1-4510-AB2F-96541762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383" y="293370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架构设计</a:t>
            </a:r>
          </a:p>
        </p:txBody>
      </p:sp>
      <p:sp>
        <p:nvSpPr>
          <p:cNvPr id="13" name="chip-实现方法">
            <a:extLst xmlns:a="http://schemas.openxmlformats.org/drawingml/2006/main">
              <a:ext uri="{FF2B5EF4-FFF2-40B4-BE49-F238E27FC236}">
                <a16:creationId xmlns:a16="http://schemas.microsoft.com/office/drawing/2014/main" id="{BDEDF770-2ACF-40E8-BB42-AAB96E35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2933700"/>
            <a:ext cx="13970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chip-text-实现方法">
            <a:extLst xmlns:a="http://schemas.openxmlformats.org/drawingml/2006/main">
              <a:ext uri="{FF2B5EF4-FFF2-40B4-BE49-F238E27FC236}">
                <a16:creationId xmlns:a16="http://schemas.microsoft.com/office/drawing/2014/main" id="{EBD45FED-DB95-4D47-88A7-680B4FA2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33" y="293370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实现方法</a:t>
            </a:r>
          </a:p>
        </p:txBody>
      </p:sp>
      <p:sp>
        <p:nvSpPr>
          <p:cNvPr id="15" name="cover-meta">
            <a:extLst xmlns:a="http://schemas.openxmlformats.org/drawingml/2006/main">
              <a:ext uri="{FF2B5EF4-FFF2-40B4-BE49-F238E27FC236}">
                <a16:creationId xmlns:a16="http://schemas.microsoft.com/office/drawing/2014/main" id="{34BD525D-6446-4E61-90E2-BF577804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65170"/>
            <a:ext cx="241192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A0A9BA"/>
                </a:solidFill>
                <a:latin typeface="Menlo"/>
                <a:ea typeface="Menlo"/>
                <a:cs typeface="Menlo"/>
              </a:rPr>
              <a:t>Focus 平台内的独立智能审计子系统</a:t>
            </a:r>
          </a:p>
        </p:txBody>
      </p:sp>
    </p:spTree>
    <p:extLst>
      <p:ext uri="{BB962C8B-B14F-4D97-AF65-F5344CB8AC3E}">
        <p14:creationId xmlns:p14="http://schemas.microsoft.com/office/powerpoint/2010/main" val="702764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为什么要做-deepaudit">
            <a:extLst xmlns:a="http://schemas.openxmlformats.org/drawingml/2006/main">
              <a:ext uri="{FF2B5EF4-FFF2-40B4-BE49-F238E27FC236}">
                <a16:creationId xmlns:a16="http://schemas.microsoft.com/office/drawing/2014/main" id="{6AC9E101-D7EE-4150-93DE-B522714F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814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WHY DEEPAUDIT</a:t>
            </a:r>
          </a:p>
        </p:txBody>
      </p:sp>
      <p:sp>
        <p:nvSpPr>
          <p:cNvPr id="2" name="header-title-为什么要做-deepaudit">
            <a:extLst xmlns:a="http://schemas.openxmlformats.org/drawingml/2006/main">
              <a:ext uri="{FF2B5EF4-FFF2-40B4-BE49-F238E27FC236}">
                <a16:creationId xmlns:a16="http://schemas.microsoft.com/office/drawing/2014/main" id="{378BB0A5-FCD2-477B-B1DE-B7E8DAC9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为什么要做 DeepAudit</a:t>
            </a:r>
          </a:p>
        </p:txBody>
      </p:sp>
      <p:sp>
        <p:nvSpPr>
          <p:cNvPr id="3" name="header-subtitle-为什么要做-deepaudit">
            <a:extLst xmlns:a="http://schemas.openxmlformats.org/drawingml/2006/main">
              <a:ext uri="{FF2B5EF4-FFF2-40B4-BE49-F238E27FC236}">
                <a16:creationId xmlns:a16="http://schemas.microsoft.com/office/drawing/2014/main" id="{DE09D3B6-7F51-4BC0-AC5D-F61A1376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传统扫描能找问题，但很难解释、很难验证、也很难形成可复用的交付。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7215260F-8EDE-4A00-8687-1CED11CD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why-statement">
            <a:extLst xmlns:a="http://schemas.openxmlformats.org/drawingml/2006/main">
              <a:ext uri="{FF2B5EF4-FFF2-40B4-BE49-F238E27FC236}">
                <a16:creationId xmlns:a16="http://schemas.microsoft.com/office/drawing/2014/main" id="{44824FD7-8DC4-49C8-A968-61C9AAC9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34290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定位不是“再做一个扫描器”，而是把审计变成一套可运行的工作台。</a:t>
            </a:r>
          </a:p>
        </p:txBody>
      </p:sp>
      <p:sp>
        <p:nvSpPr>
          <p:cNvPr id="6" name="why-rule">
            <a:extLst xmlns:a="http://schemas.openxmlformats.org/drawingml/2006/main">
              <a:ext uri="{FF2B5EF4-FFF2-40B4-BE49-F238E27FC236}">
                <a16:creationId xmlns:a16="http://schemas.microsoft.com/office/drawing/2014/main" id="{8B5AC37C-CF40-4B5C-924A-2F2FEC7D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222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7" name="bullet-dot-规则固定">
            <a:extLst xmlns:a="http://schemas.openxmlformats.org/drawingml/2006/main">
              <a:ext uri="{FF2B5EF4-FFF2-40B4-BE49-F238E27FC236}">
                <a16:creationId xmlns:a16="http://schemas.microsoft.com/office/drawing/2014/main" id="{4DAFF38C-1E15-4B1A-BA61-A18F26B6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27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bullet-title-规则固定">
            <a:extLst xmlns:a="http://schemas.openxmlformats.org/drawingml/2006/main">
              <a:ext uri="{FF2B5EF4-FFF2-40B4-BE49-F238E27FC236}">
                <a16:creationId xmlns:a16="http://schemas.microsoft.com/office/drawing/2014/main" id="{8EAEEF1D-5B7C-4091-B8E5-575A1E3D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272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规则固定</a:t>
            </a:r>
          </a:p>
        </p:txBody>
      </p:sp>
      <p:sp>
        <p:nvSpPr>
          <p:cNvPr id="9" name="bullet-detail-规则固定">
            <a:extLst xmlns:a="http://schemas.openxmlformats.org/drawingml/2006/main">
              <a:ext uri="{FF2B5EF4-FFF2-40B4-BE49-F238E27FC236}">
                <a16:creationId xmlns:a16="http://schemas.microsoft.com/office/drawing/2014/main" id="{6DD96B77-FA0F-4564-AC19-48C52A4D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513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只能覆盖已知模式，面对复杂业务和组合风险时容易失焦。</a:t>
            </a:r>
          </a:p>
        </p:txBody>
      </p:sp>
      <p:sp>
        <p:nvSpPr>
          <p:cNvPr id="10" name="bullet-dot-解释弱">
            <a:extLst xmlns:a="http://schemas.openxmlformats.org/drawingml/2006/main">
              <a:ext uri="{FF2B5EF4-FFF2-40B4-BE49-F238E27FC236}">
                <a16:creationId xmlns:a16="http://schemas.microsoft.com/office/drawing/2014/main" id="{56D577DE-9079-4B7A-A36B-A68BEFA3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94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bullet-title-解释弱">
            <a:extLst xmlns:a="http://schemas.openxmlformats.org/drawingml/2006/main">
              <a:ext uri="{FF2B5EF4-FFF2-40B4-BE49-F238E27FC236}">
                <a16:creationId xmlns:a16="http://schemas.microsoft.com/office/drawing/2014/main" id="{358D8AED-CB28-465D-BEFF-2856A4CC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948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解释弱</a:t>
            </a:r>
          </a:p>
        </p:txBody>
      </p:sp>
      <p:sp>
        <p:nvSpPr>
          <p:cNvPr id="12" name="bullet-detail-解释弱">
            <a:extLst xmlns:a="http://schemas.openxmlformats.org/drawingml/2006/main">
              <a:ext uri="{FF2B5EF4-FFF2-40B4-BE49-F238E27FC236}">
                <a16:creationId xmlns:a16="http://schemas.microsoft.com/office/drawing/2014/main" id="{80B65B6F-1085-48F1-9F58-CB8EC18C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189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发现结果碎片化，难以让领导和研发快速判断优先级。</a:t>
            </a:r>
          </a:p>
        </p:txBody>
      </p:sp>
      <p:sp>
        <p:nvSpPr>
          <p:cNvPr id="13" name="bullet-dot-验证弱">
            <a:extLst xmlns:a="http://schemas.openxmlformats.org/drawingml/2006/main">
              <a:ext uri="{FF2B5EF4-FFF2-40B4-BE49-F238E27FC236}">
                <a16:creationId xmlns:a16="http://schemas.microsoft.com/office/drawing/2014/main" id="{B2E4EB7E-1A48-41EA-BB1B-C0B79B93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62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bullet-title-验证弱">
            <a:extLst xmlns:a="http://schemas.openxmlformats.org/drawingml/2006/main">
              <a:ext uri="{FF2B5EF4-FFF2-40B4-BE49-F238E27FC236}">
                <a16:creationId xmlns:a16="http://schemas.microsoft.com/office/drawing/2014/main" id="{B878830E-6DB2-4381-88DD-674019FE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624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验证弱</a:t>
            </a:r>
          </a:p>
        </p:txBody>
      </p:sp>
      <p:sp>
        <p:nvSpPr>
          <p:cNvPr id="15" name="bullet-detail-验证弱">
            <a:extLst xmlns:a="http://schemas.openxmlformats.org/drawingml/2006/main">
              <a:ext uri="{FF2B5EF4-FFF2-40B4-BE49-F238E27FC236}">
                <a16:creationId xmlns:a16="http://schemas.microsoft.com/office/drawing/2014/main" id="{557F716C-60B7-4BC6-8C49-DF8C3DDE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缺少动态验证、PoC 和回放，结论往往停留在“发现”而不是“落地”。</a:t>
            </a:r>
          </a:p>
        </p:txBody>
      </p:sp>
      <p:sp>
        <p:nvSpPr>
          <p:cNvPr id="16" name="why-target-kicker">
            <a:extLst xmlns:a="http://schemas.openxmlformats.org/drawingml/2006/main">
              <a:ext uri="{FF2B5EF4-FFF2-40B4-BE49-F238E27FC236}">
                <a16:creationId xmlns:a16="http://schemas.microsoft.com/office/drawing/2014/main" id="{5ABABBCB-6D7D-412A-8803-87F418A9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121148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DeepAudit 的目标</a:t>
            </a:r>
          </a:p>
        </p:txBody>
      </p:sp>
      <p:sp>
        <p:nvSpPr>
          <p:cNvPr id="17" name="why-target-title">
            <a:extLst xmlns:a="http://schemas.openxmlformats.org/drawingml/2006/main">
              <a:ext uri="{FF2B5EF4-FFF2-40B4-BE49-F238E27FC236}">
                <a16:creationId xmlns:a16="http://schemas.microsoft.com/office/drawing/2014/main" id="{8F610A9A-B7A7-4E85-9753-9DCEDE4C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17420"/>
            <a:ext cx="60960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把“项目接入 → 分析 → 验证 → 报告”串成闭环。</a:t>
            </a:r>
          </a:p>
        </p:txBody>
      </p:sp>
      <p:sp>
        <p:nvSpPr>
          <p:cNvPr id="18" name="why-target-subtitle">
            <a:extLst xmlns:a="http://schemas.openxmlformats.org/drawingml/2006/main">
              <a:ext uri="{FF2B5EF4-FFF2-40B4-BE49-F238E27FC236}">
                <a16:creationId xmlns:a16="http://schemas.microsoft.com/office/drawing/2014/main" id="{46C31FE2-504E-413F-9173-0E1C8AEB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60960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它不是单点工具，而是面向部门内部审计流程的智能审计工作台。</a:t>
            </a:r>
          </a:p>
        </p:txBody>
      </p:sp>
      <p:sp>
        <p:nvSpPr>
          <p:cNvPr id="19" name="why-trad">
            <a:extLst xmlns:a="http://schemas.openxmlformats.org/drawingml/2006/main">
              <a:ext uri="{FF2B5EF4-FFF2-40B4-BE49-F238E27FC236}">
                <a16:creationId xmlns:a16="http://schemas.microsoft.com/office/drawing/2014/main" id="{A18280BB-F5CF-4533-BC41-D6083C46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93770"/>
            <a:ext cx="583406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A0A9BA"/>
                </a:solidFill>
                <a:latin typeface="Menlo"/>
                <a:ea typeface="Menlo"/>
                <a:cs typeface="Menlo"/>
              </a:rPr>
              <a:t>传统方式</a:t>
            </a:r>
          </a:p>
        </p:txBody>
      </p:sp>
      <p:sp>
        <p:nvSpPr>
          <p:cNvPr id="20" name="bullet-dot-扫描结果多">
            <a:extLst xmlns:a="http://schemas.openxmlformats.org/drawingml/2006/main">
              <a:ext uri="{FF2B5EF4-FFF2-40B4-BE49-F238E27FC236}">
                <a16:creationId xmlns:a16="http://schemas.microsoft.com/office/drawing/2014/main" id="{756977C8-E25E-40E4-9DEC-FE36219B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414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bullet-title-扫描结果多">
            <a:extLst xmlns:a="http://schemas.openxmlformats.org/drawingml/2006/main">
              <a:ext uri="{FF2B5EF4-FFF2-40B4-BE49-F238E27FC236}">
                <a16:creationId xmlns:a16="http://schemas.microsoft.com/office/drawing/2014/main" id="{2898FFFC-15AD-4197-9935-E6DA964D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41420"/>
            <a:ext cx="24955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扫描结果多</a:t>
            </a:r>
          </a:p>
        </p:txBody>
      </p:sp>
      <p:sp>
        <p:nvSpPr>
          <p:cNvPr id="22" name="bullet-detail-扫描结果多">
            <a:extLst xmlns:a="http://schemas.openxmlformats.org/drawingml/2006/main">
              <a:ext uri="{FF2B5EF4-FFF2-40B4-BE49-F238E27FC236}">
                <a16:creationId xmlns:a16="http://schemas.microsoft.com/office/drawing/2014/main" id="{88EC5464-8763-4607-A111-214388A6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7383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但上下文弱。</a:t>
            </a:r>
          </a:p>
        </p:txBody>
      </p:sp>
      <p:sp>
        <p:nvSpPr>
          <p:cNvPr id="23" name="bullet-dot-问题能发现">
            <a:extLst xmlns:a="http://schemas.openxmlformats.org/drawingml/2006/main">
              <a:ext uri="{FF2B5EF4-FFF2-40B4-BE49-F238E27FC236}">
                <a16:creationId xmlns:a16="http://schemas.microsoft.com/office/drawing/2014/main" id="{1002F6DC-627E-4D41-83EE-EBD79939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14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bullet-title-问题能发现">
            <a:extLst xmlns:a="http://schemas.openxmlformats.org/drawingml/2006/main">
              <a:ext uri="{FF2B5EF4-FFF2-40B4-BE49-F238E27FC236}">
                <a16:creationId xmlns:a16="http://schemas.microsoft.com/office/drawing/2014/main" id="{18209BE5-6B4F-4C6D-B204-357FC12C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21480"/>
            <a:ext cx="24955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问题能发现</a:t>
            </a:r>
          </a:p>
        </p:txBody>
      </p:sp>
      <p:sp>
        <p:nvSpPr>
          <p:cNvPr id="25" name="bullet-detail-问题能发现">
            <a:extLst xmlns:a="http://schemas.openxmlformats.org/drawingml/2006/main">
              <a:ext uri="{FF2B5EF4-FFF2-40B4-BE49-F238E27FC236}">
                <a16:creationId xmlns:a16="http://schemas.microsoft.com/office/drawing/2014/main" id="{6059393F-A65B-4195-8351-D10AB2FF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389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但无法统一解释。</a:t>
            </a:r>
          </a:p>
        </p:txBody>
      </p:sp>
      <p:sp>
        <p:nvSpPr>
          <p:cNvPr id="26" name="bullet-dot-报告能导出">
            <a:extLst xmlns:a="http://schemas.openxmlformats.org/drawingml/2006/main">
              <a:ext uri="{FF2B5EF4-FFF2-40B4-BE49-F238E27FC236}">
                <a16:creationId xmlns:a16="http://schemas.microsoft.com/office/drawing/2014/main" id="{3F3AA9EA-4B3C-4DF0-8061-ED40F97C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015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bullet-title-报告能导出">
            <a:extLst xmlns:a="http://schemas.openxmlformats.org/drawingml/2006/main">
              <a:ext uri="{FF2B5EF4-FFF2-40B4-BE49-F238E27FC236}">
                <a16:creationId xmlns:a16="http://schemas.microsoft.com/office/drawing/2014/main" id="{7C87AE11-5D3C-48EB-9D5F-EE9F5282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01540"/>
            <a:ext cx="24955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报告能导出</a:t>
            </a:r>
          </a:p>
        </p:txBody>
      </p:sp>
      <p:sp>
        <p:nvSpPr>
          <p:cNvPr id="28" name="bullet-detail-报告能导出">
            <a:extLst xmlns:a="http://schemas.openxmlformats.org/drawingml/2006/main">
              <a:ext uri="{FF2B5EF4-FFF2-40B4-BE49-F238E27FC236}">
                <a16:creationId xmlns:a16="http://schemas.microsoft.com/office/drawing/2014/main" id="{B50645FD-EBB9-4727-AAB4-71478999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3395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但不能形成审计闭环。</a:t>
            </a:r>
          </a:p>
        </p:txBody>
      </p:sp>
      <p:sp>
        <p:nvSpPr>
          <p:cNvPr id="29" name="why-deepaudit">
            <a:extLst xmlns:a="http://schemas.openxmlformats.org/drawingml/2006/main">
              <a:ext uri="{FF2B5EF4-FFF2-40B4-BE49-F238E27FC236}">
                <a16:creationId xmlns:a16="http://schemas.microsoft.com/office/drawing/2014/main" id="{B9DADE69-B45C-4AAE-95D5-C35742F0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93770"/>
            <a:ext cx="774097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A0A9BA"/>
                </a:solidFill>
                <a:latin typeface="Menlo"/>
                <a:ea typeface="Menlo"/>
                <a:cs typeface="Menlo"/>
              </a:rPr>
              <a:t>DeepAudit</a:t>
            </a:r>
          </a:p>
        </p:txBody>
      </p:sp>
      <p:sp>
        <p:nvSpPr>
          <p:cNvPr id="30" name="bullet-dot-接入与权限统一">
            <a:extLst xmlns:a="http://schemas.openxmlformats.org/drawingml/2006/main">
              <a:ext uri="{FF2B5EF4-FFF2-40B4-BE49-F238E27FC236}">
                <a16:creationId xmlns:a16="http://schemas.microsoft.com/office/drawing/2014/main" id="{6674BF9C-0825-4059-BC09-3F2A6CD7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414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bullet-title-接入与权限统一">
            <a:extLst xmlns:a="http://schemas.openxmlformats.org/drawingml/2006/main">
              <a:ext uri="{FF2B5EF4-FFF2-40B4-BE49-F238E27FC236}">
                <a16:creationId xmlns:a16="http://schemas.microsoft.com/office/drawing/2014/main" id="{D040A6B3-5165-4CF5-B174-CB14F7E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41420"/>
            <a:ext cx="24955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接入与权限统一</a:t>
            </a:r>
          </a:p>
        </p:txBody>
      </p:sp>
      <p:sp>
        <p:nvSpPr>
          <p:cNvPr id="32" name="bullet-detail-接入与权限统一">
            <a:extLst xmlns:a="http://schemas.openxmlformats.org/drawingml/2006/main">
              <a:ext uri="{FF2B5EF4-FFF2-40B4-BE49-F238E27FC236}">
                <a16:creationId xmlns:a16="http://schemas.microsoft.com/office/drawing/2014/main" id="{034D53A3-EE71-489B-AAD3-443C4517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73830"/>
            <a:ext cx="2495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仓库 / ZIP / 成员 / 回收站 / 角色一体化。</a:t>
            </a:r>
          </a:p>
        </p:txBody>
      </p:sp>
      <p:sp>
        <p:nvSpPr>
          <p:cNvPr id="33" name="bullet-dot-分析过程可观测">
            <a:extLst xmlns:a="http://schemas.openxmlformats.org/drawingml/2006/main">
              <a:ext uri="{FF2B5EF4-FFF2-40B4-BE49-F238E27FC236}">
                <a16:creationId xmlns:a16="http://schemas.microsoft.com/office/drawing/2014/main" id="{0BD3F52A-DE45-45E7-90B4-B431270F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929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bullet-title-分析过程可观测">
            <a:extLst xmlns:a="http://schemas.openxmlformats.org/drawingml/2006/main">
              <a:ext uri="{FF2B5EF4-FFF2-40B4-BE49-F238E27FC236}">
                <a16:creationId xmlns:a16="http://schemas.microsoft.com/office/drawing/2014/main" id="{85ABA15A-858D-46A5-94E4-643CAF4C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92930"/>
            <a:ext cx="24955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分析过程可观测</a:t>
            </a:r>
          </a:p>
        </p:txBody>
      </p:sp>
      <p:sp>
        <p:nvSpPr>
          <p:cNvPr id="35" name="bullet-detail-分析过程可观测">
            <a:extLst xmlns:a="http://schemas.openxmlformats.org/drawingml/2006/main">
              <a:ext uri="{FF2B5EF4-FFF2-40B4-BE49-F238E27FC236}">
                <a16:creationId xmlns:a16="http://schemas.microsoft.com/office/drawing/2014/main" id="{73A43BB0-8E30-457C-89EB-00571A1B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25340"/>
            <a:ext cx="2495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thinking、tool、finding、checkpoint 全程回传。</a:t>
            </a:r>
          </a:p>
        </p:txBody>
      </p:sp>
      <p:sp>
        <p:nvSpPr>
          <p:cNvPr id="36" name="bullet-dot-动态沙箱验证">
            <a:extLst xmlns:a="http://schemas.openxmlformats.org/drawingml/2006/main">
              <a:ext uri="{FF2B5EF4-FFF2-40B4-BE49-F238E27FC236}">
                <a16:creationId xmlns:a16="http://schemas.microsoft.com/office/drawing/2014/main" id="{24D94619-3B7E-4476-A335-023252AD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444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bullet-title-动态沙箱验证">
            <a:extLst xmlns:a="http://schemas.openxmlformats.org/drawingml/2006/main">
              <a:ext uri="{FF2B5EF4-FFF2-40B4-BE49-F238E27FC236}">
                <a16:creationId xmlns:a16="http://schemas.microsoft.com/office/drawing/2014/main" id="{F92710A6-8C3E-4B90-B34C-FD7B9729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44440"/>
            <a:ext cx="24955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动态沙箱验证</a:t>
            </a:r>
          </a:p>
        </p:txBody>
      </p:sp>
      <p:sp>
        <p:nvSpPr>
          <p:cNvPr id="38" name="bullet-detail-动态沙箱验证">
            <a:extLst xmlns:a="http://schemas.openxmlformats.org/drawingml/2006/main">
              <a:ext uri="{FF2B5EF4-FFF2-40B4-BE49-F238E27FC236}">
                <a16:creationId xmlns:a16="http://schemas.microsoft.com/office/drawing/2014/main" id="{2F04232E-B11E-496F-BF0E-5B3CA1C4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76850"/>
            <a:ext cx="2495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LLM 生成 PoC 并在隔离环境中验证，降低误报。</a:t>
            </a:r>
          </a:p>
        </p:txBody>
      </p:sp>
      <p:sp>
        <p:nvSpPr>
          <p:cNvPr id="39" name="bullet-dot-结果可交付">
            <a:extLst xmlns:a="http://schemas.openxmlformats.org/drawingml/2006/main">
              <a:ext uri="{FF2B5EF4-FFF2-40B4-BE49-F238E27FC236}">
                <a16:creationId xmlns:a16="http://schemas.microsoft.com/office/drawing/2014/main" id="{A4649942-EDCB-45D1-93CD-44D40F3C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95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bullet-title-结果可交付">
            <a:extLst xmlns:a="http://schemas.openxmlformats.org/drawingml/2006/main">
              <a:ext uri="{FF2B5EF4-FFF2-40B4-BE49-F238E27FC236}">
                <a16:creationId xmlns:a16="http://schemas.microsoft.com/office/drawing/2014/main" id="{F3ECADB7-61D5-4AEC-819A-8F82AF2E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695950"/>
            <a:ext cx="24955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结果可交付</a:t>
            </a:r>
          </a:p>
        </p:txBody>
      </p:sp>
      <p:sp>
        <p:nvSpPr>
          <p:cNvPr id="41" name="bullet-detail-结果可交付">
            <a:extLst xmlns:a="http://schemas.openxmlformats.org/drawingml/2006/main">
              <a:ext uri="{FF2B5EF4-FFF2-40B4-BE49-F238E27FC236}">
                <a16:creationId xmlns:a16="http://schemas.microsoft.com/office/drawing/2014/main" id="{F247DFD4-D7D7-41B5-9524-66916260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928360"/>
            <a:ext cx="2495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报告页、PDF / JSON 导出、Dashboard 可直接演示。</a:t>
            </a:r>
          </a:p>
        </p:txBody>
      </p:sp>
    </p:spTree>
    <p:extLst>
      <p:ext uri="{BB962C8B-B14F-4D97-AF65-F5344CB8AC3E}">
        <p14:creationId xmlns:p14="http://schemas.microsoft.com/office/powerpoint/2010/main" val="913176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现有功能与对象分工">
            <a:extLst xmlns:a="http://schemas.openxmlformats.org/drawingml/2006/main">
              <a:ext uri="{FF2B5EF4-FFF2-40B4-BE49-F238E27FC236}">
                <a16:creationId xmlns:a16="http://schemas.microsoft.com/office/drawing/2014/main" id="{56DB73F3-C0F6-40C6-85B6-F5B3A339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376172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FEATURE PANORAMA</a:t>
            </a:r>
          </a:p>
        </p:txBody>
      </p:sp>
      <p:sp>
        <p:nvSpPr>
          <p:cNvPr id="2" name="header-title-现有功能与对象分工">
            <a:extLst xmlns:a="http://schemas.openxmlformats.org/drawingml/2006/main">
              <a:ext uri="{FF2B5EF4-FFF2-40B4-BE49-F238E27FC236}">
                <a16:creationId xmlns:a16="http://schemas.microsoft.com/office/drawing/2014/main" id="{B3E55606-D293-4293-B9E6-BD06532A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现有功能与对象分工</a:t>
            </a:r>
          </a:p>
        </p:txBody>
      </p:sp>
      <p:sp>
        <p:nvSpPr>
          <p:cNvPr id="3" name="header-subtitle-现有功能与对象分工">
            <a:extLst xmlns:a="http://schemas.openxmlformats.org/drawingml/2006/main">
              <a:ext uri="{FF2B5EF4-FFF2-40B4-BE49-F238E27FC236}">
                <a16:creationId xmlns:a16="http://schemas.microsoft.com/office/drawing/2014/main" id="{D8AD90A1-ACCD-4F60-AB7C-B7C85D41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已经形成“接入—分析—治理—交付”的完整链路，并围绕项目、任务、策略、知识和报告对象化管理。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56169DD2-1D09-4656-A116-4081B0BB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stage-num-01">
            <a:extLst xmlns:a="http://schemas.openxmlformats.org/drawingml/2006/main">
              <a:ext uri="{FF2B5EF4-FFF2-40B4-BE49-F238E27FC236}">
                <a16:creationId xmlns:a16="http://schemas.microsoft.com/office/drawing/2014/main" id="{2BFE4446-D9FC-41DC-AE61-C5A3060F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66998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stage-title-项目接入">
            <a:extLst xmlns:a="http://schemas.openxmlformats.org/drawingml/2006/main">
              <a:ext uri="{FF2B5EF4-FFF2-40B4-BE49-F238E27FC236}">
                <a16:creationId xmlns:a16="http://schemas.microsoft.com/office/drawing/2014/main" id="{45804F74-5821-4B1D-BB15-4420E0CC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61260"/>
            <a:ext cx="1011555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项目接入</a:t>
            </a:r>
          </a:p>
        </p:txBody>
      </p:sp>
      <p:sp>
        <p:nvSpPr>
          <p:cNvPr id="7" name="stage-rule-项目接入">
            <a:extLst xmlns:a="http://schemas.openxmlformats.org/drawingml/2006/main">
              <a:ext uri="{FF2B5EF4-FFF2-40B4-BE49-F238E27FC236}">
                <a16:creationId xmlns:a16="http://schemas.microsoft.com/office/drawing/2014/main" id="{0B41D6ED-85C5-4903-A37B-4D067BE5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369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8" name="bullet-dot-仓库-zip-分支">
            <a:extLst xmlns:a="http://schemas.openxmlformats.org/drawingml/2006/main">
              <a:ext uri="{FF2B5EF4-FFF2-40B4-BE49-F238E27FC236}">
                <a16:creationId xmlns:a16="http://schemas.microsoft.com/office/drawing/2014/main" id="{4827BB58-DA27-4D02-9E36-413098E8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679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bullet-title-仓库-zip-分支">
            <a:extLst xmlns:a="http://schemas.openxmlformats.org/drawingml/2006/main">
              <a:ext uri="{FF2B5EF4-FFF2-40B4-BE49-F238E27FC236}">
                <a16:creationId xmlns:a16="http://schemas.microsoft.com/office/drawing/2014/main" id="{8F9F60C3-5A76-4287-B6A1-3414A9EB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99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仓库 / ZIP / 分支</a:t>
            </a:r>
          </a:p>
        </p:txBody>
      </p:sp>
      <p:sp>
        <p:nvSpPr>
          <p:cNvPr id="10" name="bullet-detail-仓库-zip-分支">
            <a:extLst xmlns:a="http://schemas.openxmlformats.org/drawingml/2006/main">
              <a:ext uri="{FF2B5EF4-FFF2-40B4-BE49-F238E27FC236}">
                <a16:creationId xmlns:a16="http://schemas.microsoft.com/office/drawing/2014/main" id="{8F2B9046-3C47-4B7A-A3C6-AF2EB661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兼容仓库拉取和离线包导入，统一代码上下文。</a:t>
            </a:r>
          </a:p>
        </p:txBody>
      </p:sp>
      <p:sp>
        <p:nvSpPr>
          <p:cNvPr id="11" name="bullet-dot-成员-权限">
            <a:extLst xmlns:a="http://schemas.openxmlformats.org/drawingml/2006/main">
              <a:ext uri="{FF2B5EF4-FFF2-40B4-BE49-F238E27FC236}">
                <a16:creationId xmlns:a16="http://schemas.microsoft.com/office/drawing/2014/main" id="{87C40054-877E-4DE8-BE88-0F2E5034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bullet-title-成员-权限">
            <a:extLst xmlns:a="http://schemas.openxmlformats.org/drawingml/2006/main">
              <a:ext uri="{FF2B5EF4-FFF2-40B4-BE49-F238E27FC236}">
                <a16:creationId xmlns:a16="http://schemas.microsoft.com/office/drawing/2014/main" id="{57DAD847-42D3-4C6B-A436-74F8D16C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成员 / 权限</a:t>
            </a:r>
          </a:p>
        </p:txBody>
      </p:sp>
      <p:sp>
        <p:nvSpPr>
          <p:cNvPr id="13" name="bullet-detail-成员-权限">
            <a:extLst xmlns:a="http://schemas.openxmlformats.org/drawingml/2006/main">
              <a:ext uri="{FF2B5EF4-FFF2-40B4-BE49-F238E27FC236}">
                <a16:creationId xmlns:a16="http://schemas.microsoft.com/office/drawing/2014/main" id="{9120C90D-B62B-4E42-A762-6CBE66CA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096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项目拥有者、成员角色和页面级访问码一起控制可见性。</a:t>
            </a:r>
          </a:p>
        </p:txBody>
      </p:sp>
      <p:sp>
        <p:nvSpPr>
          <p:cNvPr id="14" name="bullet-dot-回收站-工作区">
            <a:extLst xmlns:a="http://schemas.openxmlformats.org/drawingml/2006/main">
              <a:ext uri="{FF2B5EF4-FFF2-40B4-BE49-F238E27FC236}">
                <a16:creationId xmlns:a16="http://schemas.microsoft.com/office/drawing/2014/main" id="{37DD8A34-1186-46BB-9C5B-71202005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91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bullet-title-回收站-工作区">
            <a:extLst xmlns:a="http://schemas.openxmlformats.org/drawingml/2006/main">
              <a:ext uri="{FF2B5EF4-FFF2-40B4-BE49-F238E27FC236}">
                <a16:creationId xmlns:a16="http://schemas.microsoft.com/office/drawing/2014/main" id="{A030D75A-DDE6-4B95-A976-DA14F793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911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回收站 / 工作区</a:t>
            </a:r>
          </a:p>
        </p:txBody>
      </p:sp>
      <p:sp>
        <p:nvSpPr>
          <p:cNvPr id="16" name="bullet-detail-回收站-工作区">
            <a:extLst xmlns:a="http://schemas.openxmlformats.org/drawingml/2006/main">
              <a:ext uri="{FF2B5EF4-FFF2-40B4-BE49-F238E27FC236}">
                <a16:creationId xmlns:a16="http://schemas.microsoft.com/office/drawing/2014/main" id="{C3845020-EF48-4701-BB12-19551E1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152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项目可恢复，运行时 workspace 独立准备和清理。</a:t>
            </a:r>
          </a:p>
        </p:txBody>
      </p:sp>
      <p:sp>
        <p:nvSpPr>
          <p:cNvPr id="17" name="stage-num-02">
            <a:extLst xmlns:a="http://schemas.openxmlformats.org/drawingml/2006/main">
              <a:ext uri="{FF2B5EF4-FFF2-40B4-BE49-F238E27FC236}">
                <a16:creationId xmlns:a16="http://schemas.microsoft.com/office/drawing/2014/main" id="{C013D1E5-BB0B-4764-8A6B-BE423C67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00250"/>
            <a:ext cx="366998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8" name="stage-title-审计能力">
            <a:extLst xmlns:a="http://schemas.openxmlformats.org/drawingml/2006/main">
              <a:ext uri="{FF2B5EF4-FFF2-40B4-BE49-F238E27FC236}">
                <a16:creationId xmlns:a16="http://schemas.microsoft.com/office/drawing/2014/main" id="{C0A74BD1-B7D5-404F-8934-53B56E90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61260"/>
            <a:ext cx="1011555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审计能力</a:t>
            </a:r>
          </a:p>
        </p:txBody>
      </p:sp>
      <p:sp>
        <p:nvSpPr>
          <p:cNvPr id="19" name="stage-rule-审计能力">
            <a:extLst xmlns:a="http://schemas.openxmlformats.org/drawingml/2006/main">
              <a:ext uri="{FF2B5EF4-FFF2-40B4-BE49-F238E27FC236}">
                <a16:creationId xmlns:a16="http://schemas.microsoft.com/office/drawing/2014/main" id="{D1836C2C-A65D-475F-AD7B-69FDEA36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369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20" name="bullet-dot-传统扫描">
            <a:extLst xmlns:a="http://schemas.openxmlformats.org/drawingml/2006/main">
              <a:ext uri="{FF2B5EF4-FFF2-40B4-BE49-F238E27FC236}">
                <a16:creationId xmlns:a16="http://schemas.microsoft.com/office/drawing/2014/main" id="{BD98F69E-E5FB-4C10-913A-4189C3F2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679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bullet-title-传统扫描">
            <a:extLst xmlns:a="http://schemas.openxmlformats.org/drawingml/2006/main">
              <a:ext uri="{FF2B5EF4-FFF2-40B4-BE49-F238E27FC236}">
                <a16:creationId xmlns:a16="http://schemas.microsoft.com/office/drawing/2014/main" id="{584497DD-EC0B-4FD7-9CCE-450641D7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6799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传统扫描</a:t>
            </a:r>
          </a:p>
        </p:txBody>
      </p:sp>
      <p:sp>
        <p:nvSpPr>
          <p:cNvPr id="22" name="bullet-detail-传统扫描">
            <a:extLst xmlns:a="http://schemas.openxmlformats.org/drawingml/2006/main">
              <a:ext uri="{FF2B5EF4-FFF2-40B4-BE49-F238E27FC236}">
                <a16:creationId xmlns:a16="http://schemas.microsoft.com/office/drawing/2014/main" id="{4D92196A-90A6-4B73-B98D-939BB9DA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040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仓库扫描、ZIP 扫描、即时分析三条入口并行。</a:t>
            </a:r>
          </a:p>
        </p:txBody>
      </p:sp>
      <p:sp>
        <p:nvSpPr>
          <p:cNvPr id="23" name="bullet-dot-agent-审计">
            <a:extLst xmlns:a="http://schemas.openxmlformats.org/drawingml/2006/main">
              <a:ext uri="{FF2B5EF4-FFF2-40B4-BE49-F238E27FC236}">
                <a16:creationId xmlns:a16="http://schemas.microsoft.com/office/drawing/2014/main" id="{61313D26-2EC9-4926-959A-89F06BC6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bullet-title-agent-审计">
            <a:extLst xmlns:a="http://schemas.openxmlformats.org/drawingml/2006/main">
              <a:ext uri="{FF2B5EF4-FFF2-40B4-BE49-F238E27FC236}">
                <a16:creationId xmlns:a16="http://schemas.microsoft.com/office/drawing/2014/main" id="{B50CDDBA-FF46-4958-BCB1-F3F10080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Agent 审计</a:t>
            </a:r>
          </a:p>
        </p:txBody>
      </p:sp>
      <p:sp>
        <p:nvSpPr>
          <p:cNvPr id="25" name="bullet-detail-agent-审计">
            <a:extLst xmlns:a="http://schemas.openxmlformats.org/drawingml/2006/main">
              <a:ext uri="{FF2B5EF4-FFF2-40B4-BE49-F238E27FC236}">
                <a16:creationId xmlns:a16="http://schemas.microsoft.com/office/drawing/2014/main" id="{82FF6AB1-8CE6-4D92-9FC1-FE4F279B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7096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多智能体推理、事件流、检查点和恢复机制一体化。</a:t>
            </a:r>
          </a:p>
        </p:txBody>
      </p:sp>
      <p:sp>
        <p:nvSpPr>
          <p:cNvPr id="26" name="bullet-dot-结果聚合">
            <a:extLst xmlns:a="http://schemas.openxmlformats.org/drawingml/2006/main">
              <a:ext uri="{FF2B5EF4-FFF2-40B4-BE49-F238E27FC236}">
                <a16:creationId xmlns:a16="http://schemas.microsoft.com/office/drawing/2014/main" id="{031BAAEF-0352-4713-8514-B2CE67D9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091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bullet-title-结果聚合">
            <a:extLst xmlns:a="http://schemas.openxmlformats.org/drawingml/2006/main">
              <a:ext uri="{FF2B5EF4-FFF2-40B4-BE49-F238E27FC236}">
                <a16:creationId xmlns:a16="http://schemas.microsoft.com/office/drawing/2014/main" id="{88F811CA-3097-47B3-A5E3-4A8094C1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0911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结果聚合</a:t>
            </a:r>
          </a:p>
        </p:txBody>
      </p:sp>
      <p:sp>
        <p:nvSpPr>
          <p:cNvPr id="28" name="bullet-detail-结果聚合">
            <a:extLst xmlns:a="http://schemas.openxmlformats.org/drawingml/2006/main">
              <a:ext uri="{FF2B5EF4-FFF2-40B4-BE49-F238E27FC236}">
                <a16:creationId xmlns:a16="http://schemas.microsoft.com/office/drawing/2014/main" id="{0A15528B-B965-4C5A-8701-DAF159F7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4152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问题、Finding、摘要和报告统一收束。</a:t>
            </a:r>
          </a:p>
        </p:txBody>
      </p:sp>
      <p:sp>
        <p:nvSpPr>
          <p:cNvPr id="29" name="stage-num-03">
            <a:extLst xmlns:a="http://schemas.openxmlformats.org/drawingml/2006/main">
              <a:ext uri="{FF2B5EF4-FFF2-40B4-BE49-F238E27FC236}">
                <a16:creationId xmlns:a16="http://schemas.microsoft.com/office/drawing/2014/main" id="{93639849-F3EB-4437-BD17-D6D0B560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0250"/>
            <a:ext cx="366998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0" name="stage-title-策略治理">
            <a:extLst xmlns:a="http://schemas.openxmlformats.org/drawingml/2006/main">
              <a:ext uri="{FF2B5EF4-FFF2-40B4-BE49-F238E27FC236}">
                <a16:creationId xmlns:a16="http://schemas.microsoft.com/office/drawing/2014/main" id="{151ADA9C-CA5C-41E9-A47A-CAEF38C3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61260"/>
            <a:ext cx="1011555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策略治理</a:t>
            </a:r>
          </a:p>
        </p:txBody>
      </p:sp>
      <p:sp>
        <p:nvSpPr>
          <p:cNvPr id="31" name="stage-rule-策略治理">
            <a:extLst xmlns:a="http://schemas.openxmlformats.org/drawingml/2006/main">
              <a:ext uri="{FF2B5EF4-FFF2-40B4-BE49-F238E27FC236}">
                <a16:creationId xmlns:a16="http://schemas.microsoft.com/office/drawing/2014/main" id="{C6938590-A6CD-4839-B22F-1885C35C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5369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32" name="bullet-dot-规则集-规则">
            <a:extLst xmlns:a="http://schemas.openxmlformats.org/drawingml/2006/main">
              <a:ext uri="{FF2B5EF4-FFF2-40B4-BE49-F238E27FC236}">
                <a16:creationId xmlns:a16="http://schemas.microsoft.com/office/drawing/2014/main" id="{18389CFC-F7F0-48E6-B536-4ED2984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679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bullet-title-规则集-规则">
            <a:extLst xmlns:a="http://schemas.openxmlformats.org/drawingml/2006/main">
              <a:ext uri="{FF2B5EF4-FFF2-40B4-BE49-F238E27FC236}">
                <a16:creationId xmlns:a16="http://schemas.microsoft.com/office/drawing/2014/main" id="{75167A95-FA41-40AD-852D-2110D6F7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6799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规则集 / 规则</a:t>
            </a:r>
          </a:p>
        </p:txBody>
      </p:sp>
      <p:sp>
        <p:nvSpPr>
          <p:cNvPr id="34" name="bullet-detail-规则集-规则">
            <a:extLst xmlns:a="http://schemas.openxmlformats.org/drawingml/2006/main">
              <a:ext uri="{FF2B5EF4-FFF2-40B4-BE49-F238E27FC236}">
                <a16:creationId xmlns:a16="http://schemas.microsoft.com/office/drawing/2014/main" id="{DB28D490-5463-4040-B897-23AD2FF2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040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规则粒度、适用范围和命中策略可配置。</a:t>
            </a:r>
          </a:p>
        </p:txBody>
      </p:sp>
      <p:sp>
        <p:nvSpPr>
          <p:cNvPr id="35" name="bullet-dot-提示词模板">
            <a:extLst xmlns:a="http://schemas.openxmlformats.org/drawingml/2006/main">
              <a:ext uri="{FF2B5EF4-FFF2-40B4-BE49-F238E27FC236}">
                <a16:creationId xmlns:a16="http://schemas.microsoft.com/office/drawing/2014/main" id="{EBB893EE-4DB5-4634-836F-D880DC0D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bullet-title-提示词模板">
            <a:extLst xmlns:a="http://schemas.openxmlformats.org/drawingml/2006/main">
              <a:ext uri="{FF2B5EF4-FFF2-40B4-BE49-F238E27FC236}">
                <a16:creationId xmlns:a16="http://schemas.microsoft.com/office/drawing/2014/main" id="{A862559C-1252-4A26-83DD-72FB0581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提示词模板</a:t>
            </a:r>
          </a:p>
        </p:txBody>
      </p:sp>
      <p:sp>
        <p:nvSpPr>
          <p:cNvPr id="37" name="bullet-detail-提示词模板">
            <a:extLst xmlns:a="http://schemas.openxmlformats.org/drawingml/2006/main">
              <a:ext uri="{FF2B5EF4-FFF2-40B4-BE49-F238E27FC236}">
                <a16:creationId xmlns:a16="http://schemas.microsoft.com/office/drawing/2014/main" id="{F0322EA9-05B8-4AB4-8C81-79D3B81E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7096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把模型交互方式固化成可复用模板。</a:t>
            </a:r>
          </a:p>
        </p:txBody>
      </p:sp>
      <p:sp>
        <p:nvSpPr>
          <p:cNvPr id="38" name="bullet-dot-rag-系统配置">
            <a:extLst xmlns:a="http://schemas.openxmlformats.org/drawingml/2006/main">
              <a:ext uri="{FF2B5EF4-FFF2-40B4-BE49-F238E27FC236}">
                <a16:creationId xmlns:a16="http://schemas.microsoft.com/office/drawing/2014/main" id="{543FEA14-1DA2-4BC0-9784-E92035E4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091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bullet-title-rag-系统配置">
            <a:extLst xmlns:a="http://schemas.openxmlformats.org/drawingml/2006/main">
              <a:ext uri="{FF2B5EF4-FFF2-40B4-BE49-F238E27FC236}">
                <a16:creationId xmlns:a16="http://schemas.microsoft.com/office/drawing/2014/main" id="{CCB95AE8-195A-46F4-B8C8-AB1EFA62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911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RAG / 系统配置</a:t>
            </a:r>
          </a:p>
        </p:txBody>
      </p:sp>
      <p:sp>
        <p:nvSpPr>
          <p:cNvPr id="40" name="bullet-detail-rag-系统配置">
            <a:extLst xmlns:a="http://schemas.openxmlformats.org/drawingml/2006/main">
              <a:ext uri="{FF2B5EF4-FFF2-40B4-BE49-F238E27FC236}">
                <a16:creationId xmlns:a16="http://schemas.microsoft.com/office/drawing/2014/main" id="{DBE354C6-DC5B-4673-8E52-CB567B89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4152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知识库、LLM、Embedding、SSH 和系统参数统一治理。</a:t>
            </a:r>
          </a:p>
        </p:txBody>
      </p:sp>
      <p:sp>
        <p:nvSpPr>
          <p:cNvPr id="41" name="stage-num-04">
            <a:extLst xmlns:a="http://schemas.openxmlformats.org/drawingml/2006/main">
              <a:ext uri="{FF2B5EF4-FFF2-40B4-BE49-F238E27FC236}">
                <a16:creationId xmlns:a16="http://schemas.microsoft.com/office/drawing/2014/main" id="{EACC1D79-5DF7-4594-9691-AC68BAFA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366998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2" name="stage-title-结果交付">
            <a:extLst xmlns:a="http://schemas.openxmlformats.org/drawingml/2006/main">
              <a:ext uri="{FF2B5EF4-FFF2-40B4-BE49-F238E27FC236}">
                <a16:creationId xmlns:a16="http://schemas.microsoft.com/office/drawing/2014/main" id="{DF9EF2DD-6149-4CB8-81D7-6137410E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61260"/>
            <a:ext cx="1011555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结果交付</a:t>
            </a:r>
          </a:p>
        </p:txBody>
      </p:sp>
      <p:sp>
        <p:nvSpPr>
          <p:cNvPr id="43" name="stage-rule-结果交付">
            <a:extLst xmlns:a="http://schemas.openxmlformats.org/drawingml/2006/main">
              <a:ext uri="{FF2B5EF4-FFF2-40B4-BE49-F238E27FC236}">
                <a16:creationId xmlns:a16="http://schemas.microsoft.com/office/drawing/2014/main" id="{2568149E-E171-490E-AB43-80312AC5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369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44" name="bullet-dot-dashboard">
            <a:extLst xmlns:a="http://schemas.openxmlformats.org/drawingml/2006/main">
              <a:ext uri="{FF2B5EF4-FFF2-40B4-BE49-F238E27FC236}">
                <a16:creationId xmlns:a16="http://schemas.microsoft.com/office/drawing/2014/main" id="{B1642902-248B-4DFF-8330-74D160E3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679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45" name="bullet-title-dashboard">
            <a:extLst xmlns:a="http://schemas.openxmlformats.org/drawingml/2006/main">
              <a:ext uri="{FF2B5EF4-FFF2-40B4-BE49-F238E27FC236}">
                <a16:creationId xmlns:a16="http://schemas.microsoft.com/office/drawing/2014/main" id="{B8A03D3A-A1ED-4487-B8F3-54264311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6799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Dashboard</a:t>
            </a:r>
          </a:p>
        </p:txBody>
      </p:sp>
      <p:sp>
        <p:nvSpPr>
          <p:cNvPr id="46" name="bullet-detail-dashboard">
            <a:extLst xmlns:a="http://schemas.openxmlformats.org/drawingml/2006/main">
              <a:ext uri="{FF2B5EF4-FFF2-40B4-BE49-F238E27FC236}">
                <a16:creationId xmlns:a16="http://schemas.microsoft.com/office/drawing/2014/main" id="{6EE463AD-536E-49B9-A251-91F94FD3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040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总览、最近项目、任务统计和运行状态。</a:t>
            </a:r>
          </a:p>
        </p:txBody>
      </p:sp>
      <p:sp>
        <p:nvSpPr>
          <p:cNvPr id="47" name="bullet-dot-任务详情">
            <a:extLst xmlns:a="http://schemas.openxmlformats.org/drawingml/2006/main">
              <a:ext uri="{FF2B5EF4-FFF2-40B4-BE49-F238E27FC236}">
                <a16:creationId xmlns:a16="http://schemas.microsoft.com/office/drawing/2014/main" id="{1179CAAC-A328-43DB-89FF-13CB244B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48" name="bullet-title-任务详情">
            <a:extLst xmlns:a="http://schemas.openxmlformats.org/drawingml/2006/main">
              <a:ext uri="{FF2B5EF4-FFF2-40B4-BE49-F238E27FC236}">
                <a16:creationId xmlns:a16="http://schemas.microsoft.com/office/drawing/2014/main" id="{C7737E74-AA2A-46FD-BABB-FAE6A4B0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任务详情</a:t>
            </a:r>
          </a:p>
        </p:txBody>
      </p:sp>
      <p:sp>
        <p:nvSpPr>
          <p:cNvPr id="49" name="bullet-detail-任务详情">
            <a:extLst xmlns:a="http://schemas.openxmlformats.org/drawingml/2006/main">
              <a:ext uri="{FF2B5EF4-FFF2-40B4-BE49-F238E27FC236}">
                <a16:creationId xmlns:a16="http://schemas.microsoft.com/office/drawing/2014/main" id="{3B5D930A-9353-44E9-B5CE-6516C672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7096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问题定位、过程回放、阶段结果统一查看。</a:t>
            </a:r>
          </a:p>
        </p:txBody>
      </p:sp>
      <p:sp>
        <p:nvSpPr>
          <p:cNvPr id="50" name="bullet-dot-pdf-json">
            <a:extLst xmlns:a="http://schemas.openxmlformats.org/drawingml/2006/main">
              <a:ext uri="{FF2B5EF4-FFF2-40B4-BE49-F238E27FC236}">
                <a16:creationId xmlns:a16="http://schemas.microsoft.com/office/drawing/2014/main" id="{AA003C41-AFBB-4901-ACEA-0556D8AC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091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51" name="bullet-title-pdf-json">
            <a:extLst xmlns:a="http://schemas.openxmlformats.org/drawingml/2006/main">
              <a:ext uri="{FF2B5EF4-FFF2-40B4-BE49-F238E27FC236}">
                <a16:creationId xmlns:a16="http://schemas.microsoft.com/office/drawing/2014/main" id="{B996255B-7828-4E7A-BE63-75D592DD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09110"/>
            <a:ext cx="23050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PDF / JSON</a:t>
            </a:r>
          </a:p>
        </p:txBody>
      </p:sp>
      <p:sp>
        <p:nvSpPr>
          <p:cNvPr id="52" name="bullet-detail-pdf-json">
            <a:extLst xmlns:a="http://schemas.openxmlformats.org/drawingml/2006/main">
              <a:ext uri="{FF2B5EF4-FFF2-40B4-BE49-F238E27FC236}">
                <a16:creationId xmlns:a16="http://schemas.microsoft.com/office/drawing/2014/main" id="{5D2C2F95-B78A-4669-96C9-EE7F576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4152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输出标准化报告，适合汇报、留档和复盘。</a:t>
            </a:r>
          </a:p>
        </p:txBody>
      </p:sp>
      <p:sp>
        <p:nvSpPr>
          <p:cNvPr id="53" name="panorama-model-kicker">
            <a:extLst xmlns:a="http://schemas.openxmlformats.org/drawingml/2006/main">
              <a:ext uri="{FF2B5EF4-FFF2-40B4-BE49-F238E27FC236}">
                <a16:creationId xmlns:a16="http://schemas.microsoft.com/office/drawing/2014/main" id="{75B3AFC5-EE37-4908-AFC0-DD5D5648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5870"/>
            <a:ext cx="95335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对象模型与主链</a:t>
            </a:r>
          </a:p>
        </p:txBody>
      </p:sp>
      <p:sp>
        <p:nvSpPr>
          <p:cNvPr id="54" name="chip-auditproject">
            <a:extLst xmlns:a="http://schemas.openxmlformats.org/drawingml/2006/main">
              <a:ext uri="{FF2B5EF4-FFF2-40B4-BE49-F238E27FC236}">
                <a16:creationId xmlns:a16="http://schemas.microsoft.com/office/drawing/2014/main" id="{69CBDA30-CC94-484B-AA51-B761C6FB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5910"/>
            <a:ext cx="254377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14000"/>
            </a:srgbClr>
          </a:solidFill>
          <a:ln xmlns:a="http://schemas.openxmlformats.org/drawingml/2006/main" w="9525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5" name="chip-text-auditproject">
            <a:extLst xmlns:a="http://schemas.openxmlformats.org/drawingml/2006/main">
              <a:ext uri="{FF2B5EF4-FFF2-40B4-BE49-F238E27FC236}">
                <a16:creationId xmlns:a16="http://schemas.microsoft.com/office/drawing/2014/main" id="{5EA26767-5D4A-48E3-BCD6-B433B45D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11" y="5375910"/>
            <a:ext cx="96354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AuditProject</a:t>
            </a:r>
          </a:p>
        </p:txBody>
      </p:sp>
      <p:sp>
        <p:nvSpPr>
          <p:cNvPr id="56" name="panorama-arrow-1">
            <a:extLst xmlns:a="http://schemas.openxmlformats.org/drawingml/2006/main">
              <a:ext uri="{FF2B5EF4-FFF2-40B4-BE49-F238E27FC236}">
                <a16:creationId xmlns:a16="http://schemas.microsoft.com/office/drawing/2014/main" id="{B607B37C-BCC7-486B-BD33-CAEC3B8B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20" y="5330190"/>
            <a:ext cx="126206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57" name="chip-audittask-agenttask">
            <a:extLst xmlns:a="http://schemas.openxmlformats.org/drawingml/2006/main">
              <a:ext uri="{FF2B5EF4-FFF2-40B4-BE49-F238E27FC236}">
                <a16:creationId xmlns:a16="http://schemas.microsoft.com/office/drawing/2014/main" id="{2CA688A0-925A-4EE8-9840-03A08E09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877" y="5375910"/>
            <a:ext cx="254377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8" name="chip-text-audittask-agenttask">
            <a:extLst xmlns:a="http://schemas.openxmlformats.org/drawingml/2006/main">
              <a:ext uri="{FF2B5EF4-FFF2-40B4-BE49-F238E27FC236}">
                <a16:creationId xmlns:a16="http://schemas.microsoft.com/office/drawing/2014/main" id="{606C8EF3-CF4F-41D0-BDEB-03F02069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656" y="5375910"/>
            <a:ext cx="1686211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AuditTask / AgentTask</a:t>
            </a:r>
          </a:p>
        </p:txBody>
      </p:sp>
      <p:sp>
        <p:nvSpPr>
          <p:cNvPr id="59" name="panorama-arrow-2">
            <a:extLst xmlns:a="http://schemas.openxmlformats.org/drawingml/2006/main">
              <a:ext uri="{FF2B5EF4-FFF2-40B4-BE49-F238E27FC236}">
                <a16:creationId xmlns:a16="http://schemas.microsoft.com/office/drawing/2014/main" id="{613A6F79-6B4E-4BEB-B963-F7CC604F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897" y="5330190"/>
            <a:ext cx="126206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60" name="chip-auditissue-agentfinding">
            <a:extLst xmlns:a="http://schemas.openxmlformats.org/drawingml/2006/main">
              <a:ext uri="{FF2B5EF4-FFF2-40B4-BE49-F238E27FC236}">
                <a16:creationId xmlns:a16="http://schemas.microsoft.com/office/drawing/2014/main" id="{15F4F3CE-1126-4224-91C1-72290ED4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353" y="5375910"/>
            <a:ext cx="254377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1" name="chip-text-auditissue-agentfinding">
            <a:extLst xmlns:a="http://schemas.openxmlformats.org/drawingml/2006/main">
              <a:ext uri="{FF2B5EF4-FFF2-40B4-BE49-F238E27FC236}">
                <a16:creationId xmlns:a16="http://schemas.microsoft.com/office/drawing/2014/main" id="{9984C328-EF97-4FE5-87CA-3D2B63C8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541" y="5375910"/>
            <a:ext cx="200739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AuditIssue / AgentFinding</a:t>
            </a:r>
          </a:p>
        </p:txBody>
      </p:sp>
      <p:sp>
        <p:nvSpPr>
          <p:cNvPr id="62" name="panorama-arrow-3">
            <a:extLst xmlns:a="http://schemas.openxmlformats.org/drawingml/2006/main">
              <a:ext uri="{FF2B5EF4-FFF2-40B4-BE49-F238E27FC236}">
                <a16:creationId xmlns:a16="http://schemas.microsoft.com/office/drawing/2014/main" id="{3466ACA7-B12D-469D-B968-34CFB0FD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373" y="5330190"/>
            <a:ext cx="126206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63" name="chip-auditartifact-report">
            <a:extLst xmlns:a="http://schemas.openxmlformats.org/drawingml/2006/main">
              <a:ext uri="{FF2B5EF4-FFF2-40B4-BE49-F238E27FC236}">
                <a16:creationId xmlns:a16="http://schemas.microsoft.com/office/drawing/2014/main" id="{E79416F5-37AC-46AE-AC88-5E0405B1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830" y="5375910"/>
            <a:ext cx="254377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4" name="chip-text-auditartifact-report">
            <a:extLst xmlns:a="http://schemas.openxmlformats.org/drawingml/2006/main">
              <a:ext uri="{FF2B5EF4-FFF2-40B4-BE49-F238E27FC236}">
                <a16:creationId xmlns:a16="http://schemas.microsoft.com/office/drawing/2014/main" id="{2BBBD1FE-F301-4A35-A062-F39C201D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462" y="5375910"/>
            <a:ext cx="176650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AuditArtifact / Report</a:t>
            </a:r>
          </a:p>
        </p:txBody>
      </p:sp>
      <p:sp>
        <p:nvSpPr>
          <p:cNvPr id="65" name="chip-auditruleset">
            <a:extLst xmlns:a="http://schemas.openxmlformats.org/drawingml/2006/main">
              <a:ext uri="{FF2B5EF4-FFF2-40B4-BE49-F238E27FC236}">
                <a16:creationId xmlns:a16="http://schemas.microsoft.com/office/drawing/2014/main" id="{6C26F530-1CE4-471F-A9A2-8D38CDCD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16408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14000"/>
            </a:srgbClr>
          </a:solidFill>
          <a:ln xmlns:a="http://schemas.openxmlformats.org/drawingml/2006/main" w="9525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66" name="chip-text-auditruleset">
            <a:extLst xmlns:a="http://schemas.openxmlformats.org/drawingml/2006/main">
              <a:ext uri="{FF2B5EF4-FFF2-40B4-BE49-F238E27FC236}">
                <a16:creationId xmlns:a16="http://schemas.microsoft.com/office/drawing/2014/main" id="{244A9AC1-253A-4288-8633-9E43255B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65" y="5695950"/>
            <a:ext cx="96354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AuditRuleSet</a:t>
            </a:r>
          </a:p>
        </p:txBody>
      </p:sp>
      <p:sp>
        <p:nvSpPr>
          <p:cNvPr id="67" name="chip-prompttemplate">
            <a:extLst xmlns:a="http://schemas.openxmlformats.org/drawingml/2006/main">
              <a:ext uri="{FF2B5EF4-FFF2-40B4-BE49-F238E27FC236}">
                <a16:creationId xmlns:a16="http://schemas.microsoft.com/office/drawing/2014/main" id="{22F1ACBE-186F-4677-9718-AB95DA66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5695950"/>
            <a:ext cx="216408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8" name="chip-text-prompttemplate">
            <a:extLst xmlns:a="http://schemas.openxmlformats.org/drawingml/2006/main">
              <a:ext uri="{FF2B5EF4-FFF2-40B4-BE49-F238E27FC236}">
                <a16:creationId xmlns:a16="http://schemas.microsoft.com/office/drawing/2014/main" id="{33B7763F-C15B-49A7-8288-5BEA29D0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650" y="5695950"/>
            <a:ext cx="1124141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PromptTemplate</a:t>
            </a:r>
          </a:p>
        </p:txBody>
      </p:sp>
      <p:sp>
        <p:nvSpPr>
          <p:cNvPr id="69" name="chip-rag-knowledge">
            <a:extLst xmlns:a="http://schemas.openxmlformats.org/drawingml/2006/main">
              <a:ext uri="{FF2B5EF4-FFF2-40B4-BE49-F238E27FC236}">
                <a16:creationId xmlns:a16="http://schemas.microsoft.com/office/drawing/2014/main" id="{C8A368D3-D46B-458F-AA8B-379F8689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5695950"/>
            <a:ext cx="216408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0" name="chip-text-rag-knowledge">
            <a:extLst xmlns:a="http://schemas.openxmlformats.org/drawingml/2006/main">
              <a:ext uri="{FF2B5EF4-FFF2-40B4-BE49-F238E27FC236}">
                <a16:creationId xmlns:a16="http://schemas.microsoft.com/office/drawing/2014/main" id="{2AAECCAA-3E8E-40D2-9602-18E7C34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782" y="5695950"/>
            <a:ext cx="12044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RAG / Knowledge</a:t>
            </a:r>
          </a:p>
        </p:txBody>
      </p:sp>
      <p:sp>
        <p:nvSpPr>
          <p:cNvPr id="71" name="chip-audituserconfig">
            <a:extLst xmlns:a="http://schemas.openxmlformats.org/drawingml/2006/main">
              <a:ext uri="{FF2B5EF4-FFF2-40B4-BE49-F238E27FC236}">
                <a16:creationId xmlns:a16="http://schemas.microsoft.com/office/drawing/2014/main" id="{F10B8165-3F7E-4558-887C-9785D2C4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5695950"/>
            <a:ext cx="216408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2" name="chip-text-audituserconfig">
            <a:extLst xmlns:a="http://schemas.openxmlformats.org/drawingml/2006/main">
              <a:ext uri="{FF2B5EF4-FFF2-40B4-BE49-F238E27FC236}">
                <a16:creationId xmlns:a16="http://schemas.microsoft.com/office/drawing/2014/main" id="{8384668F-B813-44E1-AEA6-75ED161F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062" y="5695950"/>
            <a:ext cx="12044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AuditUserConfig</a:t>
            </a:r>
          </a:p>
        </p:txBody>
      </p:sp>
      <p:sp>
        <p:nvSpPr>
          <p:cNvPr id="73" name="chip-auditsshcredential">
            <a:extLst xmlns:a="http://schemas.openxmlformats.org/drawingml/2006/main">
              <a:ext uri="{FF2B5EF4-FFF2-40B4-BE49-F238E27FC236}">
                <a16:creationId xmlns:a16="http://schemas.microsoft.com/office/drawing/2014/main" id="{B3AD632E-7E5E-44C2-A767-727802F7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5695950"/>
            <a:ext cx="216408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4" name="chip-text-auditsshcredential">
            <a:extLst xmlns:a="http://schemas.openxmlformats.org/drawingml/2006/main">
              <a:ext uri="{FF2B5EF4-FFF2-40B4-BE49-F238E27FC236}">
                <a16:creationId xmlns:a16="http://schemas.microsoft.com/office/drawing/2014/main" id="{DF49CB3F-C041-4920-ADE0-C8B5E930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898" y="5695950"/>
            <a:ext cx="144532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AuditSshCredential</a:t>
            </a:r>
          </a:p>
        </p:txBody>
      </p:sp>
      <p:sp>
        <p:nvSpPr>
          <p:cNvPr id="75" name="panorama-note">
            <a:extLst xmlns:a="http://schemas.openxmlformats.org/drawingml/2006/main">
              <a:ext uri="{FF2B5EF4-FFF2-40B4-BE49-F238E27FC236}">
                <a16:creationId xmlns:a16="http://schemas.microsoft.com/office/drawing/2014/main" id="{7A9101AC-B2FC-4437-9892-C6E1BC5E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7027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项目是上下文根对象，任务、策略、知识和报告都围绕它展开。</a:t>
            </a:r>
          </a:p>
        </p:txBody>
      </p:sp>
    </p:spTree>
    <p:extLst>
      <p:ext uri="{BB962C8B-B14F-4D97-AF65-F5344CB8AC3E}">
        <p14:creationId xmlns:p14="http://schemas.microsoft.com/office/powerpoint/2010/main" val="393552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架构设计">
            <a:extLst xmlns:a="http://schemas.openxmlformats.org/drawingml/2006/main">
              <a:ext uri="{FF2B5EF4-FFF2-40B4-BE49-F238E27FC236}">
                <a16:creationId xmlns:a16="http://schemas.microsoft.com/office/drawing/2014/main" id="{98D5E2F0-CDFB-4F50-9381-37862652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2129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ARCHITECTURE</a:t>
            </a:r>
          </a:p>
        </p:txBody>
      </p:sp>
      <p:sp>
        <p:nvSpPr>
          <p:cNvPr id="2" name="header-title-架构设计">
            <a:extLst xmlns:a="http://schemas.openxmlformats.org/drawingml/2006/main">
              <a:ext uri="{FF2B5EF4-FFF2-40B4-BE49-F238E27FC236}">
                <a16:creationId xmlns:a16="http://schemas.microsoft.com/office/drawing/2014/main" id="{C7E40C01-A92D-45F5-8A61-3049EA1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架构设计</a:t>
            </a:r>
          </a:p>
        </p:txBody>
      </p:sp>
      <p:sp>
        <p:nvSpPr>
          <p:cNvPr id="3" name="header-subtitle-架构设计">
            <a:extLst xmlns:a="http://schemas.openxmlformats.org/drawingml/2006/main">
              <a:ext uri="{FF2B5EF4-FFF2-40B4-BE49-F238E27FC236}">
                <a16:creationId xmlns:a16="http://schemas.microsoft.com/office/drawing/2014/main" id="{4EE2DEAC-F481-4FD3-A3A9-FD1DA055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独立前端 + Django Ninja 后端聚合 + Celery / Redis / Channels 实时链路。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33199C20-9F7A-4EED-B2DB-37B15CD8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flow-node-用户-领导">
            <a:extLst xmlns:a="http://schemas.openxmlformats.org/drawingml/2006/main">
              <a:ext uri="{FF2B5EF4-FFF2-40B4-BE49-F238E27FC236}">
                <a16:creationId xmlns:a16="http://schemas.microsoft.com/office/drawing/2014/main" id="{03F47BA0-FB4A-4368-AB54-9F8CF7A4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flow-node-label-用户-领导">
            <a:extLst xmlns:a="http://schemas.openxmlformats.org/drawingml/2006/main">
              <a:ext uri="{FF2B5EF4-FFF2-40B4-BE49-F238E27FC236}">
                <a16:creationId xmlns:a16="http://schemas.microsoft.com/office/drawing/2014/main" id="{14DCDFE4-005F-47BA-ACEB-A3B51E98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74581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0A9BA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7" name="flow-node-title-用户-领导">
            <a:extLst xmlns:a="http://schemas.openxmlformats.org/drawingml/2006/main">
              <a:ext uri="{FF2B5EF4-FFF2-40B4-BE49-F238E27FC236}">
                <a16:creationId xmlns:a16="http://schemas.microsoft.com/office/drawing/2014/main" id="{01873D88-B2D6-4506-8360-2A47A9F7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5990"/>
            <a:ext cx="1165765" cy="262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用户 / 领导</a:t>
            </a:r>
          </a:p>
        </p:txBody>
      </p:sp>
      <p:sp>
        <p:nvSpPr>
          <p:cNvPr id="8" name="flow-node-subtitle-用户-领导">
            <a:extLst xmlns:a="http://schemas.openxmlformats.org/drawingml/2006/main">
              <a:ext uri="{FF2B5EF4-FFF2-40B4-BE49-F238E27FC236}">
                <a16:creationId xmlns:a16="http://schemas.microsoft.com/office/drawing/2014/main" id="{B14E81D7-6AA2-4B9C-81B9-08E983B0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6030"/>
            <a:ext cx="251145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看 Dashboard、任务、报告和演示结果。</a:t>
            </a:r>
          </a:p>
        </p:txBody>
      </p:sp>
      <p:sp>
        <p:nvSpPr>
          <p:cNvPr id="9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3CCC52E7-02E2-4D5D-8595-F5AA3357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00250"/>
            <a:ext cx="2286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10" name="flow-node-独立前端">
            <a:extLst xmlns:a="http://schemas.openxmlformats.org/drawingml/2006/main">
              <a:ext uri="{FF2B5EF4-FFF2-40B4-BE49-F238E27FC236}">
                <a16:creationId xmlns:a16="http://schemas.microsoft.com/office/drawing/2014/main" id="{D3759933-8945-4E73-9579-BCC3255E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10000"/>
            </a:srgbClr>
          </a:solidFill>
          <a:ln xmlns:a="http://schemas.openxmlformats.org/drawingml/2006/main" w="9525">
            <a:solidFill>
              <a:srgbClr val="FF6A2A">
                <a:alpha val="35000"/>
              </a:srgbClr>
            </a:solidFill>
            <a:prstDash val="solid"/>
          </a:ln>
        </p:spPr>
      </p:sp>
      <p:sp>
        <p:nvSpPr>
          <p:cNvPr id="11" name="flow-node-label-独立前端">
            <a:extLst xmlns:a="http://schemas.openxmlformats.org/drawingml/2006/main">
              <a:ext uri="{FF2B5EF4-FFF2-40B4-BE49-F238E27FC236}">
                <a16:creationId xmlns:a16="http://schemas.microsoft.com/office/drawing/2014/main" id="{080E32F6-23B7-4E5F-A026-394231BD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74581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2" name="flow-node-title-独立前端">
            <a:extLst xmlns:a="http://schemas.openxmlformats.org/drawingml/2006/main">
              <a:ext uri="{FF2B5EF4-FFF2-40B4-BE49-F238E27FC236}">
                <a16:creationId xmlns:a16="http://schemas.microsoft.com/office/drawing/2014/main" id="{B44547FD-4139-4CE0-BE93-B80553A9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05990"/>
            <a:ext cx="894874" cy="262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独立前端</a:t>
            </a:r>
          </a:p>
        </p:txBody>
      </p:sp>
      <p:sp>
        <p:nvSpPr>
          <p:cNvPr id="13" name="flow-node-subtitle-独立前端">
            <a:extLst xmlns:a="http://schemas.openxmlformats.org/drawingml/2006/main">
              <a:ext uri="{FF2B5EF4-FFF2-40B4-BE49-F238E27FC236}">
                <a16:creationId xmlns:a16="http://schemas.microsoft.com/office/drawing/2014/main" id="{66D025D4-0B1F-4F18-ABA0-33450A82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6030"/>
            <a:ext cx="232162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/deepaudit-app/，页面级权限控制。</a:t>
            </a:r>
          </a:p>
        </p:txBody>
      </p:sp>
      <p:sp>
        <p:nvSpPr>
          <p:cNvPr id="14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54630A2D-F835-4798-998A-6FA562D4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286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15" name="flow-node-api-聚合">
            <a:extLst xmlns:a="http://schemas.openxmlformats.org/drawingml/2006/main">
              <a:ext uri="{FF2B5EF4-FFF2-40B4-BE49-F238E27FC236}">
                <a16:creationId xmlns:a16="http://schemas.microsoft.com/office/drawing/2014/main" id="{C6775FD2-30BC-405F-A732-514817F1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0250"/>
            <a:ext cx="1676400" cy="1108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flow-node-label-api-聚合">
            <a:extLst xmlns:a="http://schemas.openxmlformats.org/drawingml/2006/main">
              <a:ext uri="{FF2B5EF4-FFF2-40B4-BE49-F238E27FC236}">
                <a16:creationId xmlns:a16="http://schemas.microsoft.com/office/drawing/2014/main" id="{8ADF6D83-D466-462A-A0B5-4D3CF009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0250"/>
            <a:ext cx="74581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0A9BA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7" name="flow-node-title-api-聚合">
            <a:extLst xmlns:a="http://schemas.openxmlformats.org/drawingml/2006/main">
              <a:ext uri="{FF2B5EF4-FFF2-40B4-BE49-F238E27FC236}">
                <a16:creationId xmlns:a16="http://schemas.microsoft.com/office/drawing/2014/main" id="{AA5DA637-58B1-42E9-8AE6-2539106F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05990"/>
            <a:ext cx="895921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API 聚合</a:t>
            </a:r>
          </a:p>
        </p:txBody>
      </p:sp>
      <p:sp>
        <p:nvSpPr>
          <p:cNvPr id="18" name="flow-node-subtitle-api-聚合">
            <a:extLst xmlns:a="http://schemas.openxmlformats.org/drawingml/2006/main">
              <a:ext uri="{FF2B5EF4-FFF2-40B4-BE49-F238E27FC236}">
                <a16:creationId xmlns:a16="http://schemas.microsoft.com/office/drawing/2014/main" id="{394C55A8-0AB8-4ABE-BFFE-EDC57AB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8920"/>
            <a:ext cx="2193988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/api/deepaudit/*，按业务域拆分。</a:t>
            </a:r>
          </a:p>
        </p:txBody>
      </p:sp>
      <p:sp>
        <p:nvSpPr>
          <p:cNvPr id="19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1513C6D2-2416-4CDA-BD36-BF71648D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286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20" name="flow-node-worker">
            <a:extLst xmlns:a="http://schemas.openxmlformats.org/drawingml/2006/main">
              <a:ext uri="{FF2B5EF4-FFF2-40B4-BE49-F238E27FC236}">
                <a16:creationId xmlns:a16="http://schemas.microsoft.com/office/drawing/2014/main" id="{4E1CFF2F-19C6-4883-8A8D-43796100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1676400" cy="845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flow-node-label-worker">
            <a:extLst xmlns:a="http://schemas.openxmlformats.org/drawingml/2006/main">
              <a:ext uri="{FF2B5EF4-FFF2-40B4-BE49-F238E27FC236}">
                <a16:creationId xmlns:a16="http://schemas.microsoft.com/office/drawing/2014/main" id="{1135F14D-9E68-4A65-9C33-7F602F66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74581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0A9BA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2" name="flow-node-title-worker">
            <a:extLst xmlns:a="http://schemas.openxmlformats.org/drawingml/2006/main">
              <a:ext uri="{FF2B5EF4-FFF2-40B4-BE49-F238E27FC236}">
                <a16:creationId xmlns:a16="http://schemas.microsoft.com/office/drawing/2014/main" id="{A6F98ECC-6B76-4DE8-9327-0604558E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5990"/>
            <a:ext cx="792861" cy="262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Worker</a:t>
            </a:r>
          </a:p>
        </p:txBody>
      </p:sp>
      <p:sp>
        <p:nvSpPr>
          <p:cNvPr id="23" name="flow-node-subtitle-worker">
            <a:extLst xmlns:a="http://schemas.openxmlformats.org/drawingml/2006/main">
              <a:ext uri="{FF2B5EF4-FFF2-40B4-BE49-F238E27FC236}">
                <a16:creationId xmlns:a16="http://schemas.microsoft.com/office/drawing/2014/main" id="{E32E9AD6-752E-42A5-A119-88383751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26030"/>
            <a:ext cx="227990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Celery + AgentRunner 执行长任务。</a:t>
            </a:r>
          </a:p>
        </p:txBody>
      </p:sp>
      <p:sp>
        <p:nvSpPr>
          <p:cNvPr id="24" name="arch-arrow-4">
            <a:extLst xmlns:a="http://schemas.openxmlformats.org/drawingml/2006/main">
              <a:ext uri="{FF2B5EF4-FFF2-40B4-BE49-F238E27FC236}">
                <a16:creationId xmlns:a16="http://schemas.microsoft.com/office/drawing/2014/main" id="{8AB2963F-B0D2-4FA8-8635-BDCD99DA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286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25" name="flow-node-sse-ws">
            <a:extLst xmlns:a="http://schemas.openxmlformats.org/drawingml/2006/main">
              <a:ext uri="{FF2B5EF4-FFF2-40B4-BE49-F238E27FC236}">
                <a16:creationId xmlns:a16="http://schemas.microsoft.com/office/drawing/2014/main" id="{14D359A9-54CA-4171-941E-DDFC75F7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1676400" cy="845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10000"/>
            </a:srgbClr>
          </a:solidFill>
          <a:ln xmlns:a="http://schemas.openxmlformats.org/drawingml/2006/main" w="9525">
            <a:solidFill>
              <a:srgbClr val="FF6A2A">
                <a:alpha val="35000"/>
              </a:srgbClr>
            </a:solidFill>
            <a:prstDash val="solid"/>
          </a:ln>
        </p:spPr>
      </p:sp>
      <p:sp>
        <p:nvSpPr>
          <p:cNvPr id="26" name="flow-node-label-sse-ws">
            <a:extLst xmlns:a="http://schemas.openxmlformats.org/drawingml/2006/main">
              <a:ext uri="{FF2B5EF4-FFF2-40B4-BE49-F238E27FC236}">
                <a16:creationId xmlns:a16="http://schemas.microsoft.com/office/drawing/2014/main" id="{BF1D7A97-5E55-4462-82A5-7349723D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74581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7" name="flow-node-title-sse-ws">
            <a:extLst xmlns:a="http://schemas.openxmlformats.org/drawingml/2006/main">
              <a:ext uri="{FF2B5EF4-FFF2-40B4-BE49-F238E27FC236}">
                <a16:creationId xmlns:a16="http://schemas.microsoft.com/office/drawing/2014/main" id="{829A5C36-842E-40FD-A6BB-488B43DC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5990"/>
            <a:ext cx="1081088" cy="262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SSE / WS</a:t>
            </a:r>
          </a:p>
        </p:txBody>
      </p:sp>
      <p:sp>
        <p:nvSpPr>
          <p:cNvPr id="28" name="flow-node-subtitle-sse-ws">
            <a:extLst xmlns:a="http://schemas.openxmlformats.org/drawingml/2006/main">
              <a:ext uri="{FF2B5EF4-FFF2-40B4-BE49-F238E27FC236}">
                <a16:creationId xmlns:a16="http://schemas.microsoft.com/office/drawing/2014/main" id="{10CC9ACD-638F-412C-85A9-25419A4C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26030"/>
            <a:ext cx="1770602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事件流回传到前端实时渲染。</a:t>
            </a:r>
          </a:p>
        </p:txBody>
      </p:sp>
      <p:sp>
        <p:nvSpPr>
          <p:cNvPr id="29" name="arch-support-kicker">
            <a:extLst xmlns:a="http://schemas.openxmlformats.org/drawingml/2006/main">
              <a:ext uri="{FF2B5EF4-FFF2-40B4-BE49-F238E27FC236}">
                <a16:creationId xmlns:a16="http://schemas.microsoft.com/office/drawing/2014/main" id="{5411F195-3052-424D-B7BE-FF0A0E80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0410"/>
            <a:ext cx="68094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运行支撑层</a:t>
            </a:r>
          </a:p>
        </p:txBody>
      </p:sp>
      <p:sp>
        <p:nvSpPr>
          <p:cNvPr id="30" name="chip-asgi">
            <a:extLst xmlns:a="http://schemas.openxmlformats.org/drawingml/2006/main">
              <a:ext uri="{FF2B5EF4-FFF2-40B4-BE49-F238E27FC236}">
                <a16:creationId xmlns:a16="http://schemas.microsoft.com/office/drawing/2014/main" id="{3DE3B1B6-3EE6-4E24-B12E-DB117DFE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5680"/>
            <a:ext cx="11811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chip-text-asgi">
            <a:extLst xmlns:a="http://schemas.openxmlformats.org/drawingml/2006/main">
              <a:ext uri="{FF2B5EF4-FFF2-40B4-BE49-F238E27FC236}">
                <a16:creationId xmlns:a16="http://schemas.microsoft.com/office/drawing/2014/main" id="{EE5F3AFF-DF37-4A83-975E-DC7BCA2A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58" y="3535680"/>
            <a:ext cx="321183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ASGI</a:t>
            </a:r>
          </a:p>
        </p:txBody>
      </p:sp>
      <p:sp>
        <p:nvSpPr>
          <p:cNvPr id="32" name="chip-celery">
            <a:extLst xmlns:a="http://schemas.openxmlformats.org/drawingml/2006/main">
              <a:ext uri="{FF2B5EF4-FFF2-40B4-BE49-F238E27FC236}">
                <a16:creationId xmlns:a16="http://schemas.microsoft.com/office/drawing/2014/main" id="{46CC0561-41E2-45FF-BA32-65993404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35680"/>
            <a:ext cx="11811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chip-text-celery">
            <a:extLst xmlns:a="http://schemas.openxmlformats.org/drawingml/2006/main">
              <a:ext uri="{FF2B5EF4-FFF2-40B4-BE49-F238E27FC236}">
                <a16:creationId xmlns:a16="http://schemas.microsoft.com/office/drawing/2014/main" id="{98B35CB6-F9F2-419A-8849-EA11FE3C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63" y="3535680"/>
            <a:ext cx="48177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Celery</a:t>
            </a:r>
          </a:p>
        </p:txBody>
      </p:sp>
      <p:sp>
        <p:nvSpPr>
          <p:cNvPr id="34" name="chip-redis">
            <a:extLst xmlns:a="http://schemas.openxmlformats.org/drawingml/2006/main">
              <a:ext uri="{FF2B5EF4-FFF2-40B4-BE49-F238E27FC236}">
                <a16:creationId xmlns:a16="http://schemas.microsoft.com/office/drawing/2014/main" id="{BED873FC-2763-412C-931C-C437169A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35680"/>
            <a:ext cx="11811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chip-text-redis">
            <a:extLst xmlns:a="http://schemas.openxmlformats.org/drawingml/2006/main">
              <a:ext uri="{FF2B5EF4-FFF2-40B4-BE49-F238E27FC236}">
                <a16:creationId xmlns:a16="http://schemas.microsoft.com/office/drawing/2014/main" id="{9D4CF9A4-89FC-48C9-B5F7-A5633AB8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811" y="3535680"/>
            <a:ext cx="40147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Redis</a:t>
            </a:r>
          </a:p>
        </p:txBody>
      </p:sp>
      <p:sp>
        <p:nvSpPr>
          <p:cNvPr id="36" name="chip-channels">
            <a:extLst xmlns:a="http://schemas.openxmlformats.org/drawingml/2006/main">
              <a:ext uri="{FF2B5EF4-FFF2-40B4-BE49-F238E27FC236}">
                <a16:creationId xmlns:a16="http://schemas.microsoft.com/office/drawing/2014/main" id="{DF84F583-D4C5-409B-BAC0-7EE99386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35680"/>
            <a:ext cx="11811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chip-text-channels">
            <a:extLst xmlns:a="http://schemas.openxmlformats.org/drawingml/2006/main">
              <a:ext uri="{FF2B5EF4-FFF2-40B4-BE49-F238E27FC236}">
                <a16:creationId xmlns:a16="http://schemas.microsoft.com/office/drawing/2014/main" id="{1E373CFE-6394-4467-98E3-E27FE0B1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667" y="3535680"/>
            <a:ext cx="64236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Channels</a:t>
            </a:r>
          </a:p>
        </p:txBody>
      </p:sp>
      <p:sp>
        <p:nvSpPr>
          <p:cNvPr id="38" name="chip-nginx">
            <a:extLst xmlns:a="http://schemas.openxmlformats.org/drawingml/2006/main">
              <a:ext uri="{FF2B5EF4-FFF2-40B4-BE49-F238E27FC236}">
                <a16:creationId xmlns:a16="http://schemas.microsoft.com/office/drawing/2014/main" id="{3CFE0F34-811A-406B-A008-F83F265A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1811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chip-text-nginx">
            <a:extLst xmlns:a="http://schemas.openxmlformats.org/drawingml/2006/main">
              <a:ext uri="{FF2B5EF4-FFF2-40B4-BE49-F238E27FC236}">
                <a16:creationId xmlns:a16="http://schemas.microsoft.com/office/drawing/2014/main" id="{88212138-8CF5-4EB5-852A-15E27BCB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11" y="3771900"/>
            <a:ext cx="40147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Nginx</a:t>
            </a:r>
          </a:p>
        </p:txBody>
      </p:sp>
      <p:sp>
        <p:nvSpPr>
          <p:cNvPr id="40" name="chip-workspace">
            <a:extLst xmlns:a="http://schemas.openxmlformats.org/drawingml/2006/main">
              <a:ext uri="{FF2B5EF4-FFF2-40B4-BE49-F238E27FC236}">
                <a16:creationId xmlns:a16="http://schemas.microsoft.com/office/drawing/2014/main" id="{530F106F-E0C7-4ACA-B625-2FB149D0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71900"/>
            <a:ext cx="11811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chip-text-workspace">
            <a:extLst xmlns:a="http://schemas.openxmlformats.org/drawingml/2006/main">
              <a:ext uri="{FF2B5EF4-FFF2-40B4-BE49-F238E27FC236}">
                <a16:creationId xmlns:a16="http://schemas.microsoft.com/office/drawing/2014/main" id="{DC5DA772-DFD9-4F79-8371-EF5527B6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919" y="3771900"/>
            <a:ext cx="72266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Workspace</a:t>
            </a:r>
          </a:p>
        </p:txBody>
      </p:sp>
      <p:sp>
        <p:nvSpPr>
          <p:cNvPr id="42" name="chip-rag">
            <a:extLst xmlns:a="http://schemas.openxmlformats.org/drawingml/2006/main">
              <a:ext uri="{FF2B5EF4-FFF2-40B4-BE49-F238E27FC236}">
                <a16:creationId xmlns:a16="http://schemas.microsoft.com/office/drawing/2014/main" id="{AA095C61-6A76-4E7E-96D3-05B050C7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71900"/>
            <a:ext cx="11811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chip-text-rag">
            <a:extLst xmlns:a="http://schemas.openxmlformats.org/drawingml/2006/main">
              <a:ext uri="{FF2B5EF4-FFF2-40B4-BE49-F238E27FC236}">
                <a16:creationId xmlns:a16="http://schemas.microsoft.com/office/drawing/2014/main" id="{8CAFF547-5170-4D07-9EF6-FF430373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106" y="3771900"/>
            <a:ext cx="24088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RAG</a:t>
            </a:r>
          </a:p>
        </p:txBody>
      </p:sp>
      <p:sp>
        <p:nvSpPr>
          <p:cNvPr id="44" name="chip-reports">
            <a:extLst xmlns:a="http://schemas.openxmlformats.org/drawingml/2006/main">
              <a:ext uri="{FF2B5EF4-FFF2-40B4-BE49-F238E27FC236}">
                <a16:creationId xmlns:a16="http://schemas.microsoft.com/office/drawing/2014/main" id="{1A9F2999-DB1B-4457-B719-72210C28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11811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5" name="chip-text-reports">
            <a:extLst xmlns:a="http://schemas.openxmlformats.org/drawingml/2006/main">
              <a:ext uri="{FF2B5EF4-FFF2-40B4-BE49-F238E27FC236}">
                <a16:creationId xmlns:a16="http://schemas.microsoft.com/office/drawing/2014/main" id="{A63A8122-023D-4B22-8923-804EFCD3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15" y="3771900"/>
            <a:ext cx="56207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Reports</a:t>
            </a:r>
          </a:p>
        </p:txBody>
      </p:sp>
      <p:sp>
        <p:nvSpPr>
          <p:cNvPr id="46" name="arch-summary">
            <a:extLst xmlns:a="http://schemas.openxmlformats.org/drawingml/2006/main">
              <a:ext uri="{FF2B5EF4-FFF2-40B4-BE49-F238E27FC236}">
                <a16:creationId xmlns:a16="http://schemas.microsoft.com/office/drawing/2014/main" id="{AD0CEDAE-FEA5-4123-9AB8-5051AE82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7170"/>
            <a:ext cx="47625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前端只关心事件流；后端把“执行”和“回传”拆开，保证长任务能持续可观测。</a:t>
            </a:r>
          </a:p>
        </p:txBody>
      </p:sp>
      <p:sp>
        <p:nvSpPr>
          <p:cNvPr id="47" name="arch-domain-kicker">
            <a:extLst xmlns:a="http://schemas.openxmlformats.org/drawingml/2006/main">
              <a:ext uri="{FF2B5EF4-FFF2-40B4-BE49-F238E27FC236}">
                <a16:creationId xmlns:a16="http://schemas.microsoft.com/office/drawing/2014/main" id="{982B3E60-8B1E-4901-B943-36342183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041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后端子域</a:t>
            </a:r>
          </a:p>
        </p:txBody>
      </p:sp>
      <p:sp>
        <p:nvSpPr>
          <p:cNvPr id="48" name="chip-project">
            <a:extLst xmlns:a="http://schemas.openxmlformats.org/drawingml/2006/main">
              <a:ext uri="{FF2B5EF4-FFF2-40B4-BE49-F238E27FC236}">
                <a16:creationId xmlns:a16="http://schemas.microsoft.com/office/drawing/2014/main" id="{5FE60D14-9562-4CFC-BAF6-D86C2D1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5473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9" name="chip-text-project">
            <a:extLst xmlns:a="http://schemas.openxmlformats.org/drawingml/2006/main">
              <a:ext uri="{FF2B5EF4-FFF2-40B4-BE49-F238E27FC236}">
                <a16:creationId xmlns:a16="http://schemas.microsoft.com/office/drawing/2014/main" id="{6FACA97A-7CBA-49C6-810B-06336330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40" y="3554730"/>
            <a:ext cx="56207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project</a:t>
            </a:r>
          </a:p>
        </p:txBody>
      </p:sp>
      <p:sp>
        <p:nvSpPr>
          <p:cNvPr id="50" name="chip-scan-task">
            <a:extLst xmlns:a="http://schemas.openxmlformats.org/drawingml/2006/main">
              <a:ext uri="{FF2B5EF4-FFF2-40B4-BE49-F238E27FC236}">
                <a16:creationId xmlns:a16="http://schemas.microsoft.com/office/drawing/2014/main" id="{AD881F06-CF11-4585-8246-545E619C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5473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1" name="chip-text-scan-task">
            <a:extLst xmlns:a="http://schemas.openxmlformats.org/drawingml/2006/main">
              <a:ext uri="{FF2B5EF4-FFF2-40B4-BE49-F238E27FC236}">
                <a16:creationId xmlns:a16="http://schemas.microsoft.com/office/drawing/2014/main" id="{5BF7FAE2-996F-45E9-B2F0-F4E7D6BD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994" y="3554730"/>
            <a:ext cx="72266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scan_task</a:t>
            </a:r>
          </a:p>
        </p:txBody>
      </p:sp>
      <p:sp>
        <p:nvSpPr>
          <p:cNvPr id="52" name="chip-agent-task">
            <a:extLst xmlns:a="http://schemas.openxmlformats.org/drawingml/2006/main">
              <a:ext uri="{FF2B5EF4-FFF2-40B4-BE49-F238E27FC236}">
                <a16:creationId xmlns:a16="http://schemas.microsoft.com/office/drawing/2014/main" id="{B3386A77-DD74-4CA4-A985-0832BC37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5473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3" name="chip-text-agent-task">
            <a:extLst xmlns:a="http://schemas.openxmlformats.org/drawingml/2006/main">
              <a:ext uri="{FF2B5EF4-FFF2-40B4-BE49-F238E27FC236}">
                <a16:creationId xmlns:a16="http://schemas.microsoft.com/office/drawing/2014/main" id="{29751E56-AADC-41D4-B962-58E2422C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796" y="3554730"/>
            <a:ext cx="802958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agent_task</a:t>
            </a:r>
          </a:p>
        </p:txBody>
      </p:sp>
      <p:sp>
        <p:nvSpPr>
          <p:cNvPr id="54" name="chip-rag">
            <a:extLst xmlns:a="http://schemas.openxmlformats.org/drawingml/2006/main">
              <a:ext uri="{FF2B5EF4-FFF2-40B4-BE49-F238E27FC236}">
                <a16:creationId xmlns:a16="http://schemas.microsoft.com/office/drawing/2014/main" id="{080EC8CE-D371-4813-B308-F4A277A7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55473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5" name="chip-text-rag">
            <a:extLst xmlns:a="http://schemas.openxmlformats.org/drawingml/2006/main">
              <a:ext uri="{FF2B5EF4-FFF2-40B4-BE49-F238E27FC236}">
                <a16:creationId xmlns:a16="http://schemas.microsoft.com/office/drawing/2014/main" id="{D201B1BC-3C9A-42EE-B305-56FDED3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781" y="3554730"/>
            <a:ext cx="24088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rag</a:t>
            </a:r>
          </a:p>
        </p:txBody>
      </p:sp>
      <p:sp>
        <p:nvSpPr>
          <p:cNvPr id="56" name="chip-audit-rule">
            <a:extLst xmlns:a="http://schemas.openxmlformats.org/drawingml/2006/main">
              <a:ext uri="{FF2B5EF4-FFF2-40B4-BE49-F238E27FC236}">
                <a16:creationId xmlns:a16="http://schemas.microsoft.com/office/drawing/2014/main" id="{A121AF42-ABAF-460C-A882-697B995F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7" name="chip-text-audit-rule">
            <a:extLst xmlns:a="http://schemas.openxmlformats.org/drawingml/2006/main">
              <a:ext uri="{FF2B5EF4-FFF2-40B4-BE49-F238E27FC236}">
                <a16:creationId xmlns:a16="http://schemas.microsoft.com/office/drawing/2014/main" id="{AB7E055B-3546-463D-93FC-3A1EB51B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896" y="3790950"/>
            <a:ext cx="802958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audit_rule</a:t>
            </a:r>
          </a:p>
        </p:txBody>
      </p:sp>
      <p:sp>
        <p:nvSpPr>
          <p:cNvPr id="58" name="chip-prompt-template">
            <a:extLst xmlns:a="http://schemas.openxmlformats.org/drawingml/2006/main">
              <a:ext uri="{FF2B5EF4-FFF2-40B4-BE49-F238E27FC236}">
                <a16:creationId xmlns:a16="http://schemas.microsoft.com/office/drawing/2014/main" id="{49666A94-10F9-489C-A99E-7701EEDC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9095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9" name="chip-text-prompt-template">
            <a:extLst xmlns:a="http://schemas.openxmlformats.org/drawingml/2006/main">
              <a:ext uri="{FF2B5EF4-FFF2-40B4-BE49-F238E27FC236}">
                <a16:creationId xmlns:a16="http://schemas.microsoft.com/office/drawing/2014/main" id="{1645463A-89BB-4EF3-879C-16F6F101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107" y="3790950"/>
            <a:ext cx="12044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prompt_template</a:t>
            </a:r>
          </a:p>
        </p:txBody>
      </p:sp>
      <p:sp>
        <p:nvSpPr>
          <p:cNvPr id="60" name="chip-user-config">
            <a:extLst xmlns:a="http://schemas.openxmlformats.org/drawingml/2006/main">
              <a:ext uri="{FF2B5EF4-FFF2-40B4-BE49-F238E27FC236}">
                <a16:creationId xmlns:a16="http://schemas.microsoft.com/office/drawing/2014/main" id="{B13F2F92-9A99-4864-B480-C99BD997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9095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1" name="chip-text-user-config">
            <a:extLst xmlns:a="http://schemas.openxmlformats.org/drawingml/2006/main">
              <a:ext uri="{FF2B5EF4-FFF2-40B4-BE49-F238E27FC236}">
                <a16:creationId xmlns:a16="http://schemas.microsoft.com/office/drawing/2014/main" id="{C900041F-187E-4101-99F7-06E9ACA4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48" y="3790950"/>
            <a:ext cx="883253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user_config</a:t>
            </a:r>
          </a:p>
        </p:txBody>
      </p:sp>
      <p:sp>
        <p:nvSpPr>
          <p:cNvPr id="62" name="chip-dashboard">
            <a:extLst xmlns:a="http://schemas.openxmlformats.org/drawingml/2006/main">
              <a:ext uri="{FF2B5EF4-FFF2-40B4-BE49-F238E27FC236}">
                <a16:creationId xmlns:a16="http://schemas.microsoft.com/office/drawing/2014/main" id="{0CAD05CE-5C62-4970-9D82-A9029556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9095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3" name="chip-text-dashboard">
            <a:extLst xmlns:a="http://schemas.openxmlformats.org/drawingml/2006/main">
              <a:ext uri="{FF2B5EF4-FFF2-40B4-BE49-F238E27FC236}">
                <a16:creationId xmlns:a16="http://schemas.microsoft.com/office/drawing/2014/main" id="{47B37DF0-7026-47B2-858A-6337A5AE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894" y="3790950"/>
            <a:ext cx="72266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dashboard</a:t>
            </a:r>
          </a:p>
        </p:txBody>
      </p:sp>
      <p:sp>
        <p:nvSpPr>
          <p:cNvPr id="64" name="arch-domain-note">
            <a:extLst xmlns:a="http://schemas.openxmlformats.org/drawingml/2006/main">
              <a:ext uri="{FF2B5EF4-FFF2-40B4-BE49-F238E27FC236}">
                <a16:creationId xmlns:a16="http://schemas.microsoft.com/office/drawing/2014/main" id="{6DB6F232-68ED-4E2E-A61F-EC356DEF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6527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这些子域分别负责项目、传统扫描、Agent 审计、策略、知识和结果交付。</a:t>
            </a:r>
          </a:p>
        </p:txBody>
      </p:sp>
      <p:sp>
        <p:nvSpPr>
          <p:cNvPr id="65" name="arch-entity-kicker">
            <a:extLst xmlns:a="http://schemas.openxmlformats.org/drawingml/2006/main">
              <a:ext uri="{FF2B5EF4-FFF2-40B4-BE49-F238E27FC236}">
                <a16:creationId xmlns:a16="http://schemas.microsoft.com/office/drawing/2014/main" id="{575C38A7-52FF-4750-9D1D-D3C6AA5C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5102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核心对象</a:t>
            </a:r>
          </a:p>
        </p:txBody>
      </p:sp>
      <p:sp>
        <p:nvSpPr>
          <p:cNvPr id="66" name="chip-auditproject">
            <a:extLst xmlns:a="http://schemas.openxmlformats.org/drawingml/2006/main">
              <a:ext uri="{FF2B5EF4-FFF2-40B4-BE49-F238E27FC236}">
                <a16:creationId xmlns:a16="http://schemas.microsoft.com/office/drawing/2014/main" id="{9D766955-A39C-4D86-843E-D8FFEE1A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534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7" name="chip-text-auditproject">
            <a:extLst xmlns:a="http://schemas.openxmlformats.org/drawingml/2006/main">
              <a:ext uri="{FF2B5EF4-FFF2-40B4-BE49-F238E27FC236}">
                <a16:creationId xmlns:a16="http://schemas.microsoft.com/office/drawing/2014/main" id="{ACA01F0A-A565-44BE-8EA8-C2E97CDC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600" y="4625340"/>
            <a:ext cx="96354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AuditProject</a:t>
            </a:r>
          </a:p>
        </p:txBody>
      </p:sp>
      <p:sp>
        <p:nvSpPr>
          <p:cNvPr id="68" name="chip-audittask">
            <a:extLst xmlns:a="http://schemas.openxmlformats.org/drawingml/2006/main">
              <a:ext uri="{FF2B5EF4-FFF2-40B4-BE49-F238E27FC236}">
                <a16:creationId xmlns:a16="http://schemas.microsoft.com/office/drawing/2014/main" id="{FD3AB1ED-09F7-4AB2-9644-45699015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2534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9" name="chip-text-audittask">
            <a:extLst xmlns:a="http://schemas.openxmlformats.org/drawingml/2006/main">
              <a:ext uri="{FF2B5EF4-FFF2-40B4-BE49-F238E27FC236}">
                <a16:creationId xmlns:a16="http://schemas.microsoft.com/office/drawing/2014/main" id="{8B143DD1-76CB-4D44-BD57-0E45AEE1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994" y="4625340"/>
            <a:ext cx="72266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AuditTask</a:t>
            </a:r>
          </a:p>
        </p:txBody>
      </p:sp>
      <p:sp>
        <p:nvSpPr>
          <p:cNvPr id="70" name="chip-agenttask">
            <a:extLst xmlns:a="http://schemas.openxmlformats.org/drawingml/2006/main">
              <a:ext uri="{FF2B5EF4-FFF2-40B4-BE49-F238E27FC236}">
                <a16:creationId xmlns:a16="http://schemas.microsoft.com/office/drawing/2014/main" id="{2B19C66A-3097-4E89-827F-86E93FF0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2534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1" name="chip-text-agenttask">
            <a:extLst xmlns:a="http://schemas.openxmlformats.org/drawingml/2006/main">
              <a:ext uri="{FF2B5EF4-FFF2-40B4-BE49-F238E27FC236}">
                <a16:creationId xmlns:a16="http://schemas.microsoft.com/office/drawing/2014/main" id="{07553746-CA7F-4F49-8A6F-7C3D75C5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944" y="4625340"/>
            <a:ext cx="72266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AgentTask</a:t>
            </a:r>
          </a:p>
        </p:txBody>
      </p:sp>
      <p:sp>
        <p:nvSpPr>
          <p:cNvPr id="72" name="chip-agentcheckpoint">
            <a:extLst xmlns:a="http://schemas.openxmlformats.org/drawingml/2006/main">
              <a:ext uri="{FF2B5EF4-FFF2-40B4-BE49-F238E27FC236}">
                <a16:creationId xmlns:a16="http://schemas.microsoft.com/office/drawing/2014/main" id="{68E45238-42AA-4655-B555-3F148753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62534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3" name="chip-text-agentcheckpoint">
            <a:extLst xmlns:a="http://schemas.openxmlformats.org/drawingml/2006/main">
              <a:ext uri="{FF2B5EF4-FFF2-40B4-BE49-F238E27FC236}">
                <a16:creationId xmlns:a16="http://schemas.microsoft.com/office/drawing/2014/main" id="{4F389CAA-1C07-49AF-8702-80E4495F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007" y="4625340"/>
            <a:ext cx="12044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AgentCheckpoint</a:t>
            </a:r>
          </a:p>
        </p:txBody>
      </p:sp>
      <p:sp>
        <p:nvSpPr>
          <p:cNvPr id="74" name="chip-agentevent">
            <a:extLst xmlns:a="http://schemas.openxmlformats.org/drawingml/2006/main">
              <a:ext uri="{FF2B5EF4-FFF2-40B4-BE49-F238E27FC236}">
                <a16:creationId xmlns:a16="http://schemas.microsoft.com/office/drawing/2014/main" id="{CC32D52A-C7EC-40F4-8EAC-051D0D3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6156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5" name="chip-text-agentevent">
            <a:extLst xmlns:a="http://schemas.openxmlformats.org/drawingml/2006/main">
              <a:ext uri="{FF2B5EF4-FFF2-40B4-BE49-F238E27FC236}">
                <a16:creationId xmlns:a16="http://schemas.microsoft.com/office/drawing/2014/main" id="{6BB3DD21-71DD-4624-8F49-FFC59D5F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896" y="4861560"/>
            <a:ext cx="802958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AgentEvent</a:t>
            </a:r>
          </a:p>
        </p:txBody>
      </p:sp>
      <p:sp>
        <p:nvSpPr>
          <p:cNvPr id="76" name="chip-agentfinding">
            <a:extLst xmlns:a="http://schemas.openxmlformats.org/drawingml/2006/main">
              <a:ext uri="{FF2B5EF4-FFF2-40B4-BE49-F238E27FC236}">
                <a16:creationId xmlns:a16="http://schemas.microsoft.com/office/drawing/2014/main" id="{59B532D2-A83A-48F2-8C47-A625729E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6156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7" name="chip-text-agentfinding">
            <a:extLst xmlns:a="http://schemas.openxmlformats.org/drawingml/2006/main">
              <a:ext uri="{FF2B5EF4-FFF2-40B4-BE49-F238E27FC236}">
                <a16:creationId xmlns:a16="http://schemas.microsoft.com/office/drawing/2014/main" id="{86E2F771-05D1-4B57-800D-88F7F2C9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550" y="4861560"/>
            <a:ext cx="96354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AgentFinding</a:t>
            </a:r>
          </a:p>
        </p:txBody>
      </p:sp>
      <p:sp>
        <p:nvSpPr>
          <p:cNvPr id="78" name="chip-auditruleset">
            <a:extLst xmlns:a="http://schemas.openxmlformats.org/drawingml/2006/main">
              <a:ext uri="{FF2B5EF4-FFF2-40B4-BE49-F238E27FC236}">
                <a16:creationId xmlns:a16="http://schemas.microsoft.com/office/drawing/2014/main" id="{0C2ADFE4-9038-4109-8609-78CB8D9F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6156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9" name="chip-text-auditruleset">
            <a:extLst xmlns:a="http://schemas.openxmlformats.org/drawingml/2006/main">
              <a:ext uri="{FF2B5EF4-FFF2-40B4-BE49-F238E27FC236}">
                <a16:creationId xmlns:a16="http://schemas.microsoft.com/office/drawing/2014/main" id="{98D94E96-9EBF-427F-AE12-4AEF88ED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500" y="4861560"/>
            <a:ext cx="96354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AuditRuleSet</a:t>
            </a:r>
          </a:p>
        </p:txBody>
      </p:sp>
      <p:sp>
        <p:nvSpPr>
          <p:cNvPr id="80" name="chip-prompttemplate">
            <a:extLst xmlns:a="http://schemas.openxmlformats.org/drawingml/2006/main">
              <a:ext uri="{FF2B5EF4-FFF2-40B4-BE49-F238E27FC236}">
                <a16:creationId xmlns:a16="http://schemas.microsoft.com/office/drawing/2014/main" id="{DFB970F0-EA27-45A4-B5BE-9A336F35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861560"/>
            <a:ext cx="14287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1" name="chip-text-prompttemplate">
            <a:extLst xmlns:a="http://schemas.openxmlformats.org/drawingml/2006/main">
              <a:ext uri="{FF2B5EF4-FFF2-40B4-BE49-F238E27FC236}">
                <a16:creationId xmlns:a16="http://schemas.microsoft.com/office/drawing/2014/main" id="{D4B7CB2C-E710-48D8-B139-DC1ADA11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155" y="4861560"/>
            <a:ext cx="1124141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PromptTemplate</a:t>
            </a:r>
          </a:p>
        </p:txBody>
      </p:sp>
      <p:sp>
        <p:nvSpPr>
          <p:cNvPr id="82" name="arch-note">
            <a:extLst xmlns:a="http://schemas.openxmlformats.org/drawingml/2006/main">
              <a:ext uri="{FF2B5EF4-FFF2-40B4-BE49-F238E27FC236}">
                <a16:creationId xmlns:a16="http://schemas.microsoft.com/office/drawing/2014/main" id="{9C1F500A-5B20-40E8-8F01-459ED7AC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3030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入口 `/deepaudit-app/` 对接 Focus 主平台 token；SSE `/stream` 与 WebSocket `/ws/` 都依赖 ASGI + Redis + Nginx 的同一条链路。</a:t>
            </a:r>
          </a:p>
        </p:txBody>
      </p:sp>
    </p:spTree>
    <p:extLst>
      <p:ext uri="{BB962C8B-B14F-4D97-AF65-F5344CB8AC3E}">
        <p14:creationId xmlns:p14="http://schemas.microsoft.com/office/powerpoint/2010/main" val="493536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多智能体编排架构">
            <a:extLst xmlns:a="http://schemas.openxmlformats.org/drawingml/2006/main">
              <a:ext uri="{FF2B5EF4-FFF2-40B4-BE49-F238E27FC236}">
                <a16:creationId xmlns:a16="http://schemas.microsoft.com/office/drawing/2014/main" id="{80202240-386E-41F8-8975-EC945053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94611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MULTI-AGENT</a:t>
            </a:r>
          </a:p>
        </p:txBody>
      </p:sp>
      <p:sp>
        <p:nvSpPr>
          <p:cNvPr id="2" name="header-title-多智能体编排架构">
            <a:extLst xmlns:a="http://schemas.openxmlformats.org/drawingml/2006/main">
              <a:ext uri="{FF2B5EF4-FFF2-40B4-BE49-F238E27FC236}">
                <a16:creationId xmlns:a16="http://schemas.microsoft.com/office/drawing/2014/main" id="{AB2E9D53-4D10-4160-A498-50EEDF10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多智能体编排架构</a:t>
            </a:r>
          </a:p>
        </p:txBody>
      </p:sp>
      <p:sp>
        <p:nvSpPr>
          <p:cNvPr id="3" name="header-subtitle-多智能体编排架构">
            <a:extLst xmlns:a="http://schemas.openxmlformats.org/drawingml/2006/main">
              <a:ext uri="{FF2B5EF4-FFF2-40B4-BE49-F238E27FC236}">
                <a16:creationId xmlns:a16="http://schemas.microsoft.com/office/drawing/2014/main" id="{8753FBD8-717D-4FB2-A8A2-AF30D4DF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基于 LLM 的 ReAct 循环，实现动态策略适应与子领域专业化。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F860FD6D-4384-42FD-A0CF-2D3DBF92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B5A17-E5EE-4719-90E9-1B151AA7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核心大脑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BA06B-2E8B-421B-AA00-6EB2E215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4570"/>
            <a:ext cx="3560445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Orchestrator 编排器</a:t>
            </a:r>
          </a:p>
        </p:txBody>
      </p:sp>
      <p:sp>
        <p:nvSpPr>
          <p:cNvPr id="7" name="bullet-dot-自主决策">
            <a:extLst xmlns:a="http://schemas.openxmlformats.org/drawingml/2006/main">
              <a:ext uri="{FF2B5EF4-FFF2-40B4-BE49-F238E27FC236}">
                <a16:creationId xmlns:a16="http://schemas.microsoft.com/office/drawing/2014/main" id="{6811941A-A218-443D-89DB-6D712F66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32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bullet-title-自主决策">
            <a:extLst xmlns:a="http://schemas.openxmlformats.org/drawingml/2006/main">
              <a:ext uri="{FF2B5EF4-FFF2-40B4-BE49-F238E27FC236}">
                <a16:creationId xmlns:a16="http://schemas.microsoft.com/office/drawing/2014/main" id="{E5FD028F-EADF-4A74-BCB3-7A5F82BD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321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自主决策</a:t>
            </a:r>
          </a:p>
        </p:txBody>
      </p:sp>
      <p:sp>
        <p:nvSpPr>
          <p:cNvPr id="9" name="bullet-detail-自主决策">
            <a:extLst xmlns:a="http://schemas.openxmlformats.org/drawingml/2006/main">
              <a:ext uri="{FF2B5EF4-FFF2-40B4-BE49-F238E27FC236}">
                <a16:creationId xmlns:a16="http://schemas.microsoft.com/office/drawing/2014/main" id="{F9DDD92A-3EBB-4D67-B350-40DE9232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5620"/>
            <a:ext cx="314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LLM 作为系统大脑，不再是固定的规则流，而是动态调度。</a:t>
            </a:r>
          </a:p>
        </p:txBody>
      </p:sp>
      <p:sp>
        <p:nvSpPr>
          <p:cNvPr id="10" name="bullet-dot-react-循环">
            <a:extLst xmlns:a="http://schemas.openxmlformats.org/drawingml/2006/main">
              <a:ext uri="{FF2B5EF4-FFF2-40B4-BE49-F238E27FC236}">
                <a16:creationId xmlns:a16="http://schemas.microsoft.com/office/drawing/2014/main" id="{0F7CA02E-8987-4A01-A7F7-0E37901C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842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bullet-title-react-循环">
            <a:extLst xmlns:a="http://schemas.openxmlformats.org/drawingml/2006/main">
              <a:ext uri="{FF2B5EF4-FFF2-40B4-BE49-F238E27FC236}">
                <a16:creationId xmlns:a16="http://schemas.microsoft.com/office/drawing/2014/main" id="{664800EA-D1BD-4147-9B51-BA81D89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427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ReAct 循环</a:t>
            </a:r>
          </a:p>
        </p:txBody>
      </p:sp>
      <p:sp>
        <p:nvSpPr>
          <p:cNvPr id="12" name="bullet-detail-react-循环">
            <a:extLst xmlns:a="http://schemas.openxmlformats.org/drawingml/2006/main">
              <a:ext uri="{FF2B5EF4-FFF2-40B4-BE49-F238E27FC236}">
                <a16:creationId xmlns:a16="http://schemas.microsoft.com/office/drawing/2014/main" id="{A95A858C-C5D3-4F88-A6F4-510B270B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668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Thought (思考) → Action (派发/工具) → Observation (观察反馈)。</a:t>
            </a:r>
          </a:p>
        </p:txBody>
      </p:sp>
      <p:sp>
        <p:nvSpPr>
          <p:cNvPr id="13" name="bullet-dot-任务交接">
            <a:extLst xmlns:a="http://schemas.openxmlformats.org/drawingml/2006/main">
              <a:ext uri="{FF2B5EF4-FFF2-40B4-BE49-F238E27FC236}">
                <a16:creationId xmlns:a16="http://schemas.microsoft.com/office/drawing/2014/main" id="{8978C9AC-C873-4762-8309-F8BA7824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38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bullet-title-任务交接">
            <a:extLst xmlns:a="http://schemas.openxmlformats.org/drawingml/2006/main">
              <a:ext uri="{FF2B5EF4-FFF2-40B4-BE49-F238E27FC236}">
                <a16:creationId xmlns:a16="http://schemas.microsoft.com/office/drawing/2014/main" id="{F3290976-91F3-4C7D-9C8A-2F552117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388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任务交接</a:t>
            </a:r>
          </a:p>
        </p:txBody>
      </p:sp>
      <p:sp>
        <p:nvSpPr>
          <p:cNvPr id="15" name="bullet-detail-任务交接">
            <a:extLst xmlns:a="http://schemas.openxmlformats.org/drawingml/2006/main">
              <a:ext uri="{FF2B5EF4-FFF2-40B4-BE49-F238E27FC236}">
                <a16:creationId xmlns:a16="http://schemas.microsoft.com/office/drawing/2014/main" id="{96361210-9990-4569-81F1-718B9044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629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通过 TaskHandoff 协议，在不同 Agent 间传递上下文与高优区域。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5B23A-DFD1-41DF-BE2B-1C31BB92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89030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专业子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CB56F-B021-4E9D-9922-888DF694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4570"/>
            <a:ext cx="221742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领域专家分离</a:t>
            </a:r>
          </a:p>
        </p:txBody>
      </p:sp>
      <p:sp>
        <p:nvSpPr>
          <p:cNvPr id="18" name="bullet-dot-recon-agent-侦察">
            <a:extLst xmlns:a="http://schemas.openxmlformats.org/drawingml/2006/main">
              <a:ext uri="{FF2B5EF4-FFF2-40B4-BE49-F238E27FC236}">
                <a16:creationId xmlns:a16="http://schemas.microsoft.com/office/drawing/2014/main" id="{87DB7409-4A79-486C-A910-1331AF20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232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bullet-title-recon-agent-侦察">
            <a:extLst xmlns:a="http://schemas.openxmlformats.org/drawingml/2006/main">
              <a:ext uri="{FF2B5EF4-FFF2-40B4-BE49-F238E27FC236}">
                <a16:creationId xmlns:a16="http://schemas.microsoft.com/office/drawing/2014/main" id="{293BDD4F-4B49-472E-A365-CC535027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2321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Recon Agent (侦察)</a:t>
            </a:r>
          </a:p>
        </p:txBody>
      </p:sp>
      <p:sp>
        <p:nvSpPr>
          <p:cNvPr id="20" name="bullet-detail-recon-agent-侦察">
            <a:extLst xmlns:a="http://schemas.openxmlformats.org/drawingml/2006/main">
              <a:ext uri="{FF2B5EF4-FFF2-40B4-BE49-F238E27FC236}">
                <a16:creationId xmlns:a16="http://schemas.microsoft.com/office/drawing/2014/main" id="{47C7DA7D-B395-49BB-9BAA-E952540A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562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收集项目结构、识别技术栈和定位高危入口点。</a:t>
            </a:r>
          </a:p>
        </p:txBody>
      </p:sp>
      <p:sp>
        <p:nvSpPr>
          <p:cNvPr id="21" name="bullet-dot-analysis-agent-分析">
            <a:extLst xmlns:a="http://schemas.openxmlformats.org/drawingml/2006/main">
              <a:ext uri="{FF2B5EF4-FFF2-40B4-BE49-F238E27FC236}">
                <a16:creationId xmlns:a16="http://schemas.microsoft.com/office/drawing/2014/main" id="{ACD93A52-8103-43F4-A1A3-0E06C33F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413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bullet-title-analysis-agent-分析">
            <a:extLst xmlns:a="http://schemas.openxmlformats.org/drawingml/2006/main">
              <a:ext uri="{FF2B5EF4-FFF2-40B4-BE49-F238E27FC236}">
                <a16:creationId xmlns:a16="http://schemas.microsoft.com/office/drawing/2014/main" id="{BC438801-E6B0-4BB3-ABDA-716C63DF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4137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Analysis Agent (分析)</a:t>
            </a:r>
          </a:p>
        </p:txBody>
      </p:sp>
      <p:sp>
        <p:nvSpPr>
          <p:cNvPr id="23" name="bullet-detail-analysis-agent-分析">
            <a:extLst xmlns:a="http://schemas.openxmlformats.org/drawingml/2006/main">
              <a:ext uri="{FF2B5EF4-FFF2-40B4-BE49-F238E27FC236}">
                <a16:creationId xmlns:a16="http://schemas.microsoft.com/office/drawing/2014/main" id="{90E3980A-9545-4B44-8B4B-2BBB3E70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378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挂载 SmartScan、Semgrep 等工具，进行深度漏洞挖掘。</a:t>
            </a:r>
          </a:p>
        </p:txBody>
      </p:sp>
      <p:sp>
        <p:nvSpPr>
          <p:cNvPr id="24" name="bullet-dot-verification-agent-验证">
            <a:extLst xmlns:a="http://schemas.openxmlformats.org/drawingml/2006/main">
              <a:ext uri="{FF2B5EF4-FFF2-40B4-BE49-F238E27FC236}">
                <a16:creationId xmlns:a16="http://schemas.microsoft.com/office/drawing/2014/main" id="{9526F971-1748-443F-A8BC-D1E0BC2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09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bullet-title-verification-agent-验证">
            <a:extLst xmlns:a="http://schemas.openxmlformats.org/drawingml/2006/main">
              <a:ext uri="{FF2B5EF4-FFF2-40B4-BE49-F238E27FC236}">
                <a16:creationId xmlns:a16="http://schemas.microsoft.com/office/drawing/2014/main" id="{049952C2-C093-4003-9017-F53A4080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098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Verification Agent (验证)</a:t>
            </a:r>
          </a:p>
        </p:txBody>
      </p:sp>
      <p:sp>
        <p:nvSpPr>
          <p:cNvPr id="26" name="bullet-detail-verification-agent-验证">
            <a:extLst xmlns:a="http://schemas.openxmlformats.org/drawingml/2006/main">
              <a:ext uri="{FF2B5EF4-FFF2-40B4-BE49-F238E27FC236}">
                <a16:creationId xmlns:a16="http://schemas.microsoft.com/office/drawing/2014/main" id="{72BE1948-6E38-4538-A24B-470B5BFA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339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负责减少误报，生成 PoC 并在隔离沙箱中验证可利用性。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A4EBF3-7C50-4CB6-83C8-97E5790D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68094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动态任务流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56CFF-996E-4744-9AA3-6D927E01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74570"/>
            <a:ext cx="3714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EC094B-FFF6-49CA-AFE9-EAEA1974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6970"/>
            <a:ext cx="1237869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A0A9BA"/>
                </a:solidFill>
                <a:latin typeface="Menlo"/>
                <a:ea typeface="Menlo"/>
                <a:cs typeface="Menlo"/>
              </a:rPr>
              <a:t>LLM Output 示例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86189D-F99A-4EAD-9EB2-6905C74E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93670"/>
            <a:ext cx="377113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Thought: 这是一个 Django 项目，我应该先派发 Recon。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BBA1D5-9A71-45CD-BD5C-A37A177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0370"/>
            <a:ext cx="1892236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Action: dispatch_agent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E61A1C-5B7B-4CAE-B3FB-C5D0DE34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27070"/>
            <a:ext cx="2153888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Action Input: {"agent": "recon"}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4B528-B33D-4F34-BC88-6C3DDB3E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36670"/>
            <a:ext cx="2857500" cy="582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通过熔断器(Circuit Breaker)和重试机制保证协作的健壮性。</a:t>
            </a:r>
          </a:p>
        </p:txBody>
      </p:sp>
    </p:spTree>
    <p:extLst>
      <p:ext uri="{BB962C8B-B14F-4D97-AF65-F5344CB8AC3E}">
        <p14:creationId xmlns:p14="http://schemas.microsoft.com/office/powerpoint/2010/main" val="1593886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实现方法与关键技术">
            <a:extLst xmlns:a="http://schemas.openxmlformats.org/drawingml/2006/main">
              <a:ext uri="{FF2B5EF4-FFF2-40B4-BE49-F238E27FC236}">
                <a16:creationId xmlns:a16="http://schemas.microsoft.com/office/drawing/2014/main" id="{D6224F36-CA43-46F6-8F9E-0EFF365D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204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IMPLEMENTATION</a:t>
            </a:r>
          </a:p>
        </p:txBody>
      </p:sp>
      <p:sp>
        <p:nvSpPr>
          <p:cNvPr id="2" name="header-title-实现方法与关键技术">
            <a:extLst xmlns:a="http://schemas.openxmlformats.org/drawingml/2006/main">
              <a:ext uri="{FF2B5EF4-FFF2-40B4-BE49-F238E27FC236}">
                <a16:creationId xmlns:a16="http://schemas.microsoft.com/office/drawing/2014/main" id="{C69DE276-5669-4253-96D7-F902BA8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实现方法与关键技术</a:t>
            </a:r>
          </a:p>
        </p:txBody>
      </p:sp>
      <p:sp>
        <p:nvSpPr>
          <p:cNvPr id="3" name="header-subtitle-实现方法与关键技术">
            <a:extLst xmlns:a="http://schemas.openxmlformats.org/drawingml/2006/main">
              <a:ext uri="{FF2B5EF4-FFF2-40B4-BE49-F238E27FC236}">
                <a16:creationId xmlns:a16="http://schemas.microsoft.com/office/drawing/2014/main" id="{F5E1CB99-C951-4B8B-BA3E-AAC42306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先工具、再推理；先收敛、再验证；先回传、再报告。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CA8FD493-E06E-41C6-A352-58DE8433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impl-exec-kicker">
            <a:extLst xmlns:a="http://schemas.openxmlformats.org/drawingml/2006/main">
              <a:ext uri="{FF2B5EF4-FFF2-40B4-BE49-F238E27FC236}">
                <a16:creationId xmlns:a16="http://schemas.microsoft.com/office/drawing/2014/main" id="{45554835-C9CC-438F-A6CF-9F68C81F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40852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执行链</a:t>
            </a:r>
          </a:p>
        </p:txBody>
      </p:sp>
      <p:sp>
        <p:nvSpPr>
          <p:cNvPr id="6" name="impl-exec-title">
            <a:extLst xmlns:a="http://schemas.openxmlformats.org/drawingml/2006/main">
              <a:ext uri="{FF2B5EF4-FFF2-40B4-BE49-F238E27FC236}">
                <a16:creationId xmlns:a16="http://schemas.microsoft.com/office/drawing/2014/main" id="{12A983CB-4C63-4C6D-BE66-26A34AB0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4570"/>
            <a:ext cx="295656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任务入口与运行时</a:t>
            </a:r>
          </a:p>
        </p:txBody>
      </p:sp>
      <p:sp>
        <p:nvSpPr>
          <p:cNvPr id="7" name="bullet-dot-任务入口分域">
            <a:extLst xmlns:a="http://schemas.openxmlformats.org/drawingml/2006/main">
              <a:ext uri="{FF2B5EF4-FFF2-40B4-BE49-F238E27FC236}">
                <a16:creationId xmlns:a16="http://schemas.microsoft.com/office/drawing/2014/main" id="{34BFA58D-0061-4AAF-BF96-CFBF5226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32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bullet-title-任务入口分域">
            <a:extLst xmlns:a="http://schemas.openxmlformats.org/drawingml/2006/main">
              <a:ext uri="{FF2B5EF4-FFF2-40B4-BE49-F238E27FC236}">
                <a16:creationId xmlns:a16="http://schemas.microsoft.com/office/drawing/2014/main" id="{EF308FC8-8A6D-465F-8625-3D0F91C8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3210"/>
            <a:ext cx="2952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任务入口分域</a:t>
            </a:r>
          </a:p>
        </p:txBody>
      </p:sp>
      <p:sp>
        <p:nvSpPr>
          <p:cNvPr id="9" name="bullet-detail-任务入口分域">
            <a:extLst xmlns:a="http://schemas.openxmlformats.org/drawingml/2006/main">
              <a:ext uri="{FF2B5EF4-FFF2-40B4-BE49-F238E27FC236}">
                <a16:creationId xmlns:a16="http://schemas.microsoft.com/office/drawing/2014/main" id="{0BF77138-B7F0-4A29-86AE-62ABA0FD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562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project_services、scan_task_services、agent_task_services 分别处理项目、传统扫描和 Agent 审计。</a:t>
            </a:r>
          </a:p>
        </p:txBody>
      </p:sp>
      <p:sp>
        <p:nvSpPr>
          <p:cNvPr id="10" name="bullet-dot-工作区准备">
            <a:extLst xmlns:a="http://schemas.openxmlformats.org/drawingml/2006/main">
              <a:ext uri="{FF2B5EF4-FFF2-40B4-BE49-F238E27FC236}">
                <a16:creationId xmlns:a16="http://schemas.microsoft.com/office/drawing/2014/main" id="{AD2B8284-D2C9-41C5-A5B6-CF9BA523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842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bullet-title-工作区准备">
            <a:extLst xmlns:a="http://schemas.openxmlformats.org/drawingml/2006/main">
              <a:ext uri="{FF2B5EF4-FFF2-40B4-BE49-F238E27FC236}">
                <a16:creationId xmlns:a16="http://schemas.microsoft.com/office/drawing/2014/main" id="{62C5BADB-D5F8-460F-A70B-D945F5AD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4270"/>
            <a:ext cx="2952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工作区准备</a:t>
            </a:r>
          </a:p>
        </p:txBody>
      </p:sp>
      <p:sp>
        <p:nvSpPr>
          <p:cNvPr id="12" name="bullet-detail-工作区准备">
            <a:extLst xmlns:a="http://schemas.openxmlformats.org/drawingml/2006/main">
              <a:ext uri="{FF2B5EF4-FFF2-40B4-BE49-F238E27FC236}">
                <a16:creationId xmlns:a16="http://schemas.microsoft.com/office/drawing/2014/main" id="{55D1D22C-071F-4BC8-AB6A-B64AEE50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668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runtime.py + storage.py 负责 workspace、git worktree、ZIP、SSH 和目录清理。</a:t>
            </a:r>
          </a:p>
        </p:txBody>
      </p:sp>
      <p:sp>
        <p:nvSpPr>
          <p:cNvPr id="13" name="bullet-dot-结果输出">
            <a:extLst xmlns:a="http://schemas.openxmlformats.org/drawingml/2006/main">
              <a:ext uri="{FF2B5EF4-FFF2-40B4-BE49-F238E27FC236}">
                <a16:creationId xmlns:a16="http://schemas.microsoft.com/office/drawing/2014/main" id="{47ECF9DE-4442-406F-A054-428BB641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53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bullet-title-结果输出">
            <a:extLst xmlns:a="http://schemas.openxmlformats.org/drawingml/2006/main">
              <a:ext uri="{FF2B5EF4-FFF2-40B4-BE49-F238E27FC236}">
                <a16:creationId xmlns:a16="http://schemas.microsoft.com/office/drawing/2014/main" id="{6C9B56B2-BF32-4550-81DF-F044B950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5330"/>
            <a:ext cx="2952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结果输出</a:t>
            </a:r>
          </a:p>
        </p:txBody>
      </p:sp>
      <p:sp>
        <p:nvSpPr>
          <p:cNvPr id="15" name="bullet-detail-结果输出">
            <a:extLst xmlns:a="http://schemas.openxmlformats.org/drawingml/2006/main">
              <a:ext uri="{FF2B5EF4-FFF2-40B4-BE49-F238E27FC236}">
                <a16:creationId xmlns:a16="http://schemas.microsoft.com/office/drawing/2014/main" id="{DE2381B8-1B10-4739-8462-39B79219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7740"/>
            <a:ext cx="295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reporting.py 生成 PDF / JSON，AgentCheckpoint 支持恢复和重跑。</a:t>
            </a:r>
          </a:p>
        </p:txBody>
      </p:sp>
      <p:sp>
        <p:nvSpPr>
          <p:cNvPr id="16" name="impl-orch-kicker">
            <a:extLst xmlns:a="http://schemas.openxmlformats.org/drawingml/2006/main">
              <a:ext uri="{FF2B5EF4-FFF2-40B4-BE49-F238E27FC236}">
                <a16:creationId xmlns:a16="http://schemas.microsoft.com/office/drawing/2014/main" id="{DC210709-F7F0-4E3D-A4F3-7B76F544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8171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遥测与健壮性</a:t>
            </a:r>
          </a:p>
        </p:txBody>
      </p:sp>
      <p:sp>
        <p:nvSpPr>
          <p:cNvPr id="17" name="impl-orch-title">
            <a:extLst xmlns:a="http://schemas.openxmlformats.org/drawingml/2006/main">
              <a:ext uri="{FF2B5EF4-FFF2-40B4-BE49-F238E27FC236}">
                <a16:creationId xmlns:a16="http://schemas.microsoft.com/office/drawing/2014/main" id="{A3DEC4D1-98C8-440C-A183-868B09D6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74570"/>
            <a:ext cx="295656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分布式追踪与熔断</a:t>
            </a:r>
          </a:p>
        </p:txBody>
      </p:sp>
      <p:sp>
        <p:nvSpPr>
          <p:cNvPr id="18" name="bullet-dot-event-manager">
            <a:extLst xmlns:a="http://schemas.openxmlformats.org/drawingml/2006/main">
              <a:ext uri="{FF2B5EF4-FFF2-40B4-BE49-F238E27FC236}">
                <a16:creationId xmlns:a16="http://schemas.microsoft.com/office/drawing/2014/main" id="{5BABC1AC-EE59-41BF-9F71-9F289B50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232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bullet-title-event-manager">
            <a:extLst xmlns:a="http://schemas.openxmlformats.org/drawingml/2006/main">
              <a:ext uri="{FF2B5EF4-FFF2-40B4-BE49-F238E27FC236}">
                <a16:creationId xmlns:a16="http://schemas.microsoft.com/office/drawing/2014/main" id="{92CA76FD-9F0C-4A77-A703-D5B9FE5C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23210"/>
            <a:ext cx="3238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Event Manager</a:t>
            </a:r>
          </a:p>
        </p:txBody>
      </p:sp>
      <p:sp>
        <p:nvSpPr>
          <p:cNvPr id="20" name="bullet-detail-event-manager">
            <a:extLst xmlns:a="http://schemas.openxmlformats.org/drawingml/2006/main">
              <a:ext uri="{FF2B5EF4-FFF2-40B4-BE49-F238E27FC236}">
                <a16:creationId xmlns:a16="http://schemas.microsoft.com/office/drawing/2014/main" id="{8E1AD776-F90E-48D4-99EC-B9F5582E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55620"/>
            <a:ext cx="323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内存队列 + SSE 异步迭代，实现高并发下的低延迟事件分发。</a:t>
            </a:r>
          </a:p>
        </p:txBody>
      </p:sp>
      <p:sp>
        <p:nvSpPr>
          <p:cNvPr id="21" name="impl-orch-panel">
            <a:extLst xmlns:a="http://schemas.openxmlformats.org/drawingml/2006/main">
              <a:ext uri="{FF2B5EF4-FFF2-40B4-BE49-F238E27FC236}">
                <a16:creationId xmlns:a16="http://schemas.microsoft.com/office/drawing/2014/main" id="{660B5DF5-4351-4CAD-A0E6-22CC9045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1282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impl-orch-tree-title">
            <a:extLst xmlns:a="http://schemas.openxmlformats.org/drawingml/2006/main">
              <a:ext uri="{FF2B5EF4-FFF2-40B4-BE49-F238E27FC236}">
                <a16:creationId xmlns:a16="http://schemas.microsoft.com/office/drawing/2014/main" id="{13BC62A9-23B1-4997-8216-58004465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12820"/>
            <a:ext cx="2118931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Circuit Breaker (熔断器)</a:t>
            </a:r>
          </a:p>
        </p:txBody>
      </p:sp>
      <p:sp>
        <p:nvSpPr>
          <p:cNvPr id="23" name="impl-orch-tree-body">
            <a:extLst xmlns:a="http://schemas.openxmlformats.org/drawingml/2006/main">
              <a:ext uri="{FF2B5EF4-FFF2-40B4-BE49-F238E27FC236}">
                <a16:creationId xmlns:a16="http://schemas.microsoft.com/office/drawing/2014/main" id="{DEDFD295-AC1F-4E52-AF2E-9255861A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273005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CLOSED → OPEN → HALF_OPEN → CLOSED</a:t>
            </a:r>
          </a:p>
        </p:txBody>
      </p:sp>
      <p:sp>
        <p:nvSpPr>
          <p:cNvPr id="24" name="impl-orch-tree-note">
            <a:extLst xmlns:a="http://schemas.openxmlformats.org/drawingml/2006/main">
              <a:ext uri="{FF2B5EF4-FFF2-40B4-BE49-F238E27FC236}">
                <a16:creationId xmlns:a16="http://schemas.microsoft.com/office/drawing/2014/main" id="{F3BA36F0-A5B8-41D7-A606-E8B9FC73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8120"/>
            <a:ext cx="3114008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失败阈值 5 次，恢复超时 30s，防止级联故障。</a:t>
            </a:r>
          </a:p>
        </p:txBody>
      </p:sp>
      <p:sp>
        <p:nvSpPr>
          <p:cNvPr id="25" name="bullet-dot-分布式追踪-tracer">
            <a:extLst xmlns:a="http://schemas.openxmlformats.org/drawingml/2006/main">
              <a:ext uri="{FF2B5EF4-FFF2-40B4-BE49-F238E27FC236}">
                <a16:creationId xmlns:a16="http://schemas.microsoft.com/office/drawing/2014/main" id="{ADDE5820-7282-41D6-BB29-0D21ED73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653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bullet-title-分布式追踪-tracer">
            <a:extLst xmlns:a="http://schemas.openxmlformats.org/drawingml/2006/main">
              <a:ext uri="{FF2B5EF4-FFF2-40B4-BE49-F238E27FC236}">
                <a16:creationId xmlns:a16="http://schemas.microsoft.com/office/drawing/2014/main" id="{D657C54D-A02A-4E0A-8674-2765B647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65320"/>
            <a:ext cx="3238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分布式追踪 (Tracer)</a:t>
            </a:r>
          </a:p>
        </p:txBody>
      </p:sp>
      <p:sp>
        <p:nvSpPr>
          <p:cNvPr id="27" name="bullet-detail-分布式追踪-tracer">
            <a:extLst xmlns:a="http://schemas.openxmlformats.org/drawingml/2006/main">
              <a:ext uri="{FF2B5EF4-FFF2-40B4-BE49-F238E27FC236}">
                <a16:creationId xmlns:a16="http://schemas.microsoft.com/office/drawing/2014/main" id="{7C74C3EA-0600-4F26-BA49-1A0C1D6B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97730"/>
            <a:ext cx="323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记录执行时间、Token使用量和关联ID，构建完整的追踪树。</a:t>
            </a:r>
          </a:p>
        </p:txBody>
      </p:sp>
      <p:sp>
        <p:nvSpPr>
          <p:cNvPr id="28" name="bullet-dot-速率限制-rate-limiter">
            <a:extLst xmlns:a="http://schemas.openxmlformats.org/drawingml/2006/main">
              <a:ext uri="{FF2B5EF4-FFF2-40B4-BE49-F238E27FC236}">
                <a16:creationId xmlns:a16="http://schemas.microsoft.com/office/drawing/2014/main" id="{5229DCB6-C993-4645-BCEF-FCB539A7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549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bullet-title-速率限制-rate-limiter">
            <a:extLst xmlns:a="http://schemas.openxmlformats.org/drawingml/2006/main">
              <a:ext uri="{FF2B5EF4-FFF2-40B4-BE49-F238E27FC236}">
                <a16:creationId xmlns:a16="http://schemas.microsoft.com/office/drawing/2014/main" id="{17250A43-4093-41EC-B7F5-B077B136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54930"/>
            <a:ext cx="3238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速率限制 (Rate Limiter)</a:t>
            </a:r>
          </a:p>
        </p:txBody>
      </p:sp>
      <p:sp>
        <p:nvSpPr>
          <p:cNvPr id="30" name="bullet-detail-速率限制-rate-limiter">
            <a:extLst xmlns:a="http://schemas.openxmlformats.org/drawingml/2006/main">
              <a:ext uri="{FF2B5EF4-FFF2-40B4-BE49-F238E27FC236}">
                <a16:creationId xmlns:a16="http://schemas.microsoft.com/office/drawing/2014/main" id="{1BD160B5-9D27-4C9E-BBA9-88CB8643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7340"/>
            <a:ext cx="323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基于令牌桶算法，平滑控制 LLM 和外部工具的并发请求频率。</a:t>
            </a:r>
          </a:p>
        </p:txBody>
      </p:sp>
      <p:sp>
        <p:nvSpPr>
          <p:cNvPr id="31" name="impl-realtime-kicker">
            <a:extLst xmlns:a="http://schemas.openxmlformats.org/drawingml/2006/main">
              <a:ext uri="{FF2B5EF4-FFF2-40B4-BE49-F238E27FC236}">
                <a16:creationId xmlns:a16="http://schemas.microsoft.com/office/drawing/2014/main" id="{18489032-A2BC-4A50-ADFB-54875535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40852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实时层</a:t>
            </a:r>
          </a:p>
        </p:txBody>
      </p:sp>
      <p:sp>
        <p:nvSpPr>
          <p:cNvPr id="32" name="impl-realtime-title">
            <a:extLst xmlns:a="http://schemas.openxmlformats.org/drawingml/2006/main">
              <a:ext uri="{FF2B5EF4-FFF2-40B4-BE49-F238E27FC236}">
                <a16:creationId xmlns:a16="http://schemas.microsoft.com/office/drawing/2014/main" id="{3B0C92B3-AB76-4FDF-9F40-23DC3AF7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74570"/>
            <a:ext cx="2707576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可观测 + 可恢复</a:t>
            </a:r>
          </a:p>
        </p:txBody>
      </p:sp>
      <p:sp>
        <p:nvSpPr>
          <p:cNvPr id="33" name="bullet-dot-流式事件">
            <a:extLst xmlns:a="http://schemas.openxmlformats.org/drawingml/2006/main">
              <a:ext uri="{FF2B5EF4-FFF2-40B4-BE49-F238E27FC236}">
                <a16:creationId xmlns:a16="http://schemas.microsoft.com/office/drawing/2014/main" id="{42BC065E-AE83-477D-88B9-792B312E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bullet-title-流式事件">
            <a:extLst xmlns:a="http://schemas.openxmlformats.org/drawingml/2006/main">
              <a:ext uri="{FF2B5EF4-FFF2-40B4-BE49-F238E27FC236}">
                <a16:creationId xmlns:a16="http://schemas.microsoft.com/office/drawing/2014/main" id="{C0CB77AD-7D81-479E-B8FF-64330DD5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流式事件</a:t>
            </a:r>
          </a:p>
        </p:txBody>
      </p:sp>
      <p:sp>
        <p:nvSpPr>
          <p:cNvPr id="35" name="bullet-detail-流式事件">
            <a:extLst xmlns:a="http://schemas.openxmlformats.org/drawingml/2006/main">
              <a:ext uri="{FF2B5EF4-FFF2-40B4-BE49-F238E27FC236}">
                <a16:creationId xmlns:a16="http://schemas.microsoft.com/office/drawing/2014/main" id="{6CCF60C7-0571-4939-AC4D-A16831A9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8996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thinking、tool_call、node_start、phase_start、finding、heartbeat、task_end 持续回传。</a:t>
            </a:r>
          </a:p>
        </p:txBody>
      </p:sp>
      <p:sp>
        <p:nvSpPr>
          <p:cNvPr id="36" name="bullet-dot-前端重连">
            <a:extLst xmlns:a="http://schemas.openxmlformats.org/drawingml/2006/main">
              <a:ext uri="{FF2B5EF4-FFF2-40B4-BE49-F238E27FC236}">
                <a16:creationId xmlns:a16="http://schemas.microsoft.com/office/drawing/2014/main" id="{ADD82D29-20E0-4CE6-BB1B-72A89E0F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471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bullet-title-前端重连">
            <a:extLst xmlns:a="http://schemas.openxmlformats.org/drawingml/2006/main">
              <a:ext uri="{FF2B5EF4-FFF2-40B4-BE49-F238E27FC236}">
                <a16:creationId xmlns:a16="http://schemas.microsoft.com/office/drawing/2014/main" id="{0C76CE73-2360-4F78-9C89-8732BDE0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716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前端重连</a:t>
            </a:r>
          </a:p>
        </p:txBody>
      </p:sp>
      <p:sp>
        <p:nvSpPr>
          <p:cNvPr id="38" name="bullet-detail-前端重连">
            <a:extLst xmlns:a="http://schemas.openxmlformats.org/drawingml/2006/main">
              <a:ext uri="{FF2B5EF4-FFF2-40B4-BE49-F238E27FC236}">
                <a16:creationId xmlns:a16="http://schemas.microsoft.com/office/drawing/2014/main" id="{166E4F45-5864-4E49-98AC-7B002991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7957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fetch + ReadableStream + afterSequence 续传，配合 heartbeat 和指数退避重连。</a:t>
            </a:r>
          </a:p>
        </p:txBody>
      </p:sp>
      <p:sp>
        <p:nvSpPr>
          <p:cNvPr id="39" name="bullet-dot-任务恢复">
            <a:extLst xmlns:a="http://schemas.openxmlformats.org/drawingml/2006/main">
              <a:ext uri="{FF2B5EF4-FFF2-40B4-BE49-F238E27FC236}">
                <a16:creationId xmlns:a16="http://schemas.microsoft.com/office/drawing/2014/main" id="{65ED33EF-0D8D-4D10-8FA8-28A69864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367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bullet-title-任务恢复">
            <a:extLst xmlns:a="http://schemas.openxmlformats.org/drawingml/2006/main">
              <a:ext uri="{FF2B5EF4-FFF2-40B4-BE49-F238E27FC236}">
                <a16:creationId xmlns:a16="http://schemas.microsoft.com/office/drawing/2014/main" id="{1B352CC5-664D-4ADE-85B8-F068B85D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3677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任务恢复</a:t>
            </a:r>
          </a:p>
        </p:txBody>
      </p:sp>
      <p:sp>
        <p:nvSpPr>
          <p:cNvPr id="41" name="bullet-detail-任务恢复">
            <a:extLst xmlns:a="http://schemas.openxmlformats.org/drawingml/2006/main">
              <a:ext uri="{FF2B5EF4-FFF2-40B4-BE49-F238E27FC236}">
                <a16:creationId xmlns:a16="http://schemas.microsoft.com/office/drawing/2014/main" id="{7A03C4CC-1183-4E5D-B480-7941D2FD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6918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checkpoint、snapshot、workspace 缓存让长任务中断后仍能恢复。</a:t>
            </a:r>
          </a:p>
        </p:txBody>
      </p:sp>
      <p:sp>
        <p:nvSpPr>
          <p:cNvPr id="42" name="impl-realtime-note">
            <a:extLst xmlns:a="http://schemas.openxmlformats.org/drawingml/2006/main">
              <a:ext uri="{FF2B5EF4-FFF2-40B4-BE49-F238E27FC236}">
                <a16:creationId xmlns:a16="http://schemas.microsoft.com/office/drawing/2014/main" id="{412C63F0-43DB-4312-9C20-76F12E76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32638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SSE 负责主链流式输出，WebSocket 负责任务事件推送，两者共同支撑现场演示。</a:t>
            </a:r>
          </a:p>
        </p:txBody>
      </p:sp>
      <p:sp>
        <p:nvSpPr>
          <p:cNvPr id="43" name="impl-note">
            <a:extLst xmlns:a="http://schemas.openxmlformats.org/drawingml/2006/main">
              <a:ext uri="{FF2B5EF4-FFF2-40B4-BE49-F238E27FC236}">
                <a16:creationId xmlns:a16="http://schemas.microsoft.com/office/drawing/2014/main" id="{6E6D63AB-215F-4F3C-87B9-B32765E8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1690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核心思路是“工具覆盖 + 模型解释 + 检查点恢复 + 事件流回传”，而不是只给一个静态最终结果。</a:t>
            </a:r>
          </a:p>
        </p:txBody>
      </p:sp>
    </p:spTree>
    <p:extLst>
      <p:ext uri="{BB962C8B-B14F-4D97-AF65-F5344CB8AC3E}">
        <p14:creationId xmlns:p14="http://schemas.microsoft.com/office/powerpoint/2010/main" val="281897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安全工具生态与沙箱验证">
            <a:extLst xmlns:a="http://schemas.openxmlformats.org/drawingml/2006/main">
              <a:ext uri="{FF2B5EF4-FFF2-40B4-BE49-F238E27FC236}">
                <a16:creationId xmlns:a16="http://schemas.microsoft.com/office/drawing/2014/main" id="{56C7781C-135F-4427-B754-E7C75A49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290161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TOOLS &amp; SANDBOX</a:t>
            </a:r>
          </a:p>
        </p:txBody>
      </p:sp>
      <p:sp>
        <p:nvSpPr>
          <p:cNvPr id="2" name="header-title-安全工具生态与沙箱验证">
            <a:extLst xmlns:a="http://schemas.openxmlformats.org/drawingml/2006/main">
              <a:ext uri="{FF2B5EF4-FFF2-40B4-BE49-F238E27FC236}">
                <a16:creationId xmlns:a16="http://schemas.microsoft.com/office/drawing/2014/main" id="{C05D6F01-D9CA-45BC-AFF1-5E4D0C0E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安全工具生态与沙箱验证</a:t>
            </a:r>
          </a:p>
        </p:txBody>
      </p:sp>
      <p:sp>
        <p:nvSpPr>
          <p:cNvPr id="3" name="header-subtitle-安全工具生态与沙箱验证">
            <a:extLst xmlns:a="http://schemas.openxmlformats.org/drawingml/2006/main">
              <a:ext uri="{FF2B5EF4-FFF2-40B4-BE49-F238E27FC236}">
                <a16:creationId xmlns:a16="http://schemas.microsoft.com/office/drawing/2014/main" id="{943C4AA0-C08B-4505-ADB2-5F37C9A9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集成 20+ 专业分析工具，结合隔离沙箱完成“发现到验证”的闭环。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04C7DAEC-C854-4385-8547-5BCDB73C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A5D16-FCF5-4038-8148-61711D71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8171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安全工具生态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26649-BFCB-4064-A09B-BEAA07EC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4570"/>
            <a:ext cx="295656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内置与外部工具链</a:t>
            </a:r>
          </a:p>
        </p:txBody>
      </p:sp>
      <p:sp>
        <p:nvSpPr>
          <p:cNvPr id="7" name="bullet-dot-智能分析工具">
            <a:extLst xmlns:a="http://schemas.openxmlformats.org/drawingml/2006/main">
              <a:ext uri="{FF2B5EF4-FFF2-40B4-BE49-F238E27FC236}">
                <a16:creationId xmlns:a16="http://schemas.microsoft.com/office/drawing/2014/main" id="{01FC48C5-C8A9-4E27-B760-E1C250D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32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bullet-title-智能分析工具">
            <a:extLst xmlns:a="http://schemas.openxmlformats.org/drawingml/2006/main">
              <a:ext uri="{FF2B5EF4-FFF2-40B4-BE49-F238E27FC236}">
                <a16:creationId xmlns:a16="http://schemas.microsoft.com/office/drawing/2014/main" id="{F06F7F8E-D0FB-4AFA-A98A-3CF5B610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3210"/>
            <a:ext cx="4095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智能分析工具</a:t>
            </a:r>
          </a:p>
        </p:txBody>
      </p:sp>
      <p:sp>
        <p:nvSpPr>
          <p:cNvPr id="9" name="bullet-detail-智能分析工具">
            <a:extLst xmlns:a="http://schemas.openxmlformats.org/drawingml/2006/main">
              <a:ext uri="{FF2B5EF4-FFF2-40B4-BE49-F238E27FC236}">
                <a16:creationId xmlns:a16="http://schemas.microsoft.com/office/drawing/2014/main" id="{F9119867-4205-4418-9D8A-530DD56B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562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SmartScanTool (推荐首选) / DataFlowAnalysisTool。</a:t>
            </a:r>
          </a:p>
        </p:txBody>
      </p:sp>
      <p:sp>
        <p:nvSpPr>
          <p:cNvPr id="10" name="bullet-dot-外部扫描器">
            <a:extLst xmlns:a="http://schemas.openxmlformats.org/drawingml/2006/main">
              <a:ext uri="{FF2B5EF4-FFF2-40B4-BE49-F238E27FC236}">
                <a16:creationId xmlns:a16="http://schemas.microsoft.com/office/drawing/2014/main" id="{C3BBB5A7-8A73-4E08-ADAA-BF718AA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413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bullet-title-外部扫描器">
            <a:extLst xmlns:a="http://schemas.openxmlformats.org/drawingml/2006/main">
              <a:ext uri="{FF2B5EF4-FFF2-40B4-BE49-F238E27FC236}">
                <a16:creationId xmlns:a16="http://schemas.microsoft.com/office/drawing/2014/main" id="{27D6B805-E1A0-4498-8630-0434BFA7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1370"/>
            <a:ext cx="4095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外部扫描器</a:t>
            </a:r>
          </a:p>
        </p:txBody>
      </p:sp>
      <p:sp>
        <p:nvSpPr>
          <p:cNvPr id="12" name="bullet-detail-外部扫描器">
            <a:extLst xmlns:a="http://schemas.openxmlformats.org/drawingml/2006/main">
              <a:ext uri="{FF2B5EF4-FFF2-40B4-BE49-F238E27FC236}">
                <a16:creationId xmlns:a16="http://schemas.microsoft.com/office/drawing/2014/main" id="{1042C1C4-A9D6-4E08-A316-0610DE5A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378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Semgrep (多语言), Bandit (Python), Gitleaks (密钥检测)。</a:t>
            </a:r>
          </a:p>
        </p:txBody>
      </p:sp>
      <p:sp>
        <p:nvSpPr>
          <p:cNvPr id="13" name="bullet-dot-后备方案">
            <a:extLst xmlns:a="http://schemas.openxmlformats.org/drawingml/2006/main">
              <a:ext uri="{FF2B5EF4-FFF2-40B4-BE49-F238E27FC236}">
                <a16:creationId xmlns:a16="http://schemas.microsoft.com/office/drawing/2014/main" id="{B4E2BE89-25DA-4C76-9E90-5DE684BD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95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bullet-title-后备方案">
            <a:extLst xmlns:a="http://schemas.openxmlformats.org/drawingml/2006/main">
              <a:ext uri="{FF2B5EF4-FFF2-40B4-BE49-F238E27FC236}">
                <a16:creationId xmlns:a16="http://schemas.microsoft.com/office/drawing/2014/main" id="{5E5C2AED-B5FA-448F-9AC8-833D7FD3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9530"/>
            <a:ext cx="4095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后备方案</a:t>
            </a:r>
          </a:p>
        </p:txBody>
      </p:sp>
      <p:sp>
        <p:nvSpPr>
          <p:cNvPr id="15" name="bullet-detail-后备方案">
            <a:extLst xmlns:a="http://schemas.openxmlformats.org/drawingml/2006/main">
              <a:ext uri="{FF2B5EF4-FFF2-40B4-BE49-F238E27FC236}">
                <a16:creationId xmlns:a16="http://schemas.microsoft.com/office/drawing/2014/main" id="{69C2F43E-A7C7-445D-953B-FCEA9757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194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工具超时或失败时(如 120s 限制)，自动降级至 PatternMatchTool。</a:t>
            </a:r>
          </a:p>
        </p:txBody>
      </p:sp>
      <p:sp>
        <p:nvSpPr>
          <p:cNvPr id="16" name="bullet-dot-ast-语义解析">
            <a:extLst xmlns:a="http://schemas.openxmlformats.org/drawingml/2006/main">
              <a:ext uri="{FF2B5EF4-FFF2-40B4-BE49-F238E27FC236}">
                <a16:creationId xmlns:a16="http://schemas.microsoft.com/office/drawing/2014/main" id="{60F79CC5-0196-41E0-B53A-59EAC4E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91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bullet-title-ast-语义解析">
            <a:extLst xmlns:a="http://schemas.openxmlformats.org/drawingml/2006/main">
              <a:ext uri="{FF2B5EF4-FFF2-40B4-BE49-F238E27FC236}">
                <a16:creationId xmlns:a16="http://schemas.microsoft.com/office/drawing/2014/main" id="{4722FAB2-E37B-4D87-ADC2-B7455412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9140"/>
            <a:ext cx="4095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AST 语义解析</a:t>
            </a:r>
          </a:p>
        </p:txBody>
      </p:sp>
      <p:sp>
        <p:nvSpPr>
          <p:cNvPr id="18" name="bullet-detail-ast-语义解析">
            <a:extLst xmlns:a="http://schemas.openxmlformats.org/drawingml/2006/main">
              <a:ext uri="{FF2B5EF4-FFF2-40B4-BE49-F238E27FC236}">
                <a16:creationId xmlns:a16="http://schemas.microsoft.com/office/drawing/2014/main" id="{CC9DE2B4-4290-4468-BCFF-7B221588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Tree-sitter 保留完整的函数/类语义，配合 ChromaDB 构建向量。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99E7F-1429-4132-A6F0-6A12227F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68094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沙箱验证层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74D34-DA3F-4E9E-A4F2-6177C69F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74570"/>
            <a:ext cx="221742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从发现到确认</a:t>
            </a:r>
          </a:p>
        </p:txBody>
      </p:sp>
      <p:sp>
        <p:nvSpPr>
          <p:cNvPr id="21" name="bullet-dot-poc-自动生成">
            <a:extLst xmlns:a="http://schemas.openxmlformats.org/drawingml/2006/main">
              <a:ext uri="{FF2B5EF4-FFF2-40B4-BE49-F238E27FC236}">
                <a16:creationId xmlns:a16="http://schemas.microsoft.com/office/drawing/2014/main" id="{219B48E9-10DF-4E5E-B0AA-D50D5F19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232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bullet-title-poc-自动生成">
            <a:extLst xmlns:a="http://schemas.openxmlformats.org/drawingml/2006/main">
              <a:ext uri="{FF2B5EF4-FFF2-40B4-BE49-F238E27FC236}">
                <a16:creationId xmlns:a16="http://schemas.microsoft.com/office/drawing/2014/main" id="{6E25D733-340F-4063-ACDB-B119AA59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23210"/>
            <a:ext cx="64198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PoC 自动生成</a:t>
            </a:r>
          </a:p>
        </p:txBody>
      </p:sp>
      <p:sp>
        <p:nvSpPr>
          <p:cNvPr id="23" name="bullet-detail-poc-自动生成">
            <a:extLst xmlns:a="http://schemas.openxmlformats.org/drawingml/2006/main">
              <a:ext uri="{FF2B5EF4-FFF2-40B4-BE49-F238E27FC236}">
                <a16:creationId xmlns:a16="http://schemas.microsoft.com/office/drawing/2014/main" id="{E88C448B-D4B4-4BAC-B836-28BED049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55620"/>
            <a:ext cx="6419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LLM 根据漏洞上下文，自动编写概念验证（Exploit/PoC）代码。</a:t>
            </a:r>
          </a:p>
        </p:txBody>
      </p:sp>
      <p:sp>
        <p:nvSpPr>
          <p:cNvPr id="24" name="bullet-dot-docker-隔离执行">
            <a:extLst xmlns:a="http://schemas.openxmlformats.org/drawingml/2006/main">
              <a:ext uri="{FF2B5EF4-FFF2-40B4-BE49-F238E27FC236}">
                <a16:creationId xmlns:a16="http://schemas.microsoft.com/office/drawing/2014/main" id="{B5028F1B-E88A-4CEC-83F6-79A40774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413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bullet-title-docker-隔离执行">
            <a:extLst xmlns:a="http://schemas.openxmlformats.org/drawingml/2006/main">
              <a:ext uri="{FF2B5EF4-FFF2-40B4-BE49-F238E27FC236}">
                <a16:creationId xmlns:a16="http://schemas.microsoft.com/office/drawing/2014/main" id="{4A9D0F4B-32D4-42FC-8245-FEBD8A51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41370"/>
            <a:ext cx="64198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Docker 隔离执行</a:t>
            </a:r>
          </a:p>
        </p:txBody>
      </p:sp>
      <p:sp>
        <p:nvSpPr>
          <p:cNvPr id="26" name="bullet-detail-docker-隔离执行">
            <a:extLst xmlns:a="http://schemas.openxmlformats.org/drawingml/2006/main">
              <a:ext uri="{FF2B5EF4-FFF2-40B4-BE49-F238E27FC236}">
                <a16:creationId xmlns:a16="http://schemas.microsoft.com/office/drawing/2014/main" id="{A53553E1-659D-4493-8534-40E8ED3C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73780"/>
            <a:ext cx="6419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限制网络出站、内存(512MB)、CPU，通过 seccomp 限制系统调用。</a:t>
            </a:r>
          </a:p>
        </p:txBody>
      </p:sp>
      <p:sp>
        <p:nvSpPr>
          <p:cNvPr id="27" name="bullet-dot-置信度打分">
            <a:extLst xmlns:a="http://schemas.openxmlformats.org/drawingml/2006/main">
              <a:ext uri="{FF2B5EF4-FFF2-40B4-BE49-F238E27FC236}">
                <a16:creationId xmlns:a16="http://schemas.microsoft.com/office/drawing/2014/main" id="{FA4CAC00-2872-4A8F-A855-D49992DA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595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bullet-title-置信度打分">
            <a:extLst xmlns:a="http://schemas.openxmlformats.org/drawingml/2006/main">
              <a:ext uri="{FF2B5EF4-FFF2-40B4-BE49-F238E27FC236}">
                <a16:creationId xmlns:a16="http://schemas.microsoft.com/office/drawing/2014/main" id="{498DDFA5-5DBA-44D0-90F9-FB30B29C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59530"/>
            <a:ext cx="64198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置信度打分</a:t>
            </a:r>
          </a:p>
        </p:txBody>
      </p:sp>
      <p:sp>
        <p:nvSpPr>
          <p:cNvPr id="29" name="bullet-detail-置信度打分">
            <a:extLst xmlns:a="http://schemas.openxmlformats.org/drawingml/2006/main">
              <a:ext uri="{FF2B5EF4-FFF2-40B4-BE49-F238E27FC236}">
                <a16:creationId xmlns:a16="http://schemas.microsoft.com/office/drawing/2014/main" id="{D6F6AD96-6F59-49BF-AA2C-6270933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1940"/>
            <a:ext cx="6419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根据沙箱执行的 Observation，动态计算漏洞的可利用性与置信度。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AD1BE-F0AA-4215-8EB4-F97D4CC5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77690"/>
            <a:ext cx="661035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5000"/>
            </a:srgbClr>
          </a:solidFill>
          <a:ln xmlns:a="http://schemas.openxmlformats.org/drawingml/2006/main" w="9525">
            <a:solidFill>
              <a:srgbClr val="FF6A2A">
                <a:alpha val="2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CC648D-1117-4C28-BD4F-52AB0A0F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30090"/>
            <a:ext cx="4992052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验证结果使得安全报告的准确率大幅提升，真正做到“可解释、可验证”。</a:t>
            </a:r>
          </a:p>
        </p:txBody>
      </p:sp>
    </p:spTree>
    <p:extLst>
      <p:ext uri="{BB962C8B-B14F-4D97-AF65-F5344CB8AC3E}">
        <p14:creationId xmlns:p14="http://schemas.microsoft.com/office/powerpoint/2010/main" val="1813339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知识库与模型配置">
            <a:extLst xmlns:a="http://schemas.openxmlformats.org/drawingml/2006/main">
              <a:ext uri="{FF2B5EF4-FFF2-40B4-BE49-F238E27FC236}">
                <a16:creationId xmlns:a16="http://schemas.microsoft.com/office/drawing/2014/main" id="{75315A46-0A49-4AB2-8090-2DC29C2A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290161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RAG &amp; KNOWLEDGE</a:t>
            </a:r>
          </a:p>
        </p:txBody>
      </p:sp>
      <p:sp>
        <p:nvSpPr>
          <p:cNvPr id="2" name="header-title-知识库与模型配置">
            <a:extLst xmlns:a="http://schemas.openxmlformats.org/drawingml/2006/main">
              <a:ext uri="{FF2B5EF4-FFF2-40B4-BE49-F238E27FC236}">
                <a16:creationId xmlns:a16="http://schemas.microsoft.com/office/drawing/2014/main" id="{46E4DD10-F28F-4E0F-84B5-8C7E482F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知识库与模型配置</a:t>
            </a:r>
          </a:p>
        </p:txBody>
      </p:sp>
      <p:sp>
        <p:nvSpPr>
          <p:cNvPr id="3" name="header-subtitle-知识库与模型配置">
            <a:extLst xmlns:a="http://schemas.openxmlformats.org/drawingml/2006/main">
              <a:ext uri="{FF2B5EF4-FFF2-40B4-BE49-F238E27FC236}">
                <a16:creationId xmlns:a16="http://schemas.microsoft.com/office/drawing/2014/main" id="{DFA11042-4D10-43E2-9F57-918332A9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把通用漏洞知识、项目专项知识和用户级模型配置拆开，避免经验散落。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3D62750E-A0D7-4CC4-B4D6-5B7B1AC9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knowledge-layer-kicker">
            <a:extLst xmlns:a="http://schemas.openxmlformats.org/drawingml/2006/main">
              <a:ext uri="{FF2B5EF4-FFF2-40B4-BE49-F238E27FC236}">
                <a16:creationId xmlns:a16="http://schemas.microsoft.com/office/drawing/2014/main" id="{BC7B28C2-5AD8-48EF-9FC4-44478A69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知识分层</a:t>
            </a:r>
          </a:p>
        </p:txBody>
      </p:sp>
      <p:sp>
        <p:nvSpPr>
          <p:cNvPr id="6" name="knowledge-layer-title">
            <a:extLst xmlns:a="http://schemas.openxmlformats.org/drawingml/2006/main">
              <a:ext uri="{FF2B5EF4-FFF2-40B4-BE49-F238E27FC236}">
                <a16:creationId xmlns:a16="http://schemas.microsoft.com/office/drawing/2014/main" id="{DA75A516-6DFD-450D-ADFA-72FA08B4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6470"/>
            <a:ext cx="3446716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共享基线 + 项目专项</a:t>
            </a:r>
          </a:p>
        </p:txBody>
      </p:sp>
      <p:sp>
        <p:nvSpPr>
          <p:cNvPr id="7" name="bullet-dot-共享基线知识">
            <a:extLst xmlns:a="http://schemas.openxmlformats.org/drawingml/2006/main">
              <a:ext uri="{FF2B5EF4-FFF2-40B4-BE49-F238E27FC236}">
                <a16:creationId xmlns:a16="http://schemas.microsoft.com/office/drawing/2014/main" id="{3F882C48-E802-4875-90F5-BF8F95F7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bullet-title-共享基线知识">
            <a:extLst xmlns:a="http://schemas.openxmlformats.org/drawingml/2006/main">
              <a:ext uri="{FF2B5EF4-FFF2-40B4-BE49-F238E27FC236}">
                <a16:creationId xmlns:a16="http://schemas.microsoft.com/office/drawing/2014/main" id="{DD6FE652-745B-44FB-8C87-6217C205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952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共享基线知识</a:t>
            </a:r>
          </a:p>
        </p:txBody>
      </p:sp>
      <p:sp>
        <p:nvSpPr>
          <p:cNvPr id="9" name="bullet-detail-共享基线知识">
            <a:extLst xmlns:a="http://schemas.openxmlformats.org/drawingml/2006/main">
              <a:ext uri="{FF2B5EF4-FFF2-40B4-BE49-F238E27FC236}">
                <a16:creationId xmlns:a16="http://schemas.microsoft.com/office/drawing/2014/main" id="{38E39F79-5D43-41B1-9570-4CFEDB9F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186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vulnerabilities / frameworks 继续维护在内置模块里，适合通用漏洞模式和长期稳定规则。</a:t>
            </a:r>
          </a:p>
        </p:txBody>
      </p:sp>
      <p:sp>
        <p:nvSpPr>
          <p:cNvPr id="10" name="bullet-dot-项目-团队知识">
            <a:extLst xmlns:a="http://schemas.openxmlformats.org/drawingml/2006/main">
              <a:ext uri="{FF2B5EF4-FFF2-40B4-BE49-F238E27FC236}">
                <a16:creationId xmlns:a16="http://schemas.microsoft.com/office/drawing/2014/main" id="{9973B80C-2491-4B4D-9452-BF798DD7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05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bullet-title-项目-团队知识">
            <a:extLst xmlns:a="http://schemas.openxmlformats.org/drawingml/2006/main">
              <a:ext uri="{FF2B5EF4-FFF2-40B4-BE49-F238E27FC236}">
                <a16:creationId xmlns:a16="http://schemas.microsoft.com/office/drawing/2014/main" id="{4DADCCD9-0C38-4F95-BA1E-5BEED4C2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0510"/>
            <a:ext cx="2952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项目 / 团队知识</a:t>
            </a:r>
          </a:p>
        </p:txBody>
      </p:sp>
      <p:sp>
        <p:nvSpPr>
          <p:cNvPr id="12" name="bullet-detail-项目-团队知识">
            <a:extLst xmlns:a="http://schemas.openxmlformats.org/drawingml/2006/main">
              <a:ext uri="{FF2B5EF4-FFF2-40B4-BE49-F238E27FC236}">
                <a16:creationId xmlns:a16="http://schemas.microsoft.com/office/drawing/2014/main" id="{6B839B2F-AD50-421F-84D7-35D17575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292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custom 条目写入 media/deepaudit/knowledge/*.json，适合误报边界、内部规范和项目坑点。</a:t>
            </a:r>
          </a:p>
        </p:txBody>
      </p:sp>
      <p:sp>
        <p:nvSpPr>
          <p:cNvPr id="13" name="bullet-dot-项目-rag">
            <a:extLst xmlns:a="http://schemas.openxmlformats.org/drawingml/2006/main">
              <a:ext uri="{FF2B5EF4-FFF2-40B4-BE49-F238E27FC236}">
                <a16:creationId xmlns:a16="http://schemas.microsoft.com/office/drawing/2014/main" id="{25750B24-8406-4C92-9FFC-D790104A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415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bullet-title-项目-rag">
            <a:extLst xmlns:a="http://schemas.openxmlformats.org/drawingml/2006/main">
              <a:ext uri="{FF2B5EF4-FFF2-40B4-BE49-F238E27FC236}">
                <a16:creationId xmlns:a16="http://schemas.microsoft.com/office/drawing/2014/main" id="{75075ACF-9AB4-4E86-8174-E4FFCD73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1570"/>
            <a:ext cx="2952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项目 RAG</a:t>
            </a:r>
          </a:p>
        </p:txBody>
      </p:sp>
      <p:sp>
        <p:nvSpPr>
          <p:cNvPr id="15" name="bullet-detail-项目-rag">
            <a:extLst xmlns:a="http://schemas.openxmlformats.org/drawingml/2006/main">
              <a:ext uri="{FF2B5EF4-FFF2-40B4-BE49-F238E27FC236}">
                <a16:creationId xmlns:a16="http://schemas.microsoft.com/office/drawing/2014/main" id="{9B2636A7-B365-424B-A713-00A025F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3980"/>
            <a:ext cx="295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项目代码索引面向事实，负责“当前仓库里有什么”。</a:t>
            </a:r>
          </a:p>
        </p:txBody>
      </p:sp>
      <p:sp>
        <p:nvSpPr>
          <p:cNvPr id="16" name="knowledge-schema-kicker">
            <a:extLst xmlns:a="http://schemas.openxmlformats.org/drawingml/2006/main">
              <a:ext uri="{FF2B5EF4-FFF2-40B4-BE49-F238E27FC236}">
                <a16:creationId xmlns:a16="http://schemas.microsoft.com/office/drawing/2014/main" id="{AFB36731-D39A-4063-84AB-627F1138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6215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条目规范</a:t>
            </a:r>
          </a:p>
        </p:txBody>
      </p:sp>
      <p:sp>
        <p:nvSpPr>
          <p:cNvPr id="17" name="knowledge-schema-title">
            <a:extLst xmlns:a="http://schemas.openxmlformats.org/drawingml/2006/main">
              <a:ext uri="{FF2B5EF4-FFF2-40B4-BE49-F238E27FC236}">
                <a16:creationId xmlns:a16="http://schemas.microsoft.com/office/drawing/2014/main" id="{9198614B-9B01-4F8E-8126-B2B0775E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6470"/>
            <a:ext cx="3055334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id 是真正的模块名</a:t>
            </a:r>
          </a:p>
        </p:txBody>
      </p:sp>
      <p:sp>
        <p:nvSpPr>
          <p:cNvPr id="18" name="bullet-dot-命名规则">
            <a:extLst xmlns:a="http://schemas.openxmlformats.org/drawingml/2006/main">
              <a:ext uri="{FF2B5EF4-FFF2-40B4-BE49-F238E27FC236}">
                <a16:creationId xmlns:a16="http://schemas.microsoft.com/office/drawing/2014/main" id="{15CBCF18-C384-4A3D-B030-74844B73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bullet-title-命名规则">
            <a:extLst xmlns:a="http://schemas.openxmlformats.org/drawingml/2006/main">
              <a:ext uri="{FF2B5EF4-FFF2-40B4-BE49-F238E27FC236}">
                <a16:creationId xmlns:a16="http://schemas.microsoft.com/office/drawing/2014/main" id="{95BEB1F0-5716-4243-AB77-525F9B16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3238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命名规则</a:t>
            </a:r>
          </a:p>
        </p:txBody>
      </p:sp>
      <p:sp>
        <p:nvSpPr>
          <p:cNvPr id="20" name="bullet-detail-命名规则">
            <a:extLst xmlns:a="http://schemas.openxmlformats.org/drawingml/2006/main">
              <a:ext uri="{FF2B5EF4-FFF2-40B4-BE49-F238E27FC236}">
                <a16:creationId xmlns:a16="http://schemas.microsoft.com/office/drawing/2014/main" id="{D33B8686-CE66-4E3B-B02C-8DED5F33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51860"/>
            <a:ext cx="323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推荐使用 custom_&lt;name&gt;_&lt;topic&gt;、team_&lt;domain&gt;_&lt;topic&gt;、proj_&lt;project&gt;_&lt;topic&gt;。</a:t>
            </a:r>
          </a:p>
        </p:txBody>
      </p:sp>
      <p:sp>
        <p:nvSpPr>
          <p:cNvPr id="21" name="bullet-dot-字段结构">
            <a:extLst xmlns:a="http://schemas.openxmlformats.org/drawingml/2006/main">
              <a:ext uri="{FF2B5EF4-FFF2-40B4-BE49-F238E27FC236}">
                <a16:creationId xmlns:a16="http://schemas.microsoft.com/office/drawing/2014/main" id="{C29A57B7-A965-4510-ABA4-8F1FA2BE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805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bullet-title-字段结构">
            <a:extLst xmlns:a="http://schemas.openxmlformats.org/drawingml/2006/main">
              <a:ext uri="{FF2B5EF4-FFF2-40B4-BE49-F238E27FC236}">
                <a16:creationId xmlns:a16="http://schemas.microsoft.com/office/drawing/2014/main" id="{380B3D27-7CDD-4EB2-8020-25AF56B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80510"/>
            <a:ext cx="3238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字段结构</a:t>
            </a:r>
          </a:p>
        </p:txBody>
      </p:sp>
      <p:sp>
        <p:nvSpPr>
          <p:cNvPr id="23" name="bullet-detail-字段结构">
            <a:extLst xmlns:a="http://schemas.openxmlformats.org/drawingml/2006/main">
              <a:ext uri="{FF2B5EF4-FFF2-40B4-BE49-F238E27FC236}">
                <a16:creationId xmlns:a16="http://schemas.microsoft.com/office/drawing/2014/main" id="{1301D3E7-EB27-421E-8AC5-F9846774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12920"/>
            <a:ext cx="323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id / title / content / category / tags 为基础字段，必要时再加 severity、cwe_ids、owasp_ids。</a:t>
            </a:r>
          </a:p>
        </p:txBody>
      </p:sp>
      <p:sp>
        <p:nvSpPr>
          <p:cNvPr id="24" name="bullet-dot-内容模板">
            <a:extLst xmlns:a="http://schemas.openxmlformats.org/drawingml/2006/main">
              <a:ext uri="{FF2B5EF4-FFF2-40B4-BE49-F238E27FC236}">
                <a16:creationId xmlns:a16="http://schemas.microsoft.com/office/drawing/2014/main" id="{B34F3BD6-F436-4AA9-B7DF-4D79399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415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bullet-title-内容模板">
            <a:extLst xmlns:a="http://schemas.openxmlformats.org/drawingml/2006/main">
              <a:ext uri="{FF2B5EF4-FFF2-40B4-BE49-F238E27FC236}">
                <a16:creationId xmlns:a16="http://schemas.microsoft.com/office/drawing/2014/main" id="{31A4FD98-4BF9-401C-BE1B-70691417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41570"/>
            <a:ext cx="3238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内容模板</a:t>
            </a:r>
          </a:p>
        </p:txBody>
      </p:sp>
      <p:sp>
        <p:nvSpPr>
          <p:cNvPr id="26" name="bullet-detail-内容模板">
            <a:extLst xmlns:a="http://schemas.openxmlformats.org/drawingml/2006/main">
              <a:ext uri="{FF2B5EF4-FFF2-40B4-BE49-F238E27FC236}">
                <a16:creationId xmlns:a16="http://schemas.microsoft.com/office/drawing/2014/main" id="{C640A429-0DB1-4683-8CC8-AB8BDF9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73980"/>
            <a:ext cx="323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场景 / 风险模式 / 检测信号 / 误报边界 / 修复建议 / 最小示例。</a:t>
            </a:r>
          </a:p>
        </p:txBody>
      </p:sp>
      <p:sp>
        <p:nvSpPr>
          <p:cNvPr id="27" name="knowledge-llm-kicker">
            <a:extLst xmlns:a="http://schemas.openxmlformats.org/drawingml/2006/main">
              <a:ext uri="{FF2B5EF4-FFF2-40B4-BE49-F238E27FC236}">
                <a16:creationId xmlns:a16="http://schemas.microsoft.com/office/drawing/2014/main" id="{AD8A59F5-C2A1-4DC0-AA31-7B9B3E1C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62150"/>
            <a:ext cx="122577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私有模型与运行参数</a:t>
            </a:r>
          </a:p>
        </p:txBody>
      </p:sp>
      <p:sp>
        <p:nvSpPr>
          <p:cNvPr id="28" name="knowledge-llm-title">
            <a:extLst xmlns:a="http://schemas.openxmlformats.org/drawingml/2006/main">
              <a:ext uri="{FF2B5EF4-FFF2-40B4-BE49-F238E27FC236}">
                <a16:creationId xmlns:a16="http://schemas.microsoft.com/office/drawing/2014/main" id="{37BC059F-F20D-4B51-94CB-F19F4C98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36470"/>
            <a:ext cx="4468082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LLM / Embedding / 缓存</a:t>
            </a:r>
          </a:p>
        </p:txBody>
      </p:sp>
      <p:sp>
        <p:nvSpPr>
          <p:cNvPr id="29" name="bullet-dot-内网网关">
            <a:extLst xmlns:a="http://schemas.openxmlformats.org/drawingml/2006/main">
              <a:ext uri="{FF2B5EF4-FFF2-40B4-BE49-F238E27FC236}">
                <a16:creationId xmlns:a16="http://schemas.microsoft.com/office/drawing/2014/main" id="{7272AFD7-1B86-4081-B3D2-D02CF6C3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bullet-title-内网网关">
            <a:extLst xmlns:a="http://schemas.openxmlformats.org/drawingml/2006/main">
              <a:ext uri="{FF2B5EF4-FFF2-40B4-BE49-F238E27FC236}">
                <a16:creationId xmlns:a16="http://schemas.microsoft.com/office/drawing/2014/main" id="{06BC8674-0131-4539-AD54-BDFDA6CC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3905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内网网关</a:t>
            </a:r>
          </a:p>
        </p:txBody>
      </p:sp>
      <p:sp>
        <p:nvSpPr>
          <p:cNvPr id="31" name="bullet-detail-内网网关">
            <a:extLst xmlns:a="http://schemas.openxmlformats.org/drawingml/2006/main">
              <a:ext uri="{FF2B5EF4-FFF2-40B4-BE49-F238E27FC236}">
                <a16:creationId xmlns:a16="http://schemas.microsoft.com/office/drawing/2014/main" id="{76F1A030-7042-429E-8243-EE8BC5A3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51860"/>
            <a:ext cx="390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LLM_BASE_URL 和 EMBEDDING_BASE_URL 都应指向内网地址，避免生产流量出网。</a:t>
            </a:r>
          </a:p>
        </p:txBody>
      </p:sp>
      <p:sp>
        <p:nvSpPr>
          <p:cNvPr id="32" name="bullet-dot-超时控制">
            <a:extLst xmlns:a="http://schemas.openxmlformats.org/drawingml/2006/main">
              <a:ext uri="{FF2B5EF4-FFF2-40B4-BE49-F238E27FC236}">
                <a16:creationId xmlns:a16="http://schemas.microsoft.com/office/drawing/2014/main" id="{0028ED38-3F14-4854-B76E-6CE623EE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090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bullet-title-超时控制">
            <a:extLst xmlns:a="http://schemas.openxmlformats.org/drawingml/2006/main">
              <a:ext uri="{FF2B5EF4-FFF2-40B4-BE49-F238E27FC236}">
                <a16:creationId xmlns:a16="http://schemas.microsoft.com/office/drawing/2014/main" id="{49E2C672-B997-48C5-824D-EDB4A68B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09060"/>
            <a:ext cx="3905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超时控制</a:t>
            </a:r>
          </a:p>
        </p:txBody>
      </p:sp>
      <p:sp>
        <p:nvSpPr>
          <p:cNvPr id="34" name="bullet-detail-超时控制">
            <a:extLst xmlns:a="http://schemas.openxmlformats.org/drawingml/2006/main">
              <a:ext uri="{FF2B5EF4-FFF2-40B4-BE49-F238E27FC236}">
                <a16:creationId xmlns:a16="http://schemas.microsoft.com/office/drawing/2014/main" id="{6E4212B8-0D62-4EBD-BEC3-D9C0B045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41470"/>
            <a:ext cx="390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LLM_FIRST_TOKEN_TIMEOUT 与 LLM_STREAM_TIMEOUT 保障首包和持续流式输出。</a:t>
            </a:r>
          </a:p>
        </p:txBody>
      </p:sp>
      <p:sp>
        <p:nvSpPr>
          <p:cNvPr id="35" name="bullet-dot-离线缓存">
            <a:extLst xmlns:a="http://schemas.openxmlformats.org/drawingml/2006/main">
              <a:ext uri="{FF2B5EF4-FFF2-40B4-BE49-F238E27FC236}">
                <a16:creationId xmlns:a16="http://schemas.microsoft.com/office/drawing/2014/main" id="{548B7A03-B376-44AB-8408-22A10325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986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bullet-title-离线缓存">
            <a:extLst xmlns:a="http://schemas.openxmlformats.org/drawingml/2006/main">
              <a:ext uri="{FF2B5EF4-FFF2-40B4-BE49-F238E27FC236}">
                <a16:creationId xmlns:a16="http://schemas.microsoft.com/office/drawing/2014/main" id="{74C4B4E6-1224-4B45-B2D0-39B6FC48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98670"/>
            <a:ext cx="3905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离线缓存</a:t>
            </a:r>
          </a:p>
        </p:txBody>
      </p:sp>
      <p:sp>
        <p:nvSpPr>
          <p:cNvPr id="37" name="bullet-detail-离线缓存">
            <a:extLst xmlns:a="http://schemas.openxmlformats.org/drawingml/2006/main">
              <a:ext uri="{FF2B5EF4-FFF2-40B4-BE49-F238E27FC236}">
                <a16:creationId xmlns:a16="http://schemas.microsoft.com/office/drawing/2014/main" id="{579E2414-E9F7-4E3E-8C8A-B477A9F9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31080"/>
            <a:ext cx="390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DEEPAUDIT_TIKTOKEN_MODE=local，TIKTOKEN_CACHE_DIR 需被 Django 与 Celery 同时读取。</a:t>
            </a:r>
          </a:p>
        </p:txBody>
      </p:sp>
      <p:sp>
        <p:nvSpPr>
          <p:cNvPr id="38" name="bullet-dot-用户级覆盖">
            <a:extLst xmlns:a="http://schemas.openxmlformats.org/drawingml/2006/main">
              <a:ext uri="{FF2B5EF4-FFF2-40B4-BE49-F238E27FC236}">
                <a16:creationId xmlns:a16="http://schemas.microsoft.com/office/drawing/2014/main" id="{EAA4799D-52ED-4B15-A7CF-8F21BF89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882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bullet-title-用户级覆盖">
            <a:extLst xmlns:a="http://schemas.openxmlformats.org/drawingml/2006/main">
              <a:ext uri="{FF2B5EF4-FFF2-40B4-BE49-F238E27FC236}">
                <a16:creationId xmlns:a16="http://schemas.microsoft.com/office/drawing/2014/main" id="{AD771D18-C550-4CC4-879D-97A22EA9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88280"/>
            <a:ext cx="3905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用户级覆盖</a:t>
            </a:r>
          </a:p>
        </p:txBody>
      </p:sp>
      <p:sp>
        <p:nvSpPr>
          <p:cNvPr id="40" name="bullet-detail-用户级覆盖">
            <a:extLst xmlns:a="http://schemas.openxmlformats.org/drawingml/2006/main">
              <a:ext uri="{FF2B5EF4-FFF2-40B4-BE49-F238E27FC236}">
                <a16:creationId xmlns:a16="http://schemas.microsoft.com/office/drawing/2014/main" id="{95909582-D991-47A6-8010-03373B94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20690"/>
            <a:ext cx="390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deepaudit_user_config 里的 LLM / Embedding 配置可以覆盖系统默认值，密钥入库前加密。</a:t>
            </a:r>
          </a:p>
        </p:txBody>
      </p:sp>
      <p:sp>
        <p:nvSpPr>
          <p:cNvPr id="41" name="knowledge-callout-lite">
            <a:extLst xmlns:a="http://schemas.openxmlformats.org/drawingml/2006/main">
              <a:ext uri="{FF2B5EF4-FFF2-40B4-BE49-F238E27FC236}">
                <a16:creationId xmlns:a16="http://schemas.microsoft.com/office/drawing/2014/main" id="{E1A57A3E-1B97-4168-B1F9-EC6855D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97789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一句话：知识库负责经验，项目 RAG 负责事实，两个一起用才完整。</a:t>
            </a:r>
          </a:p>
        </p:txBody>
      </p:sp>
    </p:spTree>
    <p:extLst>
      <p:ext uri="{BB962C8B-B14F-4D97-AF65-F5344CB8AC3E}">
        <p14:creationId xmlns:p14="http://schemas.microsoft.com/office/powerpoint/2010/main" val="841056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项目演示-推荐现场操作顺序">
            <a:extLst xmlns:a="http://schemas.openxmlformats.org/drawingml/2006/main">
              <a:ext uri="{FF2B5EF4-FFF2-40B4-BE49-F238E27FC236}">
                <a16:creationId xmlns:a16="http://schemas.microsoft.com/office/drawing/2014/main" id="{5B87CE66-D3AE-4367-B540-0F2EF054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774097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LIVE DEMO</a:t>
            </a:r>
          </a:p>
        </p:txBody>
      </p:sp>
      <p:sp>
        <p:nvSpPr>
          <p:cNvPr id="2" name="header-title-项目演示-推荐现场操作顺序">
            <a:extLst xmlns:a="http://schemas.openxmlformats.org/drawingml/2006/main">
              <a:ext uri="{FF2B5EF4-FFF2-40B4-BE49-F238E27FC236}">
                <a16:creationId xmlns:a16="http://schemas.microsoft.com/office/drawing/2014/main" id="{A54A9722-237A-4704-85BF-D7C00E9D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项目演示：推荐现场操作顺序</a:t>
            </a:r>
          </a:p>
        </p:txBody>
      </p:sp>
      <p:sp>
        <p:nvSpPr>
          <p:cNvPr id="3" name="header-subtitle-项目演示-推荐现场操作顺序">
            <a:extLst xmlns:a="http://schemas.openxmlformats.org/drawingml/2006/main">
              <a:ext uri="{FF2B5EF4-FFF2-40B4-BE49-F238E27FC236}">
                <a16:creationId xmlns:a16="http://schemas.microsoft.com/office/drawing/2014/main" id="{F19E93BE-71B7-407B-AB09-E0488F6A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现场演示以 live demo 为主，截图作为兜底；优先展示闭环，而不是逐个点按钮。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B0CABCA6-395A-444B-820C-3F6E0F63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demo-statement">
            <a:extLst xmlns:a="http://schemas.openxmlformats.org/drawingml/2006/main">
              <a:ext uri="{FF2B5EF4-FFF2-40B4-BE49-F238E27FC236}">
                <a16:creationId xmlns:a16="http://schemas.microsoft.com/office/drawing/2014/main" id="{7B656020-89C6-4165-AB49-DA268C12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333375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建议按这个顺序走，领导只需要先看到结果，再看到过程。</a:t>
            </a:r>
          </a:p>
        </p:txBody>
      </p:sp>
      <p:sp>
        <p:nvSpPr>
          <p:cNvPr id="6" name="bullet-dot-1-dashboard">
            <a:extLst xmlns:a="http://schemas.openxmlformats.org/drawingml/2006/main">
              <a:ext uri="{FF2B5EF4-FFF2-40B4-BE49-F238E27FC236}">
                <a16:creationId xmlns:a16="http://schemas.microsoft.com/office/drawing/2014/main" id="{27E1FF1A-E5D6-4477-9407-D05D69F6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41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bullet-title-1-dashboard">
            <a:extLst xmlns:a="http://schemas.openxmlformats.org/drawingml/2006/main">
              <a:ext uri="{FF2B5EF4-FFF2-40B4-BE49-F238E27FC236}">
                <a16:creationId xmlns:a16="http://schemas.microsoft.com/office/drawing/2014/main" id="{549C5F7D-4B81-4C4E-A562-9A90239C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412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1. Dashboard</a:t>
            </a:r>
          </a:p>
        </p:txBody>
      </p:sp>
      <p:sp>
        <p:nvSpPr>
          <p:cNvPr id="8" name="bullet-detail-1-dashboard">
            <a:extLst xmlns:a="http://schemas.openxmlformats.org/drawingml/2006/main">
              <a:ext uri="{FF2B5EF4-FFF2-40B4-BE49-F238E27FC236}">
                <a16:creationId xmlns:a16="http://schemas.microsoft.com/office/drawing/2014/main" id="{D40E4394-6E4F-4246-ACC7-B2A2F5CC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653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先展示总览、最近项目、任务、规则 / 模板统计。</a:t>
            </a:r>
          </a:p>
        </p:txBody>
      </p:sp>
      <p:sp>
        <p:nvSpPr>
          <p:cNvPr id="9" name="bullet-dot-2-项目管理">
            <a:extLst xmlns:a="http://schemas.openxmlformats.org/drawingml/2006/main">
              <a:ext uri="{FF2B5EF4-FFF2-40B4-BE49-F238E27FC236}">
                <a16:creationId xmlns:a16="http://schemas.microsoft.com/office/drawing/2014/main" id="{C6A198D5-8224-4F2C-94DD-3553EC16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13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bullet-title-2-项目管理">
            <a:extLst xmlns:a="http://schemas.openxmlformats.org/drawingml/2006/main">
              <a:ext uri="{FF2B5EF4-FFF2-40B4-BE49-F238E27FC236}">
                <a16:creationId xmlns:a16="http://schemas.microsoft.com/office/drawing/2014/main" id="{89D53277-0969-44AD-A3D3-FEC61429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133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2. 项目管理</a:t>
            </a:r>
          </a:p>
        </p:txBody>
      </p:sp>
      <p:sp>
        <p:nvSpPr>
          <p:cNvPr id="11" name="bullet-detail-2-项目管理">
            <a:extLst xmlns:a="http://schemas.openxmlformats.org/drawingml/2006/main">
              <a:ext uri="{FF2B5EF4-FFF2-40B4-BE49-F238E27FC236}">
                <a16:creationId xmlns:a16="http://schemas.microsoft.com/office/drawing/2014/main" id="{EC712AD4-B5C4-4E53-9209-F2A48082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374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再看仓库 / ZIP、分支、成员、项目详情。</a:t>
            </a:r>
          </a:p>
        </p:txBody>
      </p:sp>
      <p:sp>
        <p:nvSpPr>
          <p:cNvPr id="12" name="bullet-dot-3-agent-审计">
            <a:extLst xmlns:a="http://schemas.openxmlformats.org/drawingml/2006/main">
              <a:ext uri="{FF2B5EF4-FFF2-40B4-BE49-F238E27FC236}">
                <a16:creationId xmlns:a16="http://schemas.microsoft.com/office/drawing/2014/main" id="{553D2CB9-3E62-4045-AEE8-F19D5693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85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bullet-title-3-agent-审计">
            <a:extLst xmlns:a="http://schemas.openxmlformats.org/drawingml/2006/main">
              <a:ext uri="{FF2B5EF4-FFF2-40B4-BE49-F238E27FC236}">
                <a16:creationId xmlns:a16="http://schemas.microsoft.com/office/drawing/2014/main" id="{DFC6BD9D-9A13-4119-9963-6D8F9E78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854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3. Agent 审计</a:t>
            </a:r>
          </a:p>
        </p:txBody>
      </p:sp>
      <p:sp>
        <p:nvSpPr>
          <p:cNvPr id="14" name="bullet-detail-3-agent-审计">
            <a:extLst xmlns:a="http://schemas.openxmlformats.org/drawingml/2006/main">
              <a:ext uri="{FF2B5EF4-FFF2-40B4-BE49-F238E27FC236}">
                <a16:creationId xmlns:a16="http://schemas.microsoft.com/office/drawing/2014/main" id="{4803FAAD-A4D5-45B9-B238-D654297F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重点看实时事件流、任务树、Finding、Checkpoint。</a:t>
            </a:r>
          </a:p>
        </p:txBody>
      </p:sp>
      <p:sp>
        <p:nvSpPr>
          <p:cNvPr id="15" name="bullet-dot-4-报告页">
            <a:extLst xmlns:a="http://schemas.openxmlformats.org/drawingml/2006/main">
              <a:ext uri="{FF2B5EF4-FFF2-40B4-BE49-F238E27FC236}">
                <a16:creationId xmlns:a16="http://schemas.microsoft.com/office/drawing/2014/main" id="{0BB5BB79-44FB-4A3A-BF13-743BF457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bullet-title-4-报告页">
            <a:extLst xmlns:a="http://schemas.openxmlformats.org/drawingml/2006/main">
              <a:ext uri="{FF2B5EF4-FFF2-40B4-BE49-F238E27FC236}">
                <a16:creationId xmlns:a16="http://schemas.microsoft.com/office/drawing/2014/main" id="{F91E7A27-0799-4997-9A3F-4E87E151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4. 报告页</a:t>
            </a:r>
          </a:p>
        </p:txBody>
      </p:sp>
      <p:sp>
        <p:nvSpPr>
          <p:cNvPr id="17" name="bullet-detail-4-报告页">
            <a:extLst xmlns:a="http://schemas.openxmlformats.org/drawingml/2006/main">
              <a:ext uri="{FF2B5EF4-FFF2-40B4-BE49-F238E27FC236}">
                <a16:creationId xmlns:a16="http://schemas.microsoft.com/office/drawing/2014/main" id="{9065ACBD-0252-4176-AB4A-1012EF40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961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最后打开任务报告，展示问题定位和 PDF / JSON 导出。</a:t>
            </a:r>
          </a:p>
        </p:txBody>
      </p:sp>
      <p:sp>
        <p:nvSpPr>
          <p:cNvPr id="18" name="bullet-dot-5-截图兜底">
            <a:extLst xmlns:a="http://schemas.openxmlformats.org/drawingml/2006/main">
              <a:ext uri="{FF2B5EF4-FFF2-40B4-BE49-F238E27FC236}">
                <a16:creationId xmlns:a16="http://schemas.microsoft.com/office/drawing/2014/main" id="{A3D7CD20-F66C-49C2-8F49-FD035E7C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58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bullet-title-5-截图兜底">
            <a:extLst xmlns:a="http://schemas.openxmlformats.org/drawingml/2006/main">
              <a:ext uri="{FF2B5EF4-FFF2-40B4-BE49-F238E27FC236}">
                <a16:creationId xmlns:a16="http://schemas.microsoft.com/office/drawing/2014/main" id="{B0F1AC7E-AE0E-4752-BF97-EBCDDA90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5860"/>
            <a:ext cx="3429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5. 截图兜底</a:t>
            </a:r>
          </a:p>
        </p:txBody>
      </p:sp>
      <p:sp>
        <p:nvSpPr>
          <p:cNvPr id="20" name="bullet-detail-5-截图兜底">
            <a:extLst xmlns:a="http://schemas.openxmlformats.org/drawingml/2006/main">
              <a:ext uri="{FF2B5EF4-FFF2-40B4-BE49-F238E27FC236}">
                <a16:creationId xmlns:a16="http://schemas.microsoft.com/office/drawing/2014/main" id="{0C2E508F-16B1-42B1-AE19-588B9B2A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827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如果实时流不稳，直接切报告页截图，不影响主结论。</a:t>
            </a:r>
          </a:p>
        </p:txBody>
      </p:sp>
      <p:sp>
        <p:nvSpPr>
          <p:cNvPr id="21" name="demo-image-kicker">
            <a:extLst xmlns:a="http://schemas.openxmlformats.org/drawingml/2006/main">
              <a:ext uri="{FF2B5EF4-FFF2-40B4-BE49-F238E27FC236}">
                <a16:creationId xmlns:a16="http://schemas.microsoft.com/office/drawing/2014/main" id="{363F81DB-5C50-477E-801B-9300192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119414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报告页 / 兜底截图</a:t>
            </a:r>
          </a:p>
        </p:txBody>
      </p:sp>
      <p:sp>
        <p:nvSpPr>
          <p:cNvPr id="22" name="demo-image-panel">
            <a:extLst xmlns:a="http://schemas.openxmlformats.org/drawingml/2006/main">
              <a:ext uri="{FF2B5EF4-FFF2-40B4-BE49-F238E27FC236}">
                <a16:creationId xmlns:a16="http://schemas.microsoft.com/office/drawing/2014/main" id="{A2B4CADD-CFF1-4715-9DFB-1EEE8122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742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218"/>
          </a:solidFill>
          <a:ln xmlns:a="http://schemas.openxmlformats.org/drawingml/2006/main" w="9525">
            <a:solidFill>
              <a:srgbClr val="263041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052eccdbf404d"/>
          <a:stretch xmlns:a="http://schemas.openxmlformats.org/drawingml/2006/main"/>
        </p:blipFill>
        <p:spPr>
          <a:xfrm xmlns:a="http://schemas.openxmlformats.org/drawingml/2006/main">
            <a:off x="5267325" y="2172756"/>
            <a:ext cx="5467350" cy="38650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15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阶段成果与下一步">
            <a:extLst xmlns:a="http://schemas.openxmlformats.org/drawingml/2006/main">
              <a:ext uri="{FF2B5EF4-FFF2-40B4-BE49-F238E27FC236}">
                <a16:creationId xmlns:a16="http://schemas.microsoft.com/office/drawing/2014/main" id="{CF2BB652-D3FB-4EC9-938F-1F90A742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774097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MILESTONE</a:t>
            </a:r>
          </a:p>
        </p:txBody>
      </p:sp>
      <p:sp>
        <p:nvSpPr>
          <p:cNvPr id="2" name="header-title-阶段成果与下一步">
            <a:extLst xmlns:a="http://schemas.openxmlformats.org/drawingml/2006/main">
              <a:ext uri="{FF2B5EF4-FFF2-40B4-BE49-F238E27FC236}">
                <a16:creationId xmlns:a16="http://schemas.microsoft.com/office/drawing/2014/main" id="{774F2561-E31F-4070-8BF9-DEDD528C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阶段成果与下一步</a:t>
            </a:r>
          </a:p>
        </p:txBody>
      </p:sp>
      <p:sp>
        <p:nvSpPr>
          <p:cNvPr id="3" name="header-subtitle-阶段成果与下一步">
            <a:extLst xmlns:a="http://schemas.openxmlformats.org/drawingml/2006/main">
              <a:ext uri="{FF2B5EF4-FFF2-40B4-BE49-F238E27FC236}">
                <a16:creationId xmlns:a16="http://schemas.microsoft.com/office/drawing/2014/main" id="{01C67E65-C1B3-4404-A3D2-C8B7ABE0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当前成果已经形成闭环，下一步重点放在知识、规则、监控和真实指标沉淀。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B5D9E0E7-FA3B-405A-9B27-14D18666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results-left-kicker">
            <a:extLst xmlns:a="http://schemas.openxmlformats.org/drawingml/2006/main">
              <a:ext uri="{FF2B5EF4-FFF2-40B4-BE49-F238E27FC236}">
                <a16:creationId xmlns:a16="http://schemas.microsoft.com/office/drawing/2014/main" id="{155FA458-8E07-4C4C-B87A-73A07049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已经跑通</a:t>
            </a:r>
          </a:p>
        </p:txBody>
      </p:sp>
      <p:sp>
        <p:nvSpPr>
          <p:cNvPr id="6" name="results-left-title">
            <a:extLst xmlns:a="http://schemas.openxmlformats.org/drawingml/2006/main">
              <a:ext uri="{FF2B5EF4-FFF2-40B4-BE49-F238E27FC236}">
                <a16:creationId xmlns:a16="http://schemas.microsoft.com/office/drawing/2014/main" id="{05C90CA3-38EC-4C3D-99D8-367559EC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4570"/>
            <a:ext cx="333375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DeepAudit 主线闭环已成立。</a:t>
            </a:r>
          </a:p>
        </p:txBody>
      </p:sp>
      <p:sp>
        <p:nvSpPr>
          <p:cNvPr id="7" name="bullet-dot-项目接入">
            <a:extLst xmlns:a="http://schemas.openxmlformats.org/drawingml/2006/main">
              <a:ext uri="{FF2B5EF4-FFF2-40B4-BE49-F238E27FC236}">
                <a16:creationId xmlns:a16="http://schemas.microsoft.com/office/drawing/2014/main" id="{F5AA1E70-9D15-4E1D-A550-F7DF3BE6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bullet-title-项目接入">
            <a:extLst xmlns:a="http://schemas.openxmlformats.org/drawingml/2006/main">
              <a:ext uri="{FF2B5EF4-FFF2-40B4-BE49-F238E27FC236}">
                <a16:creationId xmlns:a16="http://schemas.microsoft.com/office/drawing/2014/main" id="{FB734A1A-9DB4-4510-ABD7-E43C512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项目接入</a:t>
            </a:r>
          </a:p>
        </p:txBody>
      </p:sp>
      <p:sp>
        <p:nvSpPr>
          <p:cNvPr id="9" name="bullet-detail-项目接入">
            <a:extLst xmlns:a="http://schemas.openxmlformats.org/drawingml/2006/main">
              <a:ext uri="{FF2B5EF4-FFF2-40B4-BE49-F238E27FC236}">
                <a16:creationId xmlns:a16="http://schemas.microsoft.com/office/drawing/2014/main" id="{64BC0DFC-7734-45CD-A67D-BEEBD5D4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996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仓库 / ZIP / 分支 / 成员 / 回收站都已可用。</a:t>
            </a:r>
          </a:p>
        </p:txBody>
      </p:sp>
      <p:sp>
        <p:nvSpPr>
          <p:cNvPr id="10" name="bullet-dot-智能分析">
            <a:extLst xmlns:a="http://schemas.openxmlformats.org/drawingml/2006/main">
              <a:ext uri="{FF2B5EF4-FFF2-40B4-BE49-F238E27FC236}">
                <a16:creationId xmlns:a16="http://schemas.microsoft.com/office/drawing/2014/main" id="{6C378CEF-EE8E-4AAA-BF21-3B815C64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57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bullet-title-智能分析">
            <a:extLst xmlns:a="http://schemas.openxmlformats.org/drawingml/2006/main">
              <a:ext uri="{FF2B5EF4-FFF2-40B4-BE49-F238E27FC236}">
                <a16:creationId xmlns:a16="http://schemas.microsoft.com/office/drawing/2014/main" id="{D89043B3-2353-4FC5-A3C6-E490BF48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571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智能分析</a:t>
            </a:r>
          </a:p>
        </p:txBody>
      </p:sp>
      <p:sp>
        <p:nvSpPr>
          <p:cNvPr id="12" name="bullet-detail-智能分析">
            <a:extLst xmlns:a="http://schemas.openxmlformats.org/drawingml/2006/main">
              <a:ext uri="{FF2B5EF4-FFF2-40B4-BE49-F238E27FC236}">
                <a16:creationId xmlns:a16="http://schemas.microsoft.com/office/drawing/2014/main" id="{D1730A78-3CFC-4759-A396-25D7ECBD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812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多智能体 + 外部工具优先 + RAG 形成稳定分析链。</a:t>
            </a:r>
          </a:p>
        </p:txBody>
      </p:sp>
      <p:sp>
        <p:nvSpPr>
          <p:cNvPr id="13" name="bullet-dot-实时回传">
            <a:extLst xmlns:a="http://schemas.openxmlformats.org/drawingml/2006/main">
              <a:ext uri="{FF2B5EF4-FFF2-40B4-BE49-F238E27FC236}">
                <a16:creationId xmlns:a16="http://schemas.microsoft.com/office/drawing/2014/main" id="{2BB8E72D-4E08-4121-BDFF-F6F4FF4F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53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bullet-title-实时回传">
            <a:extLst xmlns:a="http://schemas.openxmlformats.org/drawingml/2006/main">
              <a:ext uri="{FF2B5EF4-FFF2-40B4-BE49-F238E27FC236}">
                <a16:creationId xmlns:a16="http://schemas.microsoft.com/office/drawing/2014/main" id="{B4C2C3D4-E5F5-4335-BCC7-FAB18E32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532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实时回传</a:t>
            </a:r>
          </a:p>
        </p:txBody>
      </p:sp>
      <p:sp>
        <p:nvSpPr>
          <p:cNvPr id="15" name="bullet-detail-实时回传">
            <a:extLst xmlns:a="http://schemas.openxmlformats.org/drawingml/2006/main">
              <a:ext uri="{FF2B5EF4-FFF2-40B4-BE49-F238E27FC236}">
                <a16:creationId xmlns:a16="http://schemas.microsoft.com/office/drawing/2014/main" id="{7B9093C1-A344-45E9-B553-BF32E170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773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SSE / WebSocket / heartbeat / reconnect 已接通。</a:t>
            </a:r>
          </a:p>
        </p:txBody>
      </p:sp>
      <p:sp>
        <p:nvSpPr>
          <p:cNvPr id="16" name="bullet-dot-报告交付">
            <a:extLst xmlns:a="http://schemas.openxmlformats.org/drawingml/2006/main">
              <a:ext uri="{FF2B5EF4-FFF2-40B4-BE49-F238E27FC236}">
                <a16:creationId xmlns:a16="http://schemas.microsoft.com/office/drawing/2014/main" id="{D355CC57-B0AD-4611-8FDA-67DE1404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49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bullet-title-报告交付">
            <a:extLst xmlns:a="http://schemas.openxmlformats.org/drawingml/2006/main">
              <a:ext uri="{FF2B5EF4-FFF2-40B4-BE49-F238E27FC236}">
                <a16:creationId xmlns:a16="http://schemas.microsoft.com/office/drawing/2014/main" id="{2E5B2D99-A863-4370-92DA-89013326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493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报告交付</a:t>
            </a:r>
          </a:p>
        </p:txBody>
      </p:sp>
      <p:sp>
        <p:nvSpPr>
          <p:cNvPr id="18" name="bullet-detail-报告交付">
            <a:extLst xmlns:a="http://schemas.openxmlformats.org/drawingml/2006/main">
              <a:ext uri="{FF2B5EF4-FFF2-40B4-BE49-F238E27FC236}">
                <a16:creationId xmlns:a16="http://schemas.microsoft.com/office/drawing/2014/main" id="{F7A30D7E-C9CB-486F-A931-1888F28C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34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任务详情、问题定位、PDF / JSON 导出闭环完整。</a:t>
            </a:r>
          </a:p>
        </p:txBody>
      </p:sp>
      <p:sp>
        <p:nvSpPr>
          <p:cNvPr id="19" name="results-right-kicker">
            <a:extLst xmlns:a="http://schemas.openxmlformats.org/drawingml/2006/main">
              <a:ext uri="{FF2B5EF4-FFF2-40B4-BE49-F238E27FC236}">
                <a16:creationId xmlns:a16="http://schemas.microsoft.com/office/drawing/2014/main" id="{8F7647F6-D0F3-4CA2-AAE9-225B0BAD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40852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下一步</a:t>
            </a:r>
          </a:p>
        </p:txBody>
      </p:sp>
      <p:sp>
        <p:nvSpPr>
          <p:cNvPr id="20" name="results-right-title">
            <a:extLst xmlns:a="http://schemas.openxmlformats.org/drawingml/2006/main">
              <a:ext uri="{FF2B5EF4-FFF2-40B4-BE49-F238E27FC236}">
                <a16:creationId xmlns:a16="http://schemas.microsoft.com/office/drawing/2014/main" id="{304E41A1-7DFB-49E6-A88B-E0F50024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4570"/>
            <a:ext cx="333375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把平台化能力沉淀成可持续运营能力。</a:t>
            </a:r>
          </a:p>
        </p:txBody>
      </p:sp>
      <p:sp>
        <p:nvSpPr>
          <p:cNvPr id="21" name="bullet-dot-知识库">
            <a:extLst xmlns:a="http://schemas.openxmlformats.org/drawingml/2006/main">
              <a:ext uri="{FF2B5EF4-FFF2-40B4-BE49-F238E27FC236}">
                <a16:creationId xmlns:a16="http://schemas.microsoft.com/office/drawing/2014/main" id="{CB0F0944-04AF-4BBF-B114-798FF5C0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bullet-title-知识库">
            <a:extLst xmlns:a="http://schemas.openxmlformats.org/drawingml/2006/main">
              <a:ext uri="{FF2B5EF4-FFF2-40B4-BE49-F238E27FC236}">
                <a16:creationId xmlns:a16="http://schemas.microsoft.com/office/drawing/2014/main" id="{89D19565-E2BA-4BA4-A891-EF4107B3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知识库</a:t>
            </a:r>
          </a:p>
        </p:txBody>
      </p:sp>
      <p:sp>
        <p:nvSpPr>
          <p:cNvPr id="23" name="bullet-detail-知识库">
            <a:extLst xmlns:a="http://schemas.openxmlformats.org/drawingml/2006/main">
              <a:ext uri="{FF2B5EF4-FFF2-40B4-BE49-F238E27FC236}">
                <a16:creationId xmlns:a16="http://schemas.microsoft.com/office/drawing/2014/main" id="{0B988B4F-833A-4059-A2BC-63F96526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996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补充真实场景、误报边界和修复建议。</a:t>
            </a:r>
          </a:p>
        </p:txBody>
      </p:sp>
      <p:sp>
        <p:nvSpPr>
          <p:cNvPr id="24" name="bullet-dot-规则覆盖">
            <a:extLst xmlns:a="http://schemas.openxmlformats.org/drawingml/2006/main">
              <a:ext uri="{FF2B5EF4-FFF2-40B4-BE49-F238E27FC236}">
                <a16:creationId xmlns:a16="http://schemas.microsoft.com/office/drawing/2014/main" id="{765BE18B-1616-4A1C-AB9A-C9F74784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57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bullet-title-规则覆盖">
            <a:extLst xmlns:a="http://schemas.openxmlformats.org/drawingml/2006/main">
              <a:ext uri="{FF2B5EF4-FFF2-40B4-BE49-F238E27FC236}">
                <a16:creationId xmlns:a16="http://schemas.microsoft.com/office/drawing/2014/main" id="{C944D944-E303-4770-AFF8-8EBD585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571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规则覆盖</a:t>
            </a:r>
          </a:p>
        </p:txBody>
      </p:sp>
      <p:sp>
        <p:nvSpPr>
          <p:cNvPr id="26" name="bullet-detail-规则覆盖">
            <a:extLst xmlns:a="http://schemas.openxmlformats.org/drawingml/2006/main">
              <a:ext uri="{FF2B5EF4-FFF2-40B4-BE49-F238E27FC236}">
                <a16:creationId xmlns:a16="http://schemas.microsoft.com/office/drawing/2014/main" id="{0B4CE506-C797-40F2-B294-4D4C2EC6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812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扩充语言、框架和项目类型，减少人工补充。</a:t>
            </a:r>
          </a:p>
        </p:txBody>
      </p:sp>
      <p:sp>
        <p:nvSpPr>
          <p:cNvPr id="27" name="bullet-dot-部署与监控">
            <a:extLst xmlns:a="http://schemas.openxmlformats.org/drawingml/2006/main">
              <a:ext uri="{FF2B5EF4-FFF2-40B4-BE49-F238E27FC236}">
                <a16:creationId xmlns:a16="http://schemas.microsoft.com/office/drawing/2014/main" id="{661A9435-CD89-4737-9771-1E92CCB1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938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bullet-title-部署与监控">
            <a:extLst xmlns:a="http://schemas.openxmlformats.org/drawingml/2006/main">
              <a:ext uri="{FF2B5EF4-FFF2-40B4-BE49-F238E27FC236}">
                <a16:creationId xmlns:a16="http://schemas.microsoft.com/office/drawing/2014/main" id="{C1269BAA-BDE9-42B3-ACF0-6F95DF11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9387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部署与监控</a:t>
            </a:r>
          </a:p>
        </p:txBody>
      </p:sp>
      <p:sp>
        <p:nvSpPr>
          <p:cNvPr id="29" name="bullet-detail-部署与监控">
            <a:extLst xmlns:a="http://schemas.openxmlformats.org/drawingml/2006/main">
              <a:ext uri="{FF2B5EF4-FFF2-40B4-BE49-F238E27FC236}">
                <a16:creationId xmlns:a16="http://schemas.microsoft.com/office/drawing/2014/main" id="{B9AFBB08-C805-4C7F-B9A3-D8C25D2D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2628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完善 ASGI / Redis / Nginx / 日志和告警。</a:t>
            </a:r>
          </a:p>
        </p:txBody>
      </p:sp>
      <p:sp>
        <p:nvSpPr>
          <p:cNvPr id="30" name="bullet-dot-真实指标">
            <a:extLst xmlns:a="http://schemas.openxmlformats.org/drawingml/2006/main">
              <a:ext uri="{FF2B5EF4-FFF2-40B4-BE49-F238E27FC236}">
                <a16:creationId xmlns:a16="http://schemas.microsoft.com/office/drawing/2014/main" id="{D0A8D309-5B10-4AB5-8E63-2D1A6047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2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bullet-title-真实指标">
            <a:extLst xmlns:a="http://schemas.openxmlformats.org/drawingml/2006/main">
              <a:ext uri="{FF2B5EF4-FFF2-40B4-BE49-F238E27FC236}">
                <a16:creationId xmlns:a16="http://schemas.microsoft.com/office/drawing/2014/main" id="{AFB82C13-40DA-4667-BB77-EEE0ADEB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203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真实指标</a:t>
            </a:r>
          </a:p>
        </p:txBody>
      </p:sp>
      <p:sp>
        <p:nvSpPr>
          <p:cNvPr id="32" name="bullet-detail-真实指标">
            <a:extLst xmlns:a="http://schemas.openxmlformats.org/drawingml/2006/main">
              <a:ext uri="{FF2B5EF4-FFF2-40B4-BE49-F238E27FC236}">
                <a16:creationId xmlns:a16="http://schemas.microsoft.com/office/drawing/2014/main" id="{9A0A9E2E-BFCC-4CC6-8526-EB5B9439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4444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现场前补真实值，不在 PPT 里硬编数字。</a:t>
            </a:r>
          </a:p>
        </p:txBody>
      </p:sp>
      <p:sp>
        <p:nvSpPr>
          <p:cNvPr id="33" name="results-metrics-kicker">
            <a:extLst xmlns:a="http://schemas.openxmlformats.org/drawingml/2006/main">
              <a:ext uri="{FF2B5EF4-FFF2-40B4-BE49-F238E27FC236}">
                <a16:creationId xmlns:a16="http://schemas.microsoft.com/office/drawing/2014/main" id="{63511F3A-1A07-471F-B3F7-1A9FA2D8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00250"/>
            <a:ext cx="68094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预留指标位</a:t>
            </a:r>
          </a:p>
        </p:txBody>
      </p:sp>
      <p:sp>
        <p:nvSpPr>
          <p:cNvPr id="34" name="metric-value-审计任务数">
            <a:extLst xmlns:a="http://schemas.openxmlformats.org/drawingml/2006/main">
              <a:ext uri="{FF2B5EF4-FFF2-40B4-BE49-F238E27FC236}">
                <a16:creationId xmlns:a16="http://schemas.microsoft.com/office/drawing/2014/main" id="{D93738D3-7E1A-4252-94EB-9514C1A1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93620"/>
            <a:ext cx="229362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—</a:t>
            </a:r>
          </a:p>
        </p:txBody>
      </p:sp>
      <p:sp>
        <p:nvSpPr>
          <p:cNvPr id="35" name="metric-label-审计任务数">
            <a:extLst xmlns:a="http://schemas.openxmlformats.org/drawingml/2006/main">
              <a:ext uri="{FF2B5EF4-FFF2-40B4-BE49-F238E27FC236}">
                <a16:creationId xmlns:a16="http://schemas.microsoft.com/office/drawing/2014/main" id="{2817BB12-F4CC-4781-9125-FA2DDDA0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27020"/>
            <a:ext cx="777811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审计任务数</a:t>
            </a:r>
          </a:p>
        </p:txBody>
      </p:sp>
      <p:sp>
        <p:nvSpPr>
          <p:cNvPr id="36" name="metric-note-审计任务数">
            <a:extLst xmlns:a="http://schemas.openxmlformats.org/drawingml/2006/main">
              <a:ext uri="{FF2B5EF4-FFF2-40B4-BE49-F238E27FC236}">
                <a16:creationId xmlns:a16="http://schemas.microsoft.com/office/drawing/2014/main" id="{883AF266-BC6E-4397-946A-756F2A7F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68980"/>
            <a:ext cx="631984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0A9BA"/>
                </a:solidFill>
                <a:latin typeface="Menlo"/>
                <a:ea typeface="Menlo"/>
                <a:cs typeface="Menlo"/>
              </a:rPr>
              <a:t>待补真实值</a:t>
            </a:r>
          </a:p>
        </p:txBody>
      </p:sp>
      <p:sp>
        <p:nvSpPr>
          <p:cNvPr id="37" name="metric-value-有效发现数">
            <a:extLst xmlns:a="http://schemas.openxmlformats.org/drawingml/2006/main">
              <a:ext uri="{FF2B5EF4-FFF2-40B4-BE49-F238E27FC236}">
                <a16:creationId xmlns:a16="http://schemas.microsoft.com/office/drawing/2014/main" id="{E4446739-DB77-4F2C-86FE-3079B976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93620"/>
            <a:ext cx="229362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—</a:t>
            </a:r>
          </a:p>
        </p:txBody>
      </p:sp>
      <p:sp>
        <p:nvSpPr>
          <p:cNvPr id="38" name="metric-label-有效发现数">
            <a:extLst xmlns:a="http://schemas.openxmlformats.org/drawingml/2006/main">
              <a:ext uri="{FF2B5EF4-FFF2-40B4-BE49-F238E27FC236}">
                <a16:creationId xmlns:a16="http://schemas.microsoft.com/office/drawing/2014/main" id="{3E1E2692-A469-49B8-9EEA-1041BD4A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27020"/>
            <a:ext cx="777811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有效发现数</a:t>
            </a:r>
          </a:p>
        </p:txBody>
      </p:sp>
      <p:sp>
        <p:nvSpPr>
          <p:cNvPr id="39" name="metric-note-有效发现数">
            <a:extLst xmlns:a="http://schemas.openxmlformats.org/drawingml/2006/main">
              <a:ext uri="{FF2B5EF4-FFF2-40B4-BE49-F238E27FC236}">
                <a16:creationId xmlns:a16="http://schemas.microsoft.com/office/drawing/2014/main" id="{0979D293-0125-4F57-AE4B-1AF2A60F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68980"/>
            <a:ext cx="631984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0A9BA"/>
                </a:solidFill>
                <a:latin typeface="Menlo"/>
                <a:ea typeface="Menlo"/>
                <a:cs typeface="Menlo"/>
              </a:rPr>
              <a:t>待补真实值</a:t>
            </a:r>
          </a:p>
        </p:txBody>
      </p:sp>
      <p:sp>
        <p:nvSpPr>
          <p:cNvPr id="40" name="metric-value-报告导出数">
            <a:extLst xmlns:a="http://schemas.openxmlformats.org/drawingml/2006/main">
              <a:ext uri="{FF2B5EF4-FFF2-40B4-BE49-F238E27FC236}">
                <a16:creationId xmlns:a16="http://schemas.microsoft.com/office/drawing/2014/main" id="{669E1F15-E762-40E5-B713-F2AFAD6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31870"/>
            <a:ext cx="229362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—</a:t>
            </a:r>
          </a:p>
        </p:txBody>
      </p:sp>
      <p:sp>
        <p:nvSpPr>
          <p:cNvPr id="41" name="metric-label-报告导出数">
            <a:extLst xmlns:a="http://schemas.openxmlformats.org/drawingml/2006/main">
              <a:ext uri="{FF2B5EF4-FFF2-40B4-BE49-F238E27FC236}">
                <a16:creationId xmlns:a16="http://schemas.microsoft.com/office/drawing/2014/main" id="{4BF34441-587A-42B4-8DF7-66FD2D15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5270"/>
            <a:ext cx="777811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报告导出数</a:t>
            </a:r>
          </a:p>
        </p:txBody>
      </p:sp>
      <p:sp>
        <p:nvSpPr>
          <p:cNvPr id="42" name="metric-note-报告导出数">
            <a:extLst xmlns:a="http://schemas.openxmlformats.org/drawingml/2006/main">
              <a:ext uri="{FF2B5EF4-FFF2-40B4-BE49-F238E27FC236}">
                <a16:creationId xmlns:a16="http://schemas.microsoft.com/office/drawing/2014/main" id="{BD95F569-722A-47B5-A089-7EE635E2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07230"/>
            <a:ext cx="631984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0A9BA"/>
                </a:solidFill>
                <a:latin typeface="Menlo"/>
                <a:ea typeface="Menlo"/>
                <a:cs typeface="Menlo"/>
              </a:rPr>
              <a:t>待补真实值</a:t>
            </a:r>
          </a:p>
        </p:txBody>
      </p:sp>
      <p:sp>
        <p:nvSpPr>
          <p:cNvPr id="43" name="metric-value-知识库条目数">
            <a:extLst xmlns:a="http://schemas.openxmlformats.org/drawingml/2006/main">
              <a:ext uri="{FF2B5EF4-FFF2-40B4-BE49-F238E27FC236}">
                <a16:creationId xmlns:a16="http://schemas.microsoft.com/office/drawing/2014/main" id="{3BD7C1FB-0504-411B-827F-6F70D932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31870"/>
            <a:ext cx="229362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—</a:t>
            </a:r>
          </a:p>
        </p:txBody>
      </p:sp>
      <p:sp>
        <p:nvSpPr>
          <p:cNvPr id="44" name="metric-label-知识库条目数">
            <a:extLst xmlns:a="http://schemas.openxmlformats.org/drawingml/2006/main">
              <a:ext uri="{FF2B5EF4-FFF2-40B4-BE49-F238E27FC236}">
                <a16:creationId xmlns:a16="http://schemas.microsoft.com/office/drawing/2014/main" id="{23613F11-3DED-4001-BA46-9421A09D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65270"/>
            <a:ext cx="93335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知识库条目数</a:t>
            </a:r>
          </a:p>
        </p:txBody>
      </p:sp>
      <p:sp>
        <p:nvSpPr>
          <p:cNvPr id="45" name="metric-note-知识库条目数">
            <a:extLst xmlns:a="http://schemas.openxmlformats.org/drawingml/2006/main">
              <a:ext uri="{FF2B5EF4-FFF2-40B4-BE49-F238E27FC236}">
                <a16:creationId xmlns:a16="http://schemas.microsoft.com/office/drawing/2014/main" id="{EE466CCB-D336-4695-BA23-B188229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24350"/>
            <a:ext cx="631984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0A9B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0A9BA"/>
                </a:solidFill>
                <a:latin typeface="Menlo"/>
                <a:ea typeface="Menlo"/>
                <a:cs typeface="Menlo"/>
              </a:rPr>
              <a:t>待补真实值</a:t>
            </a:r>
          </a:p>
        </p:txBody>
      </p:sp>
      <p:sp>
        <p:nvSpPr>
          <p:cNvPr id="46" name="results-metrics-note">
            <a:extLst xmlns:a="http://schemas.openxmlformats.org/drawingml/2006/main">
              <a:ext uri="{FF2B5EF4-FFF2-40B4-BE49-F238E27FC236}">
                <a16:creationId xmlns:a16="http://schemas.microsoft.com/office/drawing/2014/main" id="{13A8015B-BF87-4C05-A1B2-F85E00B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89170"/>
            <a:ext cx="438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这些位置保留给现场前补充的真实运行数据。</a:t>
            </a:r>
          </a:p>
        </p:txBody>
      </p:sp>
      <p:sp>
        <p:nvSpPr>
          <p:cNvPr id="47" name="results-roadmap-kicker">
            <a:extLst xmlns:a="http://schemas.openxmlformats.org/drawingml/2006/main">
              <a:ext uri="{FF2B5EF4-FFF2-40B4-BE49-F238E27FC236}">
                <a16:creationId xmlns:a16="http://schemas.microsoft.com/office/drawing/2014/main" id="{85BDF0DF-92F0-4F02-BDE7-E068C5A0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93970"/>
            <a:ext cx="95335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推荐的后续路线</a:t>
            </a:r>
          </a:p>
        </p:txBody>
      </p:sp>
      <p:sp>
        <p:nvSpPr>
          <p:cNvPr id="48" name="chip-知识库沉淀">
            <a:extLst xmlns:a="http://schemas.openxmlformats.org/drawingml/2006/main">
              <a:ext uri="{FF2B5EF4-FFF2-40B4-BE49-F238E27FC236}">
                <a16:creationId xmlns:a16="http://schemas.microsoft.com/office/drawing/2014/main" id="{A67DB4BE-AC98-4BB1-9862-5DB6DF5D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87340"/>
            <a:ext cx="19621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9" name="chip-text-知识库沉淀">
            <a:extLst xmlns:a="http://schemas.openxmlformats.org/drawingml/2006/main">
              <a:ext uri="{FF2B5EF4-FFF2-40B4-BE49-F238E27FC236}">
                <a16:creationId xmlns:a16="http://schemas.microsoft.com/office/drawing/2014/main" id="{1BE93062-B438-4230-A0B8-E5332650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704" y="5387340"/>
            <a:ext cx="68094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知识库沉淀</a:t>
            </a:r>
          </a:p>
        </p:txBody>
      </p:sp>
      <p:sp>
        <p:nvSpPr>
          <p:cNvPr id="50" name="chip-规则覆盖">
            <a:extLst xmlns:a="http://schemas.openxmlformats.org/drawingml/2006/main">
              <a:ext uri="{FF2B5EF4-FFF2-40B4-BE49-F238E27FC236}">
                <a16:creationId xmlns:a16="http://schemas.microsoft.com/office/drawing/2014/main" id="{229B0FC5-A52D-4687-BEA5-CA36D3E5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387340"/>
            <a:ext cx="19621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1" name="chip-text-规则覆盖">
            <a:extLst xmlns:a="http://schemas.openxmlformats.org/drawingml/2006/main">
              <a:ext uri="{FF2B5EF4-FFF2-40B4-BE49-F238E27FC236}">
                <a16:creationId xmlns:a16="http://schemas.microsoft.com/office/drawing/2014/main" id="{EDB3ECB7-06F4-46FD-B7E8-C4834E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158" y="538734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规则覆盖</a:t>
            </a:r>
          </a:p>
        </p:txBody>
      </p:sp>
      <p:sp>
        <p:nvSpPr>
          <p:cNvPr id="52" name="chip-部署监控">
            <a:extLst xmlns:a="http://schemas.openxmlformats.org/drawingml/2006/main">
              <a:ext uri="{FF2B5EF4-FFF2-40B4-BE49-F238E27FC236}">
                <a16:creationId xmlns:a16="http://schemas.microsoft.com/office/drawing/2014/main" id="{CEEF167F-55C5-41BA-800C-169920A2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23560"/>
            <a:ext cx="19621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3" name="chip-text-部署监控">
            <a:extLst xmlns:a="http://schemas.openxmlformats.org/drawingml/2006/main">
              <a:ext uri="{FF2B5EF4-FFF2-40B4-BE49-F238E27FC236}">
                <a16:creationId xmlns:a16="http://schemas.microsoft.com/office/drawing/2014/main" id="{6EEAA068-F2AB-4A3D-B725-F5A45FB5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808" y="562356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部署监控</a:t>
            </a:r>
          </a:p>
        </p:txBody>
      </p:sp>
      <p:sp>
        <p:nvSpPr>
          <p:cNvPr id="54" name="chip-指标运营">
            <a:extLst xmlns:a="http://schemas.openxmlformats.org/drawingml/2006/main">
              <a:ext uri="{FF2B5EF4-FFF2-40B4-BE49-F238E27FC236}">
                <a16:creationId xmlns:a16="http://schemas.microsoft.com/office/drawing/2014/main" id="{5296C25C-D292-4F6A-A108-16A91ADC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623560"/>
            <a:ext cx="19621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5" name="chip-text-指标运营">
            <a:extLst xmlns:a="http://schemas.openxmlformats.org/drawingml/2006/main">
              <a:ext uri="{FF2B5EF4-FFF2-40B4-BE49-F238E27FC236}">
                <a16:creationId xmlns:a16="http://schemas.microsoft.com/office/drawing/2014/main" id="{8D3D77F5-87C5-4A17-8643-973C96ED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158" y="562356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指标运营</a:t>
            </a:r>
          </a:p>
        </p:txBody>
      </p:sp>
    </p:spTree>
    <p:extLst>
      <p:ext uri="{BB962C8B-B14F-4D97-AF65-F5344CB8AC3E}">
        <p14:creationId xmlns:p14="http://schemas.microsoft.com/office/powerpoint/2010/main" val="17692235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核心-api-与页面映射">
            <a:extLst xmlns:a="http://schemas.openxmlformats.org/drawingml/2006/main">
              <a:ext uri="{FF2B5EF4-FFF2-40B4-BE49-F238E27FC236}">
                <a16:creationId xmlns:a16="http://schemas.microsoft.com/office/drawing/2014/main" id="{9C76905C-5684-4462-B657-7ACD2F62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688086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APPENDIX</a:t>
            </a:r>
          </a:p>
        </p:txBody>
      </p:sp>
      <p:sp>
        <p:nvSpPr>
          <p:cNvPr id="2" name="header-title-核心-api-与页面映射">
            <a:extLst xmlns:a="http://schemas.openxmlformats.org/drawingml/2006/main">
              <a:ext uri="{FF2B5EF4-FFF2-40B4-BE49-F238E27FC236}">
                <a16:creationId xmlns:a16="http://schemas.microsoft.com/office/drawing/2014/main" id="{407319E9-377A-4DA3-989C-EFF63862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核心 API 与页面映射</a:t>
            </a:r>
          </a:p>
        </p:txBody>
      </p:sp>
      <p:sp>
        <p:nvSpPr>
          <p:cNvPr id="3" name="header-subtitle-核心-api-与页面映射">
            <a:extLst xmlns:a="http://schemas.openxmlformats.org/drawingml/2006/main">
              <a:ext uri="{FF2B5EF4-FFF2-40B4-BE49-F238E27FC236}">
                <a16:creationId xmlns:a16="http://schemas.microsoft.com/office/drawing/2014/main" id="{8E6165DC-5A53-4AFF-A839-3CF4EA6A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这页给领导和现场问答做技术备份：页面怎么进，接口怎么挂。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E84E90A2-83B5-4D4D-BD21-9EF87047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appendix-pages-kicker">
            <a:extLst xmlns:a="http://schemas.openxmlformats.org/drawingml/2006/main">
              <a:ext uri="{FF2B5EF4-FFF2-40B4-BE49-F238E27FC236}">
                <a16:creationId xmlns:a16="http://schemas.microsoft.com/office/drawing/2014/main" id="{28A637E7-F283-4C48-922A-18EAABCD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前端页面</a:t>
            </a:r>
          </a:p>
        </p:txBody>
      </p:sp>
      <p:sp>
        <p:nvSpPr>
          <p:cNvPr id="6" name="appendix-pages-title">
            <a:extLst xmlns:a="http://schemas.openxmlformats.org/drawingml/2006/main">
              <a:ext uri="{FF2B5EF4-FFF2-40B4-BE49-F238E27FC236}">
                <a16:creationId xmlns:a16="http://schemas.microsoft.com/office/drawing/2014/main" id="{C7F9EF84-4C99-4D69-AC8C-052BF2B1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4570"/>
            <a:ext cx="221742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独立路由入口</a:t>
            </a:r>
          </a:p>
        </p:txBody>
      </p:sp>
      <p:sp>
        <p:nvSpPr>
          <p:cNvPr id="7" name="route-path-agent审计">
            <a:extLst xmlns:a="http://schemas.openxmlformats.org/drawingml/2006/main">
              <a:ext uri="{FF2B5EF4-FFF2-40B4-BE49-F238E27FC236}">
                <a16:creationId xmlns:a16="http://schemas.microsoft.com/office/drawing/2014/main" id="{2CB3DFD4-C415-4790-8BF6-3A1872B1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3210"/>
            <a:ext cx="1065847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   Agent审计</a:t>
            </a:r>
          </a:p>
        </p:txBody>
      </p:sp>
      <p:sp>
        <p:nvSpPr>
          <p:cNvPr id="8" name="route-desc-agent审计">
            <a:extLst xmlns:a="http://schemas.openxmlformats.org/drawingml/2006/main">
              <a:ext uri="{FF2B5EF4-FFF2-40B4-BE49-F238E27FC236}">
                <a16:creationId xmlns:a16="http://schemas.microsoft.com/office/drawing/2014/main" id="{5D7DE9F1-0C69-4828-8232-E1764088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2760"/>
            <a:ext cx="2377631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核心工作台，创建并观察 Agent 任务。</a:t>
            </a:r>
          </a:p>
        </p:txBody>
      </p:sp>
      <p:sp>
        <p:nvSpPr>
          <p:cNvPr id="9" name="route-path-dashboard-仪表盘">
            <a:extLst xmlns:a="http://schemas.openxmlformats.org/drawingml/2006/main">
              <a:ext uri="{FF2B5EF4-FFF2-40B4-BE49-F238E27FC236}">
                <a16:creationId xmlns:a16="http://schemas.microsoft.com/office/drawing/2014/main" id="{F5531DC3-B79F-4B17-98CF-58FF87BF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07080"/>
            <a:ext cx="155571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/dashboard   仪表盘</a:t>
            </a:r>
          </a:p>
        </p:txBody>
      </p:sp>
      <p:sp>
        <p:nvSpPr>
          <p:cNvPr id="10" name="route-desc-dashboard-仪表盘">
            <a:extLst xmlns:a="http://schemas.openxmlformats.org/drawingml/2006/main">
              <a:ext uri="{FF2B5EF4-FFF2-40B4-BE49-F238E27FC236}">
                <a16:creationId xmlns:a16="http://schemas.microsoft.com/office/drawing/2014/main" id="{D0F28C75-B4BC-4034-88FE-61676157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6630"/>
            <a:ext cx="190681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总览、最近项目、任务与统计。</a:t>
            </a:r>
          </a:p>
        </p:txBody>
      </p:sp>
      <p:sp>
        <p:nvSpPr>
          <p:cNvPr id="11" name="route-path-projects-项目管理">
            <a:extLst xmlns:a="http://schemas.openxmlformats.org/drawingml/2006/main">
              <a:ext uri="{FF2B5EF4-FFF2-40B4-BE49-F238E27FC236}">
                <a16:creationId xmlns:a16="http://schemas.microsoft.com/office/drawing/2014/main" id="{6393BAC6-D5A1-4853-A410-8A4B8DA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61553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/projects   项目管理</a:t>
            </a:r>
          </a:p>
        </p:txBody>
      </p:sp>
      <p:sp>
        <p:nvSpPr>
          <p:cNvPr id="12" name="route-desc-projects-项目管理">
            <a:extLst xmlns:a="http://schemas.openxmlformats.org/drawingml/2006/main">
              <a:ext uri="{FF2B5EF4-FFF2-40B4-BE49-F238E27FC236}">
                <a16:creationId xmlns:a16="http://schemas.microsoft.com/office/drawing/2014/main" id="{AFCC0897-6FE4-44A1-B0D2-3004BFDB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86880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仓库 / ZIP、成员、项目详情。</a:t>
            </a:r>
          </a:p>
        </p:txBody>
      </p:sp>
      <p:sp>
        <p:nvSpPr>
          <p:cNvPr id="13" name="route-path-instant-analysis-即时分析">
            <a:extLst xmlns:a="http://schemas.openxmlformats.org/drawingml/2006/main">
              <a:ext uri="{FF2B5EF4-FFF2-40B4-BE49-F238E27FC236}">
                <a16:creationId xmlns:a16="http://schemas.microsoft.com/office/drawing/2014/main" id="{43A845A1-7D47-4512-9394-D83E2D72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4820"/>
            <a:ext cx="2303621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/instant-analysis   即时分析</a:t>
            </a:r>
          </a:p>
        </p:txBody>
      </p:sp>
      <p:sp>
        <p:nvSpPr>
          <p:cNvPr id="14" name="route-desc-instant-analysis-即时分析">
            <a:extLst xmlns:a="http://schemas.openxmlformats.org/drawingml/2006/main">
              <a:ext uri="{FF2B5EF4-FFF2-40B4-BE49-F238E27FC236}">
                <a16:creationId xmlns:a16="http://schemas.microsoft.com/office/drawing/2014/main" id="{DC73A135-E223-488D-B401-AC7B51FC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4370"/>
            <a:ext cx="1770602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快速分析，不走完整任务链。</a:t>
            </a:r>
          </a:p>
        </p:txBody>
      </p:sp>
      <p:sp>
        <p:nvSpPr>
          <p:cNvPr id="15" name="route-path-audit-tasks-传统任务">
            <a:extLst xmlns:a="http://schemas.openxmlformats.org/drawingml/2006/main">
              <a:ext uri="{FF2B5EF4-FFF2-40B4-BE49-F238E27FC236}">
                <a16:creationId xmlns:a16="http://schemas.microsoft.com/office/drawing/2014/main" id="{48F7DE37-CE7B-4118-915D-5AC758B3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8710"/>
            <a:ext cx="1873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/audit-tasks   传统任务</a:t>
            </a:r>
          </a:p>
        </p:txBody>
      </p:sp>
      <p:sp>
        <p:nvSpPr>
          <p:cNvPr id="16" name="route-desc-audit-tasks-传统任务">
            <a:extLst xmlns:a="http://schemas.openxmlformats.org/drawingml/2006/main">
              <a:ext uri="{FF2B5EF4-FFF2-40B4-BE49-F238E27FC236}">
                <a16:creationId xmlns:a16="http://schemas.microsoft.com/office/drawing/2014/main" id="{326B0A37-9620-494F-B2FF-9D1FE41C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8260"/>
            <a:ext cx="2026729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仓库扫描、ZIP 扫描、任务详情。</a:t>
            </a:r>
          </a:p>
        </p:txBody>
      </p:sp>
      <p:sp>
        <p:nvSpPr>
          <p:cNvPr id="17" name="route-path-audit-rules-prompts-admin-recycle-bin">
            <a:extLst xmlns:a="http://schemas.openxmlformats.org/drawingml/2006/main">
              <a:ext uri="{FF2B5EF4-FFF2-40B4-BE49-F238E27FC236}">
                <a16:creationId xmlns:a16="http://schemas.microsoft.com/office/drawing/2014/main" id="{A257B89D-A78D-4A3E-974B-1063792D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3784473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/audit-rules / prompts / admin / recycle-bin</a:t>
            </a:r>
          </a:p>
        </p:txBody>
      </p:sp>
      <p:sp>
        <p:nvSpPr>
          <p:cNvPr id="18" name="route-desc-audit-rules-prompts-admin-recycle-bin">
            <a:extLst xmlns:a="http://schemas.openxmlformats.org/drawingml/2006/main">
              <a:ext uri="{FF2B5EF4-FFF2-40B4-BE49-F238E27FC236}">
                <a16:creationId xmlns:a16="http://schemas.microsoft.com/office/drawing/2014/main" id="{0B87E0E6-432B-443F-8055-0E352FC8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225772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策略治理与回收站。</a:t>
            </a:r>
          </a:p>
        </p:txBody>
      </p:sp>
      <p:sp>
        <p:nvSpPr>
          <p:cNvPr id="19" name="appendix-apis-kicker">
            <a:extLst xmlns:a="http://schemas.openxmlformats.org/drawingml/2006/main">
              <a:ext uri="{FF2B5EF4-FFF2-40B4-BE49-F238E27FC236}">
                <a16:creationId xmlns:a16="http://schemas.microsoft.com/office/drawing/2014/main" id="{5A6A3A54-54CF-4784-886D-92D6DEF4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后端接口</a:t>
            </a:r>
          </a:p>
        </p:txBody>
      </p:sp>
      <p:sp>
        <p:nvSpPr>
          <p:cNvPr id="20" name="appendix-apis-title">
            <a:extLst xmlns:a="http://schemas.openxmlformats.org/drawingml/2006/main">
              <a:ext uri="{FF2B5EF4-FFF2-40B4-BE49-F238E27FC236}">
                <a16:creationId xmlns:a16="http://schemas.microsoft.com/office/drawing/2014/main" id="{19FA0E76-B933-4C1E-A819-172DC3F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74570"/>
            <a:ext cx="554355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按业务域拆分，不是单一大接口。</a:t>
            </a:r>
          </a:p>
        </p:txBody>
      </p:sp>
      <p:sp>
        <p:nvSpPr>
          <p:cNvPr id="21" name="api-path-api-deepaudit-projects-members">
            <a:extLst xmlns:a="http://schemas.openxmlformats.org/drawingml/2006/main">
              <a:ext uri="{FF2B5EF4-FFF2-40B4-BE49-F238E27FC236}">
                <a16:creationId xmlns:a16="http://schemas.microsoft.com/office/drawing/2014/main" id="{C4F530CE-C163-4D9F-8405-DDF063A7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23210"/>
            <a:ext cx="283835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/api/deepaudit/projects / members</a:t>
            </a:r>
          </a:p>
        </p:txBody>
      </p:sp>
      <p:sp>
        <p:nvSpPr>
          <p:cNvPr id="22" name="api-desc-api-deepaudit-projects-members">
            <a:extLst xmlns:a="http://schemas.openxmlformats.org/drawingml/2006/main">
              <a:ext uri="{FF2B5EF4-FFF2-40B4-BE49-F238E27FC236}">
                <a16:creationId xmlns:a16="http://schemas.microsoft.com/office/drawing/2014/main" id="{15877B05-6B01-40BE-A775-398A50B6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2760"/>
            <a:ext cx="188861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项目、成员、owner、回收站。</a:t>
            </a:r>
          </a:p>
        </p:txBody>
      </p:sp>
      <p:sp>
        <p:nvSpPr>
          <p:cNvPr id="23" name="api-path-api-deepaudit-scan">
            <a:extLst xmlns:a="http://schemas.openxmlformats.org/drawingml/2006/main">
              <a:ext uri="{FF2B5EF4-FFF2-40B4-BE49-F238E27FC236}">
                <a16:creationId xmlns:a16="http://schemas.microsoft.com/office/drawing/2014/main" id="{931A6532-F346-44D5-8789-D2B6BB11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07080"/>
            <a:ext cx="1806226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/api/deepaudit/scan/*</a:t>
            </a:r>
          </a:p>
        </p:txBody>
      </p:sp>
      <p:sp>
        <p:nvSpPr>
          <p:cNvPr id="24" name="api-desc-api-deepaudit-scan">
            <a:extLst xmlns:a="http://schemas.openxmlformats.org/drawingml/2006/main">
              <a:ext uri="{FF2B5EF4-FFF2-40B4-BE49-F238E27FC236}">
                <a16:creationId xmlns:a16="http://schemas.microsoft.com/office/drawing/2014/main" id="{DC4D9772-6358-4692-8D05-E0B44F4C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16630"/>
            <a:ext cx="2026729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仓库扫描、ZIP 扫描、即时分析。</a:t>
            </a:r>
          </a:p>
        </p:txBody>
      </p:sp>
      <p:sp>
        <p:nvSpPr>
          <p:cNvPr id="25" name="api-path-api-deepaudit-agent-tasks">
            <a:extLst xmlns:a="http://schemas.openxmlformats.org/drawingml/2006/main">
              <a:ext uri="{FF2B5EF4-FFF2-40B4-BE49-F238E27FC236}">
                <a16:creationId xmlns:a16="http://schemas.microsoft.com/office/drawing/2014/main" id="{A99C5197-5FED-4A5E-A908-0766FA7D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50970"/>
            <a:ext cx="2236279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/api/deepaudit/agent-tasks</a:t>
            </a:r>
          </a:p>
        </p:txBody>
      </p:sp>
      <p:sp>
        <p:nvSpPr>
          <p:cNvPr id="26" name="api-desc-api-deepaudit-agent-tasks">
            <a:extLst xmlns:a="http://schemas.openxmlformats.org/drawingml/2006/main">
              <a:ext uri="{FF2B5EF4-FFF2-40B4-BE49-F238E27FC236}">
                <a16:creationId xmlns:a16="http://schemas.microsoft.com/office/drawing/2014/main" id="{33556F99-ADCB-40FC-921A-C5CBDDBA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60520"/>
            <a:ext cx="2714339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Agent 任务、Finding、Checkpoint、摘要。</a:t>
            </a:r>
          </a:p>
        </p:txBody>
      </p:sp>
      <p:sp>
        <p:nvSpPr>
          <p:cNvPr id="27" name="api-path-api-deepaudit-rules-prompts-settings-ssh-keys-rag-data-tools">
            <a:extLst xmlns:a="http://schemas.openxmlformats.org/drawingml/2006/main">
              <a:ext uri="{FF2B5EF4-FFF2-40B4-BE49-F238E27FC236}">
                <a16:creationId xmlns:a16="http://schemas.microsoft.com/office/drawing/2014/main" id="{F2D0A089-8018-45F1-8A03-FB243CC4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94860"/>
            <a:ext cx="6106763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/api/deepaudit/rules / prompts / settings / ssh-keys / rag / data-tools</a:t>
            </a:r>
          </a:p>
        </p:txBody>
      </p:sp>
      <p:sp>
        <p:nvSpPr>
          <p:cNvPr id="28" name="api-desc-api-deepaudit-rules-prompts-settings-ssh-keys-rag-data-tools">
            <a:extLst xmlns:a="http://schemas.openxmlformats.org/drawingml/2006/main">
              <a:ext uri="{FF2B5EF4-FFF2-40B4-BE49-F238E27FC236}">
                <a16:creationId xmlns:a16="http://schemas.microsoft.com/office/drawing/2014/main" id="{0883CA7D-5AAC-4580-ACDB-3A78FE33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4410"/>
            <a:ext cx="272405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规则、提示词、配置、知识检索与数据导出。</a:t>
            </a:r>
          </a:p>
        </p:txBody>
      </p:sp>
      <p:sp>
        <p:nvSpPr>
          <p:cNvPr id="29" name="api-path-api-deepaudit-dashboard-reports">
            <a:extLst xmlns:a="http://schemas.openxmlformats.org/drawingml/2006/main">
              <a:ext uri="{FF2B5EF4-FFF2-40B4-BE49-F238E27FC236}">
                <a16:creationId xmlns:a16="http://schemas.microsoft.com/office/drawing/2014/main" id="{A9CADF0A-3350-4E14-BDA6-8603E87B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78730"/>
            <a:ext cx="3096387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/api/deepaudit/dashboard / reports/*</a:t>
            </a:r>
          </a:p>
        </p:txBody>
      </p:sp>
      <p:sp>
        <p:nvSpPr>
          <p:cNvPr id="30" name="api-desc-api-deepaudit-dashboard-reports">
            <a:extLst xmlns:a="http://schemas.openxmlformats.org/drawingml/2006/main">
              <a:ext uri="{FF2B5EF4-FFF2-40B4-BE49-F238E27FC236}">
                <a16:creationId xmlns:a16="http://schemas.microsoft.com/office/drawing/2014/main" id="{5023F5C9-7CE3-4252-AA03-69A2647F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88280"/>
            <a:ext cx="1974056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看板摘要与 JSON / PDF 导出。</a:t>
            </a:r>
          </a:p>
        </p:txBody>
      </p:sp>
      <p:sp>
        <p:nvSpPr>
          <p:cNvPr id="31" name="appendix-api-stream-note">
            <a:extLst xmlns:a="http://schemas.openxmlformats.org/drawingml/2006/main">
              <a:ext uri="{FF2B5EF4-FFF2-40B4-BE49-F238E27FC236}">
                <a16:creationId xmlns:a16="http://schemas.microsoft.com/office/drawing/2014/main" id="{68DEED32-455A-4584-A65F-A5685558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2262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前端实现：agentStream.ts / useResilientStream.ts / focusAdapter.ts；实时链路：SSE + WebSocket。</a:t>
            </a:r>
          </a:p>
        </p:txBody>
      </p:sp>
    </p:spTree>
    <p:extLst>
      <p:ext uri="{BB962C8B-B14F-4D97-AF65-F5344CB8AC3E}">
        <p14:creationId xmlns:p14="http://schemas.microsoft.com/office/powerpoint/2010/main" val="10489804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kicker-演示兜底与部署">
            <a:extLst xmlns:a="http://schemas.openxmlformats.org/drawingml/2006/main">
              <a:ext uri="{FF2B5EF4-FFF2-40B4-BE49-F238E27FC236}">
                <a16:creationId xmlns:a16="http://schemas.microsoft.com/office/drawing/2014/main" id="{76DA05FC-348F-49DA-ABEE-3ACDA3B4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688086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APPENDIX</a:t>
            </a:r>
          </a:p>
        </p:txBody>
      </p:sp>
      <p:sp>
        <p:nvSpPr>
          <p:cNvPr id="2" name="header-title-演示兜底与部署">
            <a:extLst xmlns:a="http://schemas.openxmlformats.org/drawingml/2006/main">
              <a:ext uri="{FF2B5EF4-FFF2-40B4-BE49-F238E27FC236}">
                <a16:creationId xmlns:a16="http://schemas.microsoft.com/office/drawing/2014/main" id="{1D8C56A5-41EE-4CE0-BBFF-27E97D21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演示兜底与部署</a:t>
            </a:r>
          </a:p>
        </p:txBody>
      </p:sp>
      <p:sp>
        <p:nvSpPr>
          <p:cNvPr id="3" name="header-subtitle-演示兜底与部署">
            <a:extLst xmlns:a="http://schemas.openxmlformats.org/drawingml/2006/main">
              <a:ext uri="{FF2B5EF4-FFF2-40B4-BE49-F238E27FC236}">
                <a16:creationId xmlns:a16="http://schemas.microsoft.com/office/drawing/2014/main" id="{2ACE0013-DF64-4B97-A8CB-8D8F4B7E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1130"/>
            <a:ext cx="111252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现场如果实时流不稳，先保主线，再切截图兜底。</a:t>
            </a:r>
          </a:p>
        </p:txBody>
      </p:sp>
      <p:sp>
        <p:nvSpPr>
          <p:cNvPr id="4" name="heading-underline">
            <a:extLst xmlns:a="http://schemas.openxmlformats.org/drawingml/2006/main">
              <a:ext uri="{FF2B5EF4-FFF2-40B4-BE49-F238E27FC236}">
                <a16:creationId xmlns:a16="http://schemas.microsoft.com/office/drawing/2014/main" id="{43B4F772-D7F8-4CF7-9C73-616B2A75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42000"/>
            </a:srgbClr>
          </a:solidFill>
          <a:ln xmlns:a="http://schemas.openxmlformats.org/drawingml/2006/main" w="0">
            <a:solidFill>
              <a:srgbClr val="FF6A2A">
                <a:alpha val="42000"/>
              </a:srgbClr>
            </a:solidFill>
            <a:prstDash val="solid"/>
          </a:ln>
        </p:spPr>
      </p:sp>
      <p:sp>
        <p:nvSpPr>
          <p:cNvPr id="5" name="ops-left-kicker">
            <a:extLst xmlns:a="http://schemas.openxmlformats.org/drawingml/2006/main">
              <a:ext uri="{FF2B5EF4-FFF2-40B4-BE49-F238E27FC236}">
                <a16:creationId xmlns:a16="http://schemas.microsoft.com/office/drawing/2014/main" id="{449919E7-A854-46A1-82D6-C9A32412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演示兜底</a:t>
            </a:r>
          </a:p>
        </p:txBody>
      </p:sp>
      <p:sp>
        <p:nvSpPr>
          <p:cNvPr id="6" name="ops-left-title">
            <a:extLst xmlns:a="http://schemas.openxmlformats.org/drawingml/2006/main">
              <a:ext uri="{FF2B5EF4-FFF2-40B4-BE49-F238E27FC236}">
                <a16:creationId xmlns:a16="http://schemas.microsoft.com/office/drawing/2014/main" id="{99257F99-B38B-4F4C-979D-B9B6ECE6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4570"/>
            <a:ext cx="333375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先保主线</a:t>
            </a:r>
          </a:p>
        </p:txBody>
      </p:sp>
      <p:sp>
        <p:nvSpPr>
          <p:cNvPr id="7" name="bullet-dot-优先路径">
            <a:extLst xmlns:a="http://schemas.openxmlformats.org/drawingml/2006/main">
              <a:ext uri="{FF2B5EF4-FFF2-40B4-BE49-F238E27FC236}">
                <a16:creationId xmlns:a16="http://schemas.microsoft.com/office/drawing/2014/main" id="{609792F0-2044-4605-BB80-CDD3BF4D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32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bullet-title-优先路径">
            <a:extLst xmlns:a="http://schemas.openxmlformats.org/drawingml/2006/main">
              <a:ext uri="{FF2B5EF4-FFF2-40B4-BE49-F238E27FC236}">
                <a16:creationId xmlns:a16="http://schemas.microsoft.com/office/drawing/2014/main" id="{76E36CDD-8D5C-4BD6-9231-71CFD733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321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优先路径</a:t>
            </a:r>
          </a:p>
        </p:txBody>
      </p:sp>
      <p:sp>
        <p:nvSpPr>
          <p:cNvPr id="9" name="bullet-detail-优先路径">
            <a:extLst xmlns:a="http://schemas.openxmlformats.org/drawingml/2006/main">
              <a:ext uri="{FF2B5EF4-FFF2-40B4-BE49-F238E27FC236}">
                <a16:creationId xmlns:a16="http://schemas.microsoft.com/office/drawing/2014/main" id="{68E3001F-5D8C-4C57-A3B7-0D428BED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562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Dashboard → 项目管理 → Agent 审计 → 报告页。</a:t>
            </a:r>
          </a:p>
        </p:txBody>
      </p:sp>
      <p:sp>
        <p:nvSpPr>
          <p:cNvPr id="10" name="bullet-dot-备用素材">
            <a:extLst xmlns:a="http://schemas.openxmlformats.org/drawingml/2006/main">
              <a:ext uri="{FF2B5EF4-FFF2-40B4-BE49-F238E27FC236}">
                <a16:creationId xmlns:a16="http://schemas.microsoft.com/office/drawing/2014/main" id="{EC7A6835-100F-4A04-9513-1683544C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28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bullet-title-备用素材">
            <a:extLst xmlns:a="http://schemas.openxmlformats.org/drawingml/2006/main">
              <a:ext uri="{FF2B5EF4-FFF2-40B4-BE49-F238E27FC236}">
                <a16:creationId xmlns:a16="http://schemas.microsoft.com/office/drawing/2014/main" id="{A1C3AFF5-AE5A-494C-B86B-68E7A0ED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282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备用素材</a:t>
            </a:r>
          </a:p>
        </p:txBody>
      </p:sp>
      <p:sp>
        <p:nvSpPr>
          <p:cNvPr id="12" name="bullet-detail-备用素材">
            <a:extLst xmlns:a="http://schemas.openxmlformats.org/drawingml/2006/main">
              <a:ext uri="{FF2B5EF4-FFF2-40B4-BE49-F238E27FC236}">
                <a16:creationId xmlns:a16="http://schemas.microsoft.com/office/drawing/2014/main" id="{992DAEC7-752C-4325-93EC-4F80A032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523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home / report 两张截图已准备好。</a:t>
            </a:r>
          </a:p>
        </p:txBody>
      </p:sp>
      <p:sp>
        <p:nvSpPr>
          <p:cNvPr id="13" name="bullet-dot-节奏控制">
            <a:extLst xmlns:a="http://schemas.openxmlformats.org/drawingml/2006/main">
              <a:ext uri="{FF2B5EF4-FFF2-40B4-BE49-F238E27FC236}">
                <a16:creationId xmlns:a16="http://schemas.microsoft.com/office/drawing/2014/main" id="{E1907202-51A4-4660-8E3C-813C65BB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09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bullet-title-节奏控制">
            <a:extLst xmlns:a="http://schemas.openxmlformats.org/drawingml/2006/main">
              <a:ext uri="{FF2B5EF4-FFF2-40B4-BE49-F238E27FC236}">
                <a16:creationId xmlns:a16="http://schemas.microsoft.com/office/drawing/2014/main" id="{0AD800AC-28C7-4400-BFE9-EA41F4F2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0980"/>
            <a:ext cx="3143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节奏控制</a:t>
            </a:r>
          </a:p>
        </p:txBody>
      </p:sp>
      <p:sp>
        <p:nvSpPr>
          <p:cNvPr id="15" name="bullet-detail-节奏控制">
            <a:extLst xmlns:a="http://schemas.openxmlformats.org/drawingml/2006/main">
              <a:ext uri="{FF2B5EF4-FFF2-40B4-BE49-F238E27FC236}">
                <a16:creationId xmlns:a16="http://schemas.microsoft.com/office/drawing/2014/main" id="{6CC33DD8-33C7-44B0-916C-B7DC9AE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339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流卡住就切报告页，主结论不受影响。</a:t>
            </a:r>
          </a:p>
        </p:txBody>
      </p:sp>
      <p:sp>
        <p:nvSpPr>
          <p:cNvPr id="16" name="ops-callout">
            <a:extLst xmlns:a="http://schemas.openxmlformats.org/drawingml/2006/main">
              <a:ext uri="{FF2B5EF4-FFF2-40B4-BE49-F238E27FC236}">
                <a16:creationId xmlns:a16="http://schemas.microsoft.com/office/drawing/2014/main" id="{A92F0707-D9CC-4D6A-A639-3EBC32CE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9140"/>
            <a:ext cx="3333750" cy="849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A">
              <a:alpha val="10000"/>
            </a:srgbClr>
          </a:solidFill>
          <a:ln xmlns:a="http://schemas.openxmlformats.org/drawingml/2006/main" w="9525">
            <a:solidFill>
              <a:srgbClr val="FF6A2A">
                <a:alpha val="30000"/>
              </a:srgbClr>
            </a:solidFill>
            <a:prstDash val="solid"/>
          </a:ln>
        </p:spPr>
      </p:sp>
      <p:sp>
        <p:nvSpPr>
          <p:cNvPr id="17" name="ops-callout-kicker">
            <a:extLst xmlns:a="http://schemas.openxmlformats.org/drawingml/2006/main">
              <a:ext uri="{FF2B5EF4-FFF2-40B4-BE49-F238E27FC236}">
                <a16:creationId xmlns:a16="http://schemas.microsoft.com/office/drawing/2014/main" id="{2B894BA3-0D75-4B4E-811D-1953DE2C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9140"/>
            <a:ext cx="68094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一句话原则</a:t>
            </a:r>
          </a:p>
        </p:txBody>
      </p:sp>
      <p:sp>
        <p:nvSpPr>
          <p:cNvPr id="18" name="ops-callout-title">
            <a:extLst xmlns:a="http://schemas.openxmlformats.org/drawingml/2006/main">
              <a:ext uri="{FF2B5EF4-FFF2-40B4-BE49-F238E27FC236}">
                <a16:creationId xmlns:a16="http://schemas.microsoft.com/office/drawing/2014/main" id="{6CAEBC1B-91E5-4193-BB69-B984BED6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6785"/>
            <a:ext cx="36195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只要“项目接入 + 分析 + 报告”能跑通，主线就成立。</a:t>
            </a:r>
          </a:p>
        </p:txBody>
      </p:sp>
      <p:sp>
        <p:nvSpPr>
          <p:cNvPr id="19" name="ops-callout-subtitle">
            <a:extLst xmlns:a="http://schemas.openxmlformats.org/drawingml/2006/main">
              <a:ext uri="{FF2B5EF4-FFF2-40B4-BE49-F238E27FC236}">
                <a16:creationId xmlns:a16="http://schemas.microsoft.com/office/drawing/2014/main" id="{A87BD8D7-7EAC-4A13-92EC-47910EC1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5890"/>
            <a:ext cx="36195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实时链路是加分项；不稳时，用截图保住理解路径。</a:t>
            </a:r>
          </a:p>
        </p:txBody>
      </p:sp>
      <p:sp>
        <p:nvSpPr>
          <p:cNvPr id="20" name="ops-middle-kicker">
            <a:extLst xmlns:a="http://schemas.openxmlformats.org/drawingml/2006/main">
              <a:ext uri="{FF2B5EF4-FFF2-40B4-BE49-F238E27FC236}">
                <a16:creationId xmlns:a16="http://schemas.microsoft.com/office/drawing/2014/main" id="{109668D1-808D-4707-8E54-9F5E0626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54473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运行前提</a:t>
            </a:r>
          </a:p>
        </p:txBody>
      </p:sp>
      <p:sp>
        <p:nvSpPr>
          <p:cNvPr id="21" name="ops-middle-title">
            <a:extLst xmlns:a="http://schemas.openxmlformats.org/drawingml/2006/main">
              <a:ext uri="{FF2B5EF4-FFF2-40B4-BE49-F238E27FC236}">
                <a16:creationId xmlns:a16="http://schemas.microsoft.com/office/drawing/2014/main" id="{747279F5-7012-4714-861C-D182732D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4570"/>
            <a:ext cx="38100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先看依赖</a:t>
            </a:r>
          </a:p>
        </p:txBody>
      </p:sp>
      <p:sp>
        <p:nvSpPr>
          <p:cNvPr id="22" name="bullet-dot-asgi-celery">
            <a:extLst xmlns:a="http://schemas.openxmlformats.org/drawingml/2006/main">
              <a:ext uri="{FF2B5EF4-FFF2-40B4-BE49-F238E27FC236}">
                <a16:creationId xmlns:a16="http://schemas.microsoft.com/office/drawing/2014/main" id="{F2BA8284-54C0-45C6-BB96-0554452C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232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bullet-title-asgi-celery">
            <a:extLst xmlns:a="http://schemas.openxmlformats.org/drawingml/2006/main">
              <a:ext uri="{FF2B5EF4-FFF2-40B4-BE49-F238E27FC236}">
                <a16:creationId xmlns:a16="http://schemas.microsoft.com/office/drawing/2014/main" id="{29D95444-6425-4F9F-901F-533C53DC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23210"/>
            <a:ext cx="3619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ASGI / Celery</a:t>
            </a:r>
          </a:p>
        </p:txBody>
      </p:sp>
      <p:sp>
        <p:nvSpPr>
          <p:cNvPr id="24" name="bullet-detail-asgi-celery">
            <a:extLst xmlns:a="http://schemas.openxmlformats.org/drawingml/2006/main">
              <a:ext uri="{FF2B5EF4-FFF2-40B4-BE49-F238E27FC236}">
                <a16:creationId xmlns:a16="http://schemas.microsoft.com/office/drawing/2014/main" id="{14AA9A19-299A-4A0E-B2B6-D7528F0A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562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长任务、SSE 和 WebSocket 都依赖异步执行。</a:t>
            </a:r>
          </a:p>
        </p:txBody>
      </p:sp>
      <p:sp>
        <p:nvSpPr>
          <p:cNvPr id="25" name="bullet-dot-redis-channels">
            <a:extLst xmlns:a="http://schemas.openxmlformats.org/drawingml/2006/main">
              <a:ext uri="{FF2B5EF4-FFF2-40B4-BE49-F238E27FC236}">
                <a16:creationId xmlns:a16="http://schemas.microsoft.com/office/drawing/2014/main" id="{3F1BEC60-BE0E-4FE4-87C9-7EDAC578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413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CFE6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bullet-title-redis-channels">
            <a:extLst xmlns:a="http://schemas.openxmlformats.org/drawingml/2006/main">
              <a:ext uri="{FF2B5EF4-FFF2-40B4-BE49-F238E27FC236}">
                <a16:creationId xmlns:a16="http://schemas.microsoft.com/office/drawing/2014/main" id="{BC5C50C6-4E4A-425C-8969-4B8A9092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41370"/>
            <a:ext cx="3619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Redis + Channels</a:t>
            </a:r>
          </a:p>
        </p:txBody>
      </p:sp>
      <p:sp>
        <p:nvSpPr>
          <p:cNvPr id="27" name="bullet-detail-redis-channels">
            <a:extLst xmlns:a="http://schemas.openxmlformats.org/drawingml/2006/main">
              <a:ext uri="{FF2B5EF4-FFF2-40B4-BE49-F238E27FC236}">
                <a16:creationId xmlns:a16="http://schemas.microsoft.com/office/drawing/2014/main" id="{1CE20B74-0BDC-4F42-B0BC-1408255A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378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group 状态、队列和推送都靠它。</a:t>
            </a:r>
          </a:p>
        </p:txBody>
      </p:sp>
      <p:sp>
        <p:nvSpPr>
          <p:cNvPr id="28" name="bullet-dot-nginx-代理">
            <a:extLst xmlns:a="http://schemas.openxmlformats.org/drawingml/2006/main">
              <a:ext uri="{FF2B5EF4-FFF2-40B4-BE49-F238E27FC236}">
                <a16:creationId xmlns:a16="http://schemas.microsoft.com/office/drawing/2014/main" id="{7CB70AF0-AC4B-4D36-A947-DBE7F74C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95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bullet-title-nginx-代理">
            <a:extLst xmlns:a="http://schemas.openxmlformats.org/drawingml/2006/main">
              <a:ext uri="{FF2B5EF4-FFF2-40B4-BE49-F238E27FC236}">
                <a16:creationId xmlns:a16="http://schemas.microsoft.com/office/drawing/2014/main" id="{EC5C5406-CD5B-4EDE-9964-2F8D7A8D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9530"/>
            <a:ext cx="3619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Nginx 代理</a:t>
            </a:r>
          </a:p>
        </p:txBody>
      </p:sp>
      <p:sp>
        <p:nvSpPr>
          <p:cNvPr id="30" name="bullet-detail-nginx-代理">
            <a:extLst xmlns:a="http://schemas.openxmlformats.org/drawingml/2006/main">
              <a:ext uri="{FF2B5EF4-FFF2-40B4-BE49-F238E27FC236}">
                <a16:creationId xmlns:a16="http://schemas.microsoft.com/office/drawing/2014/main" id="{35D744B6-6684-45D2-BE93-B9AC21D4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194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/basic-api/api、/ws/、stream 要转发且 stream 不能缓冲。</a:t>
            </a:r>
          </a:p>
        </p:txBody>
      </p:sp>
      <p:sp>
        <p:nvSpPr>
          <p:cNvPr id="31" name="bullet-dot-tiktoken-llm">
            <a:extLst xmlns:a="http://schemas.openxmlformats.org/drawingml/2006/main">
              <a:ext uri="{FF2B5EF4-FFF2-40B4-BE49-F238E27FC236}">
                <a16:creationId xmlns:a16="http://schemas.microsoft.com/office/drawing/2014/main" id="{89AEFEB2-0F89-4C1C-9977-D6856C3D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491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bullet-title-tiktoken-llm">
            <a:extLst xmlns:a="http://schemas.openxmlformats.org/drawingml/2006/main">
              <a:ext uri="{FF2B5EF4-FFF2-40B4-BE49-F238E27FC236}">
                <a16:creationId xmlns:a16="http://schemas.microsoft.com/office/drawing/2014/main" id="{46E64817-443E-4375-8ED8-125B4AC4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49140"/>
            <a:ext cx="3619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tiktoken / LLM</a:t>
            </a:r>
          </a:p>
        </p:txBody>
      </p:sp>
      <p:sp>
        <p:nvSpPr>
          <p:cNvPr id="33" name="bullet-detail-tiktoken-llm">
            <a:extLst xmlns:a="http://schemas.openxmlformats.org/drawingml/2006/main">
              <a:ext uri="{FF2B5EF4-FFF2-40B4-BE49-F238E27FC236}">
                <a16:creationId xmlns:a16="http://schemas.microsoft.com/office/drawing/2014/main" id="{C2AF000D-0E72-45A0-AD77-75B41E44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8155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内网网关、离线缓存和首包超时都要预先处理。</a:t>
            </a:r>
          </a:p>
        </p:txBody>
      </p:sp>
      <p:sp>
        <p:nvSpPr>
          <p:cNvPr id="34" name="ops-right-kicker">
            <a:extLst xmlns:a="http://schemas.openxmlformats.org/drawingml/2006/main">
              <a:ext uri="{FF2B5EF4-FFF2-40B4-BE49-F238E27FC236}">
                <a16:creationId xmlns:a16="http://schemas.microsoft.com/office/drawing/2014/main" id="{205BADF4-E969-4C51-A43B-5C238C01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8171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2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6A2A"/>
                </a:solidFill>
                <a:latin typeface="Menlo"/>
                <a:ea typeface="Menlo"/>
                <a:cs typeface="Menlo"/>
              </a:rPr>
              <a:t>常见故障信号</a:t>
            </a:r>
          </a:p>
        </p:txBody>
      </p:sp>
      <p:sp>
        <p:nvSpPr>
          <p:cNvPr id="35" name="ops-right-title">
            <a:extLst xmlns:a="http://schemas.openxmlformats.org/drawingml/2006/main">
              <a:ext uri="{FF2B5EF4-FFF2-40B4-BE49-F238E27FC236}">
                <a16:creationId xmlns:a16="http://schemas.microsoft.com/office/drawing/2014/main" id="{6185C04D-A9A8-4976-97DC-7FD466C4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74570"/>
            <a:ext cx="352425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先查代理和 worker</a:t>
            </a:r>
          </a:p>
        </p:txBody>
      </p:sp>
      <p:sp>
        <p:nvSpPr>
          <p:cNvPr id="36" name="bullet-dot-页面能打开-但流不刷新">
            <a:extLst xmlns:a="http://schemas.openxmlformats.org/drawingml/2006/main">
              <a:ext uri="{FF2B5EF4-FFF2-40B4-BE49-F238E27FC236}">
                <a16:creationId xmlns:a16="http://schemas.microsoft.com/office/drawing/2014/main" id="{D961B40E-5182-44DC-AA0E-E662305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232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bullet-title-页面能打开-但流不刷新">
            <a:extLst xmlns:a="http://schemas.openxmlformats.org/drawingml/2006/main">
              <a:ext uri="{FF2B5EF4-FFF2-40B4-BE49-F238E27FC236}">
                <a16:creationId xmlns:a16="http://schemas.microsoft.com/office/drawing/2014/main" id="{9D8815BF-920B-4C7D-9CC6-3854DF46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23210"/>
            <a:ext cx="3333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页面能打开，但流不刷新</a:t>
            </a:r>
          </a:p>
        </p:txBody>
      </p:sp>
      <p:sp>
        <p:nvSpPr>
          <p:cNvPr id="38" name="bullet-detail-页面能打开-但流不刷新">
            <a:extLst xmlns:a="http://schemas.openxmlformats.org/drawingml/2006/main">
              <a:ext uri="{FF2B5EF4-FFF2-40B4-BE49-F238E27FC236}">
                <a16:creationId xmlns:a16="http://schemas.microsoft.com/office/drawing/2014/main" id="{DFB68115-4039-4E58-A1D5-DA398B6C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55620"/>
            <a:ext cx="3333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优先查 SSE / WS / buffering 与 Nginx 配置。</a:t>
            </a:r>
          </a:p>
        </p:txBody>
      </p:sp>
      <p:sp>
        <p:nvSpPr>
          <p:cNvPr id="39" name="bullet-dot-接口-401-404">
            <a:extLst xmlns:a="http://schemas.openxmlformats.org/drawingml/2006/main">
              <a:ext uri="{FF2B5EF4-FFF2-40B4-BE49-F238E27FC236}">
                <a16:creationId xmlns:a16="http://schemas.microsoft.com/office/drawing/2014/main" id="{C4AAD3EA-5299-4180-9B9B-5D30EEF9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413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66B"/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bullet-title-接口-401-404">
            <a:extLst xmlns:a="http://schemas.openxmlformats.org/drawingml/2006/main">
              <a:ext uri="{FF2B5EF4-FFF2-40B4-BE49-F238E27FC236}">
                <a16:creationId xmlns:a16="http://schemas.microsoft.com/office/drawing/2014/main" id="{DC1A3510-23D5-4FDF-AE31-446BC20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41370"/>
            <a:ext cx="3333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接口 401 / 404</a:t>
            </a:r>
          </a:p>
        </p:txBody>
      </p:sp>
      <p:sp>
        <p:nvSpPr>
          <p:cNvPr id="41" name="bullet-detail-接口-401-404">
            <a:extLst xmlns:a="http://schemas.openxmlformats.org/drawingml/2006/main">
              <a:ext uri="{FF2B5EF4-FFF2-40B4-BE49-F238E27FC236}">
                <a16:creationId xmlns:a16="http://schemas.microsoft.com/office/drawing/2014/main" id="{CA76971B-09E7-484A-9494-D9125EB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73780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先看 token、baseURL、/basic-api/api 是否对齐。</a:t>
            </a:r>
          </a:p>
        </p:txBody>
      </p:sp>
      <p:sp>
        <p:nvSpPr>
          <p:cNvPr id="42" name="bullet-dot-日志有任务-ui-没事件">
            <a:extLst xmlns:a="http://schemas.openxmlformats.org/drawingml/2006/main">
              <a:ext uri="{FF2B5EF4-FFF2-40B4-BE49-F238E27FC236}">
                <a16:creationId xmlns:a16="http://schemas.microsoft.com/office/drawing/2014/main" id="{F2F58E27-7828-43D7-A741-6B95341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09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98F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bullet-title-日志有任务-ui-没事件">
            <a:extLst xmlns:a="http://schemas.openxmlformats.org/drawingml/2006/main">
              <a:ext uri="{FF2B5EF4-FFF2-40B4-BE49-F238E27FC236}">
                <a16:creationId xmlns:a16="http://schemas.microsoft.com/office/drawing/2014/main" id="{31BBBD8D-0128-4536-8316-431F7108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30980"/>
            <a:ext cx="33337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7FB"/>
                </a:solidFill>
                <a:latin typeface="PingFang SC"/>
                <a:ea typeface="PingFang SC"/>
                <a:cs typeface="PingFang SC"/>
              </a:rPr>
              <a:t>日志有任务，UI 没事件</a:t>
            </a:r>
          </a:p>
        </p:txBody>
      </p:sp>
      <p:sp>
        <p:nvSpPr>
          <p:cNvPr id="44" name="bullet-detail-日志有任务-ui-没事件">
            <a:extLst xmlns:a="http://schemas.openxmlformats.org/drawingml/2006/main">
              <a:ext uri="{FF2B5EF4-FFF2-40B4-BE49-F238E27FC236}">
                <a16:creationId xmlns:a16="http://schemas.microsoft.com/office/drawing/2014/main" id="{3D801F47-3E82-4220-ABA1-6D67E35E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3390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0A9BA"/>
                </a:solidFill>
                <a:latin typeface="PingFang SC"/>
                <a:ea typeface="PingFang SC"/>
                <a:cs typeface="PingFang SC"/>
              </a:rPr>
              <a:t>常见是 Redis、Channels 或 DeepAudit worker 未就绪。</a:t>
            </a:r>
          </a:p>
        </p:txBody>
      </p:sp>
      <p:sp>
        <p:nvSpPr>
          <p:cNvPr id="45" name="chip-enable-scheduler-false">
            <a:extLst xmlns:a="http://schemas.openxmlformats.org/drawingml/2006/main">
              <a:ext uri="{FF2B5EF4-FFF2-40B4-BE49-F238E27FC236}">
                <a16:creationId xmlns:a16="http://schemas.microsoft.com/office/drawing/2014/main" id="{DEFB7325-6AB6-4712-9693-B6043AB6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20590"/>
            <a:ext cx="1724025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6" name="chip-text-enable-scheduler-false">
            <a:extLst xmlns:a="http://schemas.openxmlformats.org/drawingml/2006/main">
              <a:ext uri="{FF2B5EF4-FFF2-40B4-BE49-F238E27FC236}">
                <a16:creationId xmlns:a16="http://schemas.microsoft.com/office/drawing/2014/main" id="{A315A41F-62F1-42D9-882B-DD138144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09" y="4720590"/>
            <a:ext cx="176650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ENABLE_SCHEDULER=false</a:t>
            </a:r>
          </a:p>
        </p:txBody>
      </p:sp>
      <p:sp>
        <p:nvSpPr>
          <p:cNvPr id="47" name="chip-redis-db-隔离">
            <a:extLst xmlns:a="http://schemas.openxmlformats.org/drawingml/2006/main">
              <a:ext uri="{FF2B5EF4-FFF2-40B4-BE49-F238E27FC236}">
                <a16:creationId xmlns:a16="http://schemas.microsoft.com/office/drawing/2014/main" id="{19849A27-76BE-4CD2-8306-30D20F0C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720590"/>
            <a:ext cx="1724025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8" name="chip-text-redis-db-隔离">
            <a:extLst xmlns:a="http://schemas.openxmlformats.org/drawingml/2006/main">
              <a:ext uri="{FF2B5EF4-FFF2-40B4-BE49-F238E27FC236}">
                <a16:creationId xmlns:a16="http://schemas.microsoft.com/office/drawing/2014/main" id="{66E31349-872B-4760-B407-C295C550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9097" y="4720590"/>
            <a:ext cx="994982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REDIS DB 隔离</a:t>
            </a:r>
          </a:p>
        </p:txBody>
      </p:sp>
      <p:sp>
        <p:nvSpPr>
          <p:cNvPr id="49" name="chip-deepaudit-local-sh">
            <a:extLst xmlns:a="http://schemas.openxmlformats.org/drawingml/2006/main">
              <a:ext uri="{FF2B5EF4-FFF2-40B4-BE49-F238E27FC236}">
                <a16:creationId xmlns:a16="http://schemas.microsoft.com/office/drawing/2014/main" id="{A6B39403-E6AB-41F8-AB38-5F987C8A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56810"/>
            <a:ext cx="1724025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0" name="chip-text-deepaudit-local-sh">
            <a:extLst xmlns:a="http://schemas.openxmlformats.org/drawingml/2006/main">
              <a:ext uri="{FF2B5EF4-FFF2-40B4-BE49-F238E27FC236}">
                <a16:creationId xmlns:a16="http://schemas.microsoft.com/office/drawing/2014/main" id="{3F80DFDF-08DC-494C-A678-66E0D977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701" y="4956810"/>
            <a:ext cx="144532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deepaudit-local.sh</a:t>
            </a:r>
          </a:p>
        </p:txBody>
      </p:sp>
      <p:sp>
        <p:nvSpPr>
          <p:cNvPr id="51" name="chip-warm-tiktoken-cache-py">
            <a:extLst xmlns:a="http://schemas.openxmlformats.org/drawingml/2006/main">
              <a:ext uri="{FF2B5EF4-FFF2-40B4-BE49-F238E27FC236}">
                <a16:creationId xmlns:a16="http://schemas.microsoft.com/office/drawing/2014/main" id="{D820FA8A-0800-4A8C-A7F3-426A6F33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956810"/>
            <a:ext cx="1724025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2" name="chip-text-warm-tiktoken-cache-py">
            <a:extLst xmlns:a="http://schemas.openxmlformats.org/drawingml/2006/main">
              <a:ext uri="{FF2B5EF4-FFF2-40B4-BE49-F238E27FC236}">
                <a16:creationId xmlns:a16="http://schemas.microsoft.com/office/drawing/2014/main" id="{2B10D893-7963-44A5-87DB-A5E2806C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334" y="4956810"/>
            <a:ext cx="176650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5F7FB"/>
                </a:solidFill>
                <a:latin typeface="Menlo"/>
                <a:ea typeface="Menlo"/>
                <a:cs typeface="Menlo"/>
              </a:rPr>
              <a:t>warm_tiktoken_cache.py</a:t>
            </a:r>
          </a:p>
        </p:txBody>
      </p:sp>
    </p:spTree>
    <p:extLst>
      <p:ext uri="{BB962C8B-B14F-4D97-AF65-F5344CB8AC3E}">
        <p14:creationId xmlns:p14="http://schemas.microsoft.com/office/powerpoint/2010/main" val="738480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2026-04-29T02:59:54.2510000Z</dcterms:created>
  <dcterms:modified xsi:type="dcterms:W3CDTF">2026-04-29T02:59:54.2510000Z</dcterms:modified>
</coreProperties>
</file>