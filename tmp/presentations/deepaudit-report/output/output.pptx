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8580ebf7794350" /><Relationship Type="http://schemas.openxmlformats.org/officeDocument/2006/relationships/extended-properties" Target="/docProps/app.xml" Id="R7daafe1eefaa412f" /><Relationship Type="http://schemas.openxmlformats.org/officeDocument/2006/relationships/officeDocument" Target="/ppt/presentation.xml" Id="R45d3f0b241b142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d319d8aef444f7"/>
  </p:sldMasterIdLst>
  <p:notesMasterIdLst>
    <p:notesMasterId xmlns:r="http://schemas.openxmlformats.org/officeDocument/2006/relationships" r:id="R46ab4a1aa68f4bd0"/>
  </p:notesMasterIdLst>
  <p:sldIdLst>
    <p:sldId xmlns:r="http://schemas.openxmlformats.org/officeDocument/2006/relationships" id="256" r:id="R1996023c833f47bc"/>
    <p:sldId xmlns:r="http://schemas.openxmlformats.org/officeDocument/2006/relationships" id="257" r:id="R09c95bc88d6343fe"/>
    <p:sldId xmlns:r="http://schemas.openxmlformats.org/officeDocument/2006/relationships" id="258" r:id="R41a2bbe117fc4929"/>
    <p:sldId xmlns:r="http://schemas.openxmlformats.org/officeDocument/2006/relationships" id="259" r:id="Rc23bf8d3397948df"/>
    <p:sldId xmlns:r="http://schemas.openxmlformats.org/officeDocument/2006/relationships" id="260" r:id="Rf23ef77592844eea"/>
    <p:sldId xmlns:r="http://schemas.openxmlformats.org/officeDocument/2006/relationships" id="261" r:id="Ra6bedd960218494e"/>
    <p:sldId xmlns:r="http://schemas.openxmlformats.org/officeDocument/2006/relationships" id="262" r:id="R3e89a45b7ec644dd"/>
    <p:sldId xmlns:r="http://schemas.openxmlformats.org/officeDocument/2006/relationships" id="263" r:id="Rab7ce24db44a487d"/>
    <p:sldId xmlns:r="http://schemas.openxmlformats.org/officeDocument/2006/relationships" id="264" r:id="Rff32bfedad92467a"/>
    <p:sldId xmlns:r="http://schemas.openxmlformats.org/officeDocument/2006/relationships" id="265" r:id="R4fdbb76a25c144ce"/>
    <p:sldId xmlns:r="http://schemas.openxmlformats.org/officeDocument/2006/relationships" id="266" r:id="R63bfda5112084c09"/>
    <p:sldId xmlns:r="http://schemas.openxmlformats.org/officeDocument/2006/relationships" id="267" r:id="R79bb7c89e4d4411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d319d8aef444f7" /><Relationship Type="http://schemas.openxmlformats.org/officeDocument/2006/relationships/theme" Target="/ppt/theme/theme1.xml" Id="Ra3acac40d1ea4876" /><Relationship Type="http://schemas.openxmlformats.org/officeDocument/2006/relationships/notesMaster" Target="/ppt/notesMasters/notesMaster1.xml" Id="R46ab4a1aa68f4bd0" /><Relationship Type="http://schemas.openxmlformats.org/officeDocument/2006/relationships/presProps" Target="/ppt/presProps.xml" Id="Rfa9c46ac79344727" /><Relationship Type="http://schemas.openxmlformats.org/officeDocument/2006/relationships/viewProps" Target="/ppt/viewProps.xml" Id="R14416557a98144e7" /><Relationship Type="http://schemas.openxmlformats.org/officeDocument/2006/relationships/tableStyles" Target="/ppt/tableStyles.xml" Id="R7a72927bf17d4677" /><Relationship Type="http://schemas.openxmlformats.org/officeDocument/2006/relationships/slide" Target="/ppt/slides/slide1.xml" Id="R1996023c833f47bc" /><Relationship Type="http://schemas.openxmlformats.org/officeDocument/2006/relationships/slide" Target="/ppt/slides/slide2.xml" Id="R09c95bc88d6343fe" /><Relationship Type="http://schemas.openxmlformats.org/officeDocument/2006/relationships/slide" Target="/ppt/slides/slide3.xml" Id="R41a2bbe117fc4929" /><Relationship Type="http://schemas.openxmlformats.org/officeDocument/2006/relationships/slide" Target="/ppt/slides/slide4.xml" Id="Rc23bf8d3397948df" /><Relationship Type="http://schemas.openxmlformats.org/officeDocument/2006/relationships/slide" Target="/ppt/slides/slide5.xml" Id="Rf23ef77592844eea" /><Relationship Type="http://schemas.openxmlformats.org/officeDocument/2006/relationships/slide" Target="/ppt/slides/slide6.xml" Id="Ra6bedd960218494e" /><Relationship Type="http://schemas.openxmlformats.org/officeDocument/2006/relationships/slide" Target="/ppt/slides/slide7.xml" Id="R3e89a45b7ec644dd" /><Relationship Type="http://schemas.openxmlformats.org/officeDocument/2006/relationships/slide" Target="/ppt/slides/slide8.xml" Id="Rab7ce24db44a487d" /><Relationship Type="http://schemas.openxmlformats.org/officeDocument/2006/relationships/slide" Target="/ppt/slides/slide9.xml" Id="Rff32bfedad92467a" /><Relationship Type="http://schemas.openxmlformats.org/officeDocument/2006/relationships/slide" Target="/ppt/slides/slide10.xml" Id="R4fdbb76a25c144ce" /><Relationship Type="http://schemas.openxmlformats.org/officeDocument/2006/relationships/slide" Target="/ppt/slides/slide11.xml" Id="R63bfda5112084c09" /><Relationship Type="http://schemas.openxmlformats.org/officeDocument/2006/relationships/slide" Target="/ppt/slides/slide12.xml" Id="R79bb7c89e4d441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1557d82b66345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958002957946f1" /><Relationship Type="http://schemas.openxmlformats.org/officeDocument/2006/relationships/notesMaster" Target="/ppt/notesMasters/notesMaster1.xml" Id="R2c2601c9c2a641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769124376c4c8e" /><Relationship Type="http://schemas.openxmlformats.org/officeDocument/2006/relationships/notesMaster" Target="/ppt/notesMasters/notesMaster1.xml" Id="R11e1b6caed834c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5c51866d10412c" /><Relationship Type="http://schemas.openxmlformats.org/officeDocument/2006/relationships/notesMaster" Target="/ppt/notesMasters/notesMaster1.xml" Id="R340d7b3c8de541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6ae14eb0794c31" /><Relationship Type="http://schemas.openxmlformats.org/officeDocument/2006/relationships/notesMaster" Target="/ppt/notesMasters/notesMaster1.xml" Id="R51ebc04fc6b44b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f7eb5e52fc4088" /><Relationship Type="http://schemas.openxmlformats.org/officeDocument/2006/relationships/notesMaster" Target="/ppt/notesMasters/notesMaster1.xml" Id="Rc0f61b1b4c7d4b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ccfb8793e244ec" /><Relationship Type="http://schemas.openxmlformats.org/officeDocument/2006/relationships/notesMaster" Target="/ppt/notesMasters/notesMaster1.xml" Id="R099a6ff61b6742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d1e521b6e1426d" /><Relationship Type="http://schemas.openxmlformats.org/officeDocument/2006/relationships/notesMaster" Target="/ppt/notesMasters/notesMaster1.xml" Id="Ra8e63e95f67447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0500e9f94f4222" /><Relationship Type="http://schemas.openxmlformats.org/officeDocument/2006/relationships/notesMaster" Target="/ppt/notesMasters/notesMaster1.xml" Id="Rf0125fd448f94ba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5b2e5880e4c418e" /><Relationship Type="http://schemas.openxmlformats.org/officeDocument/2006/relationships/notesMaster" Target="/ppt/notesMasters/notesMaster1.xml" Id="R20ffe5261cfe4a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6fdb8bdb92407c" /><Relationship Type="http://schemas.openxmlformats.org/officeDocument/2006/relationships/notesMaster" Target="/ppt/notesMasters/notesMaster1.xml" Id="R6d15e1b634f647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1ce147a83443b8" /><Relationship Type="http://schemas.openxmlformats.org/officeDocument/2006/relationships/notesMaster" Target="/ppt/notesMasters/notesMaster1.xml" Id="Rb68a9fa8df1247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014613125f40c8" /><Relationship Type="http://schemas.openxmlformats.org/officeDocument/2006/relationships/notesMaster" Target="/ppt/notesMasters/notesMaster1.xml" Id="Re70c021dd19948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今天我汇报 DeepAudit 智能审计平台。先给结论：它已经不是单点扫描，而是从项目接入、分析、验证到报告的完整闭环。后面我按价值、架构、实现和演示四部分展开。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这一页先讲为什么要做。传统扫描能发现问题，但解释、验证和交付都偏弱，所以我们把目标放在审计工作台，而不是另一个扫描器。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这一页汇总现有能力。重点不是页面多少，而是已经把项目接入、审计能力、策略治理和结果交付串成了一条完整链路。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这一页讲架构。我会重点强调前后端分离、业务域拆分，以及 SSE / WebSocket 为什么必须和 ASGI、Redis、Nginx 一起看。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这里详细介绍多智能体架构。核心是 Orchestrator 通过 ReAct 循环进行决策。Recon、Analysis、Verification 各司其职。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这一页讲实现方法。核心思路是工具先行、模型编排、检查点恢复、事件流回传，说明 DeepAudit 不是只给一个最终结论。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这一页补充工具链和沙箱。AST 提供精准的上下文，外部工具提供覆盖面，而沙箱让我们能运行 PoC 确认漏洞，这是区别于传统 SAST 的关键。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这一页讲知识库和模型配置。重点是把通用知识、项目知识和用户级模型配置拆开，确保经验能沉淀、模型能管控。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这一页是现场演示节奏说明。按 Dashboard、项目、Agent、报告页的顺序走，让领导先看到闭环，再看过程。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这一页讲阶段成果和下一步。当前闭环已经跑通，接下来要把知识库、规则覆盖、部署监控和运营指标补齐。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这一页是技术备份，用来回答页面和接口怎么对应，重点看前端路由、后端分域和实时链路文件。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这一页是兜底说明，尤其是当实时流不稳定时，如何保住演示主线，以及部署前要先确认哪些基础依赖。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8b83571a274ab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0cb85b4f0e34876" /><Relationship Type="http://schemas.openxmlformats.org/officeDocument/2006/relationships/slideLayout" Target="/ppt/slideLayouts/slideLayout2.xml" Id="R9d67b42edaf345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7b42edaf345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65598aa9534125" /><Relationship Type="http://schemas.openxmlformats.org/officeDocument/2006/relationships/image" Target="/ppt/media/image.png" Id="Raefba41cdec7499c" /><Relationship Type="http://schemas.openxmlformats.org/officeDocument/2006/relationships/notesSlide" Target="/ppt/notesSlides/notesSlide1.xml" Id="R4a8694a88f8a4d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321f00e4854d4e" /><Relationship Type="http://schemas.openxmlformats.org/officeDocument/2006/relationships/notesSlide" Target="/ppt/notesSlides/notesSlide2.xml" Id="Rf63cc623118b4b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db8c3f56734e9f" /><Relationship Type="http://schemas.openxmlformats.org/officeDocument/2006/relationships/notesSlide" Target="/ppt/notesSlides/notesSlide3.xml" Id="Rbacf46dd68f841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ab688a52c54bac" /><Relationship Type="http://schemas.openxmlformats.org/officeDocument/2006/relationships/notesSlide" Target="/ppt/notesSlides/notesSlide4.xml" Id="Raa43b2b8e1f645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e4c7881c3c4ccb" /><Relationship Type="http://schemas.openxmlformats.org/officeDocument/2006/relationships/notesSlide" Target="/ppt/notesSlides/notesSlide5.xml" Id="R843755dfd3db42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a4bb0baedd4603" /><Relationship Type="http://schemas.openxmlformats.org/officeDocument/2006/relationships/notesSlide" Target="/ppt/notesSlides/notesSlide6.xml" Id="R8c8d34ab8c914c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83bbcab5884b03" /><Relationship Type="http://schemas.openxmlformats.org/officeDocument/2006/relationships/notesSlide" Target="/ppt/notesSlides/notesSlide7.xml" Id="Ra753d9437fb049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801d280da44e7f" /><Relationship Type="http://schemas.openxmlformats.org/officeDocument/2006/relationships/notesSlide" Target="/ppt/notesSlides/notesSlide8.xml" Id="R1852fd34202440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82253256284f57" /><Relationship Type="http://schemas.openxmlformats.org/officeDocument/2006/relationships/image" Target="/ppt/media/image2.png" Id="Re868c11103b44e4f" /><Relationship Type="http://schemas.openxmlformats.org/officeDocument/2006/relationships/notesSlide" Target="/ppt/notesSlides/notesSlide9.xml" Id="Rfb5ffe994de54e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03a7126a074f0c" /><Relationship Type="http://schemas.openxmlformats.org/officeDocument/2006/relationships/notesSlide" Target="/ppt/notesSlides/notesSlide10.xml" Id="R4a4dd4ded56744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adbea720e945a1" /><Relationship Type="http://schemas.openxmlformats.org/officeDocument/2006/relationships/notesSlide" Target="/ppt/notesSlides/notesSlide11.xml" Id="Rfb3feba05a3641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720f45337e4c46" /><Relationship Type="http://schemas.openxmlformats.org/officeDocument/2006/relationships/notesSlide" Target="/ppt/notesSlides/notesSlide12.xml" Id="R6e88b5ab528b46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ba41cdec7499c"/>
          <a:srcRect xmlns:a="http://schemas.openxmlformats.org/drawingml/2006/main" l="1914" t="0" r="19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scrim">
            <a:extLst xmlns:a="http://schemas.openxmlformats.org/drawingml/2006/main">
              <a:ext uri="{FF2B5EF4-FFF2-40B4-BE49-F238E27FC236}">
                <a16:creationId xmlns:a16="http://schemas.microsoft.com/office/drawing/2014/main" id="{2CB3E024-6FD0-457F-A04D-F1ACF300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E">
              <a:alpha val="80000"/>
            </a:srgbClr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cover-glow">
            <a:extLst xmlns:a="http://schemas.openxmlformats.org/drawingml/2006/main">
              <a:ext uri="{FF2B5EF4-FFF2-40B4-BE49-F238E27FC236}">
                <a16:creationId xmlns:a16="http://schemas.microsoft.com/office/drawing/2014/main" id="{785894AA-708A-4F8B-B341-3075C2DD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>
              <a:alpha val="18000"/>
            </a:srgbClr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cover-lead">
            <a:extLst xmlns:a="http://schemas.openxmlformats.org/drawingml/2006/main">
              <a:ext uri="{FF2B5EF4-FFF2-40B4-BE49-F238E27FC236}">
                <a16:creationId xmlns:a16="http://schemas.microsoft.com/office/drawing/2014/main" id="{101F00DB-8F0F-48E4-837A-C42D10CF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485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部门汇报 · 15 分钟</a:t>
            </a:r>
          </a:p>
        </p:txBody>
      </p:sp>
      <p:sp>
        <p:nvSpPr>
          <p:cNvPr id="5" name="cover-title-a">
            <a:extLst xmlns:a="http://schemas.openxmlformats.org/drawingml/2006/main">
              <a:ext uri="{FF2B5EF4-FFF2-40B4-BE49-F238E27FC236}">
                <a16:creationId xmlns:a16="http://schemas.microsoft.com/office/drawing/2014/main" id="{8758D3A1-853E-4B3B-8548-7D883A07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4330"/>
            <a:ext cx="3405949" cy="754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49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DeepAudit</a:t>
            </a:r>
          </a:p>
        </p:txBody>
      </p:sp>
      <p:sp>
        <p:nvSpPr>
          <p:cNvPr id="6" name="cover-title-b">
            <a:extLst xmlns:a="http://schemas.openxmlformats.org/drawingml/2006/main">
              <a:ext uri="{FF2B5EF4-FFF2-40B4-BE49-F238E27FC236}">
                <a16:creationId xmlns:a16="http://schemas.microsoft.com/office/drawing/2014/main" id="{76D45976-915B-48AE-BA39-EA5C6D7D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80160"/>
            <a:ext cx="3086100" cy="6172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智能审计平台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CE72D9E-F7B5-4F91-ADD6-6690D633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68830"/>
            <a:ext cx="4000500" cy="502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LLM + RAG + 多智能体，把“项目接入 → 分析 → 验证 → 报告”做成闭环</a:t>
            </a:r>
          </a:p>
        </p:txBody>
      </p:sp>
      <p:sp>
        <p:nvSpPr>
          <p:cNvPr id="8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C598E643-9DA0-43AC-9363-CAD2ABC7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71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9" name="chip-项目演示">
            <a:extLst xmlns:a="http://schemas.openxmlformats.org/drawingml/2006/main">
              <a:ext uri="{FF2B5EF4-FFF2-40B4-BE49-F238E27FC236}">
                <a16:creationId xmlns:a16="http://schemas.microsoft.com/office/drawing/2014/main" id="{233A6541-1A52-4307-8B5E-BEA4D616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"/>
            <a:ext cx="13970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14000"/>
            </a:srgbClr>
          </a:solidFill>
          <a:ln xmlns:a="http://schemas.openxmlformats.org/drawingml/2006/main" w="9525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10" name="chip-text-项目演示">
            <a:extLst xmlns:a="http://schemas.openxmlformats.org/drawingml/2006/main">
              <a:ext uri="{FF2B5EF4-FFF2-40B4-BE49-F238E27FC236}">
                <a16:creationId xmlns:a16="http://schemas.microsoft.com/office/drawing/2014/main" id="{D5C93C12-6A8A-4A73-BD11-4E568D2A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" y="293370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项目演示</a:t>
            </a:r>
          </a:p>
        </p:txBody>
      </p:sp>
      <p:sp>
        <p:nvSpPr>
          <p:cNvPr id="11" name="chip-架构设计">
            <a:extLst xmlns:a="http://schemas.openxmlformats.org/drawingml/2006/main">
              <a:ext uri="{FF2B5EF4-FFF2-40B4-BE49-F238E27FC236}">
                <a16:creationId xmlns:a16="http://schemas.microsoft.com/office/drawing/2014/main" id="{94B7CA1D-9813-41DD-9AA2-E27D8CCB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50" y="2933700"/>
            <a:ext cx="13970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2" name="chip-text-架构设计">
            <a:extLst xmlns:a="http://schemas.openxmlformats.org/drawingml/2006/main">
              <a:ext uri="{FF2B5EF4-FFF2-40B4-BE49-F238E27FC236}">
                <a16:creationId xmlns:a16="http://schemas.microsoft.com/office/drawing/2014/main" id="{6BFF4716-2CED-4AE5-ABBE-EEE36E28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93370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架构设计</a:t>
            </a:r>
          </a:p>
        </p:txBody>
      </p:sp>
      <p:sp>
        <p:nvSpPr>
          <p:cNvPr id="13" name="chip-实现方法">
            <a:extLst xmlns:a="http://schemas.openxmlformats.org/drawingml/2006/main">
              <a:ext uri="{FF2B5EF4-FFF2-40B4-BE49-F238E27FC236}">
                <a16:creationId xmlns:a16="http://schemas.microsoft.com/office/drawing/2014/main" id="{7AF53F9E-71F5-4E5A-9FC3-E73EB530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500" y="2933700"/>
            <a:ext cx="13970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4" name="chip-text-实现方法">
            <a:extLst xmlns:a="http://schemas.openxmlformats.org/drawingml/2006/main">
              <a:ext uri="{FF2B5EF4-FFF2-40B4-BE49-F238E27FC236}">
                <a16:creationId xmlns:a16="http://schemas.microsoft.com/office/drawing/2014/main" id="{16AF11A0-213A-4A2D-87ED-4710011A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300" y="293370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实现方法</a:t>
            </a:r>
          </a:p>
        </p:txBody>
      </p:sp>
      <p:sp>
        <p:nvSpPr>
          <p:cNvPr id="15" name="cover-meta">
            <a:extLst xmlns:a="http://schemas.openxmlformats.org/drawingml/2006/main">
              <a:ext uri="{FF2B5EF4-FFF2-40B4-BE49-F238E27FC236}">
                <a16:creationId xmlns:a16="http://schemas.microsoft.com/office/drawing/2014/main" id="{8D64D074-E4E3-4D84-B168-8A2FC7DF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65170"/>
            <a:ext cx="2373439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Focus 平台内的独立智能审计子系统</a:t>
            </a:r>
          </a:p>
        </p:txBody>
      </p:sp>
    </p:spTree>
    <p:extLst>
      <p:ext uri="{BB962C8B-B14F-4D97-AF65-F5344CB8AC3E}">
        <p14:creationId xmlns:p14="http://schemas.microsoft.com/office/powerpoint/2010/main" val="9134265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为什么要做-deepaudit">
            <a:extLst xmlns:a="http://schemas.openxmlformats.org/drawingml/2006/main">
              <a:ext uri="{FF2B5EF4-FFF2-40B4-BE49-F238E27FC236}">
                <a16:creationId xmlns:a16="http://schemas.microsoft.com/office/drawing/2014/main" id="{81958323-CD5A-4358-AA14-27294F6B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11814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WHY DEEPAUDIT</a:t>
            </a:r>
          </a:p>
        </p:txBody>
      </p:sp>
      <p:sp>
        <p:nvSpPr>
          <p:cNvPr id="2" name="header-title-为什么要做-deepaudit">
            <a:extLst xmlns:a="http://schemas.openxmlformats.org/drawingml/2006/main">
              <a:ext uri="{FF2B5EF4-FFF2-40B4-BE49-F238E27FC236}">
                <a16:creationId xmlns:a16="http://schemas.microsoft.com/office/drawing/2014/main" id="{DBF7E469-ADAB-4D0D-82D3-54C67C3F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为什么要做 DeepAudit</a:t>
            </a:r>
          </a:p>
        </p:txBody>
      </p:sp>
      <p:sp>
        <p:nvSpPr>
          <p:cNvPr id="3" name="header-subtitle-为什么要做-deepaudit">
            <a:extLst xmlns:a="http://schemas.openxmlformats.org/drawingml/2006/main">
              <a:ext uri="{FF2B5EF4-FFF2-40B4-BE49-F238E27FC236}">
                <a16:creationId xmlns:a16="http://schemas.microsoft.com/office/drawing/2014/main" id="{F5B36335-C329-456C-A5D4-AF4BFEB7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传统扫描能找问题，但很难解释、很难验证、也很难形成可复用的交付。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56034946-A685-47A6-B4AD-3604FFD6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why-statement">
            <a:extLst xmlns:a="http://schemas.openxmlformats.org/drawingml/2006/main">
              <a:ext uri="{FF2B5EF4-FFF2-40B4-BE49-F238E27FC236}">
                <a16:creationId xmlns:a16="http://schemas.microsoft.com/office/drawing/2014/main" id="{93DCA1A7-D56B-45BE-8921-8FE5A1E0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3429000" cy="3886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定位不是“再做一个扫描器”，而是把审计变成一套可运行的工作台。</a:t>
            </a:r>
          </a:p>
        </p:txBody>
      </p:sp>
      <p:sp>
        <p:nvSpPr>
          <p:cNvPr id="6" name="why-rule">
            <a:extLst xmlns:a="http://schemas.openxmlformats.org/drawingml/2006/main">
              <a:ext uri="{FF2B5EF4-FFF2-40B4-BE49-F238E27FC236}">
                <a16:creationId xmlns:a16="http://schemas.microsoft.com/office/drawing/2014/main" id="{F62EDCA1-41FC-4909-A916-DD74BB00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2222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7" name="bullet-dot-规则固定">
            <a:extLst xmlns:a="http://schemas.openxmlformats.org/drawingml/2006/main">
              <a:ext uri="{FF2B5EF4-FFF2-40B4-BE49-F238E27FC236}">
                <a16:creationId xmlns:a16="http://schemas.microsoft.com/office/drawing/2014/main" id="{181F60FC-5B25-4BB1-9016-5A7F2C6A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127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规则固定">
            <a:extLst xmlns:a="http://schemas.openxmlformats.org/drawingml/2006/main">
              <a:ext uri="{FF2B5EF4-FFF2-40B4-BE49-F238E27FC236}">
                <a16:creationId xmlns:a16="http://schemas.microsoft.com/office/drawing/2014/main" id="{C72B38D7-540B-41BF-AB37-FE068B23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272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规则固定</a:t>
            </a:r>
          </a:p>
        </p:txBody>
      </p:sp>
      <p:sp>
        <p:nvSpPr>
          <p:cNvPr id="9" name="bullet-detail-规则固定">
            <a:extLst xmlns:a="http://schemas.openxmlformats.org/drawingml/2006/main">
              <a:ext uri="{FF2B5EF4-FFF2-40B4-BE49-F238E27FC236}">
                <a16:creationId xmlns:a16="http://schemas.microsoft.com/office/drawing/2014/main" id="{5D9641F9-E643-4759-BD6F-1BF4EF78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513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只能覆盖已知模式，面对复杂业务和组合风险时容易失焦。</a:t>
            </a:r>
          </a:p>
        </p:txBody>
      </p:sp>
      <p:sp>
        <p:nvSpPr>
          <p:cNvPr id="10" name="bullet-dot-解释弱">
            <a:extLst xmlns:a="http://schemas.openxmlformats.org/drawingml/2006/main">
              <a:ext uri="{FF2B5EF4-FFF2-40B4-BE49-F238E27FC236}">
                <a16:creationId xmlns:a16="http://schemas.microsoft.com/office/drawing/2014/main" id="{4C2257BF-0653-414D-8180-4313740B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594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解释弱">
            <a:extLst xmlns:a="http://schemas.openxmlformats.org/drawingml/2006/main">
              <a:ext uri="{FF2B5EF4-FFF2-40B4-BE49-F238E27FC236}">
                <a16:creationId xmlns:a16="http://schemas.microsoft.com/office/drawing/2014/main" id="{55A721E7-A2AD-4096-B558-516F9493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948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解释弱</a:t>
            </a:r>
          </a:p>
        </p:txBody>
      </p:sp>
      <p:sp>
        <p:nvSpPr>
          <p:cNvPr id="12" name="bullet-detail-解释弱">
            <a:extLst xmlns:a="http://schemas.openxmlformats.org/drawingml/2006/main">
              <a:ext uri="{FF2B5EF4-FFF2-40B4-BE49-F238E27FC236}">
                <a16:creationId xmlns:a16="http://schemas.microsoft.com/office/drawing/2014/main" id="{54786C0F-D815-4289-A5E3-9604CA57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1890"/>
            <a:ext cx="342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发现结果碎片化，难以让领导和研发快速判断优先级。</a:t>
            </a:r>
          </a:p>
        </p:txBody>
      </p:sp>
      <p:sp>
        <p:nvSpPr>
          <p:cNvPr id="13" name="bullet-dot-验证弱">
            <a:extLst xmlns:a="http://schemas.openxmlformats.org/drawingml/2006/main">
              <a:ext uri="{FF2B5EF4-FFF2-40B4-BE49-F238E27FC236}">
                <a16:creationId xmlns:a16="http://schemas.microsoft.com/office/drawing/2014/main" id="{3A3DEAEA-D5D2-4DA2-A4BD-AEBC0807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47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验证弱">
            <a:extLst xmlns:a="http://schemas.openxmlformats.org/drawingml/2006/main">
              <a:ext uri="{FF2B5EF4-FFF2-40B4-BE49-F238E27FC236}">
                <a16:creationId xmlns:a16="http://schemas.microsoft.com/office/drawing/2014/main" id="{A773601F-D799-4DEA-8D09-9B78B0BC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479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验证弱</a:t>
            </a:r>
          </a:p>
        </p:txBody>
      </p:sp>
      <p:sp>
        <p:nvSpPr>
          <p:cNvPr id="15" name="bullet-detail-验证弱">
            <a:extLst xmlns:a="http://schemas.openxmlformats.org/drawingml/2006/main">
              <a:ext uri="{FF2B5EF4-FFF2-40B4-BE49-F238E27FC236}">
                <a16:creationId xmlns:a16="http://schemas.microsoft.com/office/drawing/2014/main" id="{C7D76351-E4F9-4204-9622-0F6E2B21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缺少动态验证、PoC 和回放，结论往往停留在“发现”而不是“落地”。</a:t>
            </a:r>
          </a:p>
        </p:txBody>
      </p:sp>
      <p:sp>
        <p:nvSpPr>
          <p:cNvPr id="16" name="why-target-kicker">
            <a:extLst xmlns:a="http://schemas.openxmlformats.org/drawingml/2006/main">
              <a:ext uri="{FF2B5EF4-FFF2-40B4-BE49-F238E27FC236}">
                <a16:creationId xmlns:a16="http://schemas.microsoft.com/office/drawing/2014/main" id="{B38FF1BC-5509-4CDC-B540-4821F2B3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62150"/>
            <a:ext cx="1203008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DeepAudit 的目标</a:t>
            </a:r>
          </a:p>
        </p:txBody>
      </p:sp>
      <p:sp>
        <p:nvSpPr>
          <p:cNvPr id="17" name="why-target-title">
            <a:extLst xmlns:a="http://schemas.openxmlformats.org/drawingml/2006/main">
              <a:ext uri="{FF2B5EF4-FFF2-40B4-BE49-F238E27FC236}">
                <a16:creationId xmlns:a16="http://schemas.microsoft.com/office/drawing/2014/main" id="{EF401CF0-E0CB-458E-948E-BEE41C9C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17420"/>
            <a:ext cx="6096000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把“项目接入 → 分析 → 验证 → 报告”串成闭环。</a:t>
            </a:r>
          </a:p>
        </p:txBody>
      </p:sp>
      <p:sp>
        <p:nvSpPr>
          <p:cNvPr id="18" name="why-target-subtitle">
            <a:extLst xmlns:a="http://schemas.openxmlformats.org/drawingml/2006/main">
              <a:ext uri="{FF2B5EF4-FFF2-40B4-BE49-F238E27FC236}">
                <a16:creationId xmlns:a16="http://schemas.microsoft.com/office/drawing/2014/main" id="{4DFB2258-82CC-4D0C-AEDC-0A040B71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81350"/>
            <a:ext cx="60960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它不是单点工具，而是面向部门内部审计流程的智能审计工作台。</a:t>
            </a:r>
          </a:p>
        </p:txBody>
      </p:sp>
      <p:sp>
        <p:nvSpPr>
          <p:cNvPr id="19" name="why-trad">
            <a:extLst xmlns:a="http://schemas.openxmlformats.org/drawingml/2006/main">
              <a:ext uri="{FF2B5EF4-FFF2-40B4-BE49-F238E27FC236}">
                <a16:creationId xmlns:a16="http://schemas.microsoft.com/office/drawing/2014/main" id="{C45EB103-A5A8-4222-ADDA-06F4BBA6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93770"/>
            <a:ext cx="571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传统方式</a:t>
            </a:r>
          </a:p>
        </p:txBody>
      </p:sp>
      <p:sp>
        <p:nvSpPr>
          <p:cNvPr id="20" name="bullet-dot-扫描结果多">
            <a:extLst xmlns:a="http://schemas.openxmlformats.org/drawingml/2006/main">
              <a:ext uri="{FF2B5EF4-FFF2-40B4-BE49-F238E27FC236}">
                <a16:creationId xmlns:a16="http://schemas.microsoft.com/office/drawing/2014/main" id="{D810C68C-4C27-4AE7-BB7E-2384266E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414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1" name="bullet-title-扫描结果多">
            <a:extLst xmlns:a="http://schemas.openxmlformats.org/drawingml/2006/main">
              <a:ext uri="{FF2B5EF4-FFF2-40B4-BE49-F238E27FC236}">
                <a16:creationId xmlns:a16="http://schemas.microsoft.com/office/drawing/2014/main" id="{E3465483-ACF1-4811-B5A4-BEC3CA4C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4142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扫描结果多</a:t>
            </a:r>
          </a:p>
        </p:txBody>
      </p:sp>
      <p:sp>
        <p:nvSpPr>
          <p:cNvPr id="22" name="bullet-detail-扫描结果多">
            <a:extLst xmlns:a="http://schemas.openxmlformats.org/drawingml/2006/main">
              <a:ext uri="{FF2B5EF4-FFF2-40B4-BE49-F238E27FC236}">
                <a16:creationId xmlns:a16="http://schemas.microsoft.com/office/drawing/2014/main" id="{08EA1B5C-0885-4824-BFF3-6C94CEEC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73830"/>
            <a:ext cx="24955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但上下文弱。</a:t>
            </a:r>
          </a:p>
        </p:txBody>
      </p:sp>
      <p:sp>
        <p:nvSpPr>
          <p:cNvPr id="23" name="bullet-dot-问题能发现">
            <a:extLst xmlns:a="http://schemas.openxmlformats.org/drawingml/2006/main">
              <a:ext uri="{FF2B5EF4-FFF2-40B4-BE49-F238E27FC236}">
                <a16:creationId xmlns:a16="http://schemas.microsoft.com/office/drawing/2014/main" id="{748EAD83-1A59-467C-81BF-8BC84113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14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4" name="bullet-title-问题能发现">
            <a:extLst xmlns:a="http://schemas.openxmlformats.org/drawingml/2006/main">
              <a:ext uri="{FF2B5EF4-FFF2-40B4-BE49-F238E27FC236}">
                <a16:creationId xmlns:a16="http://schemas.microsoft.com/office/drawing/2014/main" id="{202C506E-C6EF-447E-AC9D-807DE76B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2148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问题能发现</a:t>
            </a:r>
          </a:p>
        </p:txBody>
      </p:sp>
      <p:sp>
        <p:nvSpPr>
          <p:cNvPr id="25" name="bullet-detail-问题能发现">
            <a:extLst xmlns:a="http://schemas.openxmlformats.org/drawingml/2006/main">
              <a:ext uri="{FF2B5EF4-FFF2-40B4-BE49-F238E27FC236}">
                <a16:creationId xmlns:a16="http://schemas.microsoft.com/office/drawing/2014/main" id="{7E4C7618-CA29-457C-9424-36F2A85D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53890"/>
            <a:ext cx="24955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但无法统一解释。</a:t>
            </a:r>
          </a:p>
        </p:txBody>
      </p:sp>
      <p:sp>
        <p:nvSpPr>
          <p:cNvPr id="26" name="bullet-dot-报告能导出">
            <a:extLst xmlns:a="http://schemas.openxmlformats.org/drawingml/2006/main">
              <a:ext uri="{FF2B5EF4-FFF2-40B4-BE49-F238E27FC236}">
                <a16:creationId xmlns:a16="http://schemas.microsoft.com/office/drawing/2014/main" id="{89D6D481-629D-4430-895B-152D39C7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015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7" name="bullet-title-报告能导出">
            <a:extLst xmlns:a="http://schemas.openxmlformats.org/drawingml/2006/main">
              <a:ext uri="{FF2B5EF4-FFF2-40B4-BE49-F238E27FC236}">
                <a16:creationId xmlns:a16="http://schemas.microsoft.com/office/drawing/2014/main" id="{9C47CFAD-C86A-41E7-907D-33E289A1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0154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报告能导出</a:t>
            </a:r>
          </a:p>
        </p:txBody>
      </p:sp>
      <p:sp>
        <p:nvSpPr>
          <p:cNvPr id="28" name="bullet-detail-报告能导出">
            <a:extLst xmlns:a="http://schemas.openxmlformats.org/drawingml/2006/main">
              <a:ext uri="{FF2B5EF4-FFF2-40B4-BE49-F238E27FC236}">
                <a16:creationId xmlns:a16="http://schemas.microsoft.com/office/drawing/2014/main" id="{52836E5F-C4ED-4BD5-BDC0-7C096A84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33950"/>
            <a:ext cx="24955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但不能形成审计闭环。</a:t>
            </a:r>
          </a:p>
        </p:txBody>
      </p:sp>
      <p:sp>
        <p:nvSpPr>
          <p:cNvPr id="29" name="why-deepaudit">
            <a:extLst xmlns:a="http://schemas.openxmlformats.org/drawingml/2006/main">
              <a:ext uri="{FF2B5EF4-FFF2-40B4-BE49-F238E27FC236}">
                <a16:creationId xmlns:a16="http://schemas.microsoft.com/office/drawing/2014/main" id="{982A0860-8923-4229-8DB5-8F136C71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93770"/>
            <a:ext cx="77409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DeepAudit</a:t>
            </a:r>
          </a:p>
        </p:txBody>
      </p:sp>
      <p:sp>
        <p:nvSpPr>
          <p:cNvPr id="30" name="bullet-dot-接入与权限统一">
            <a:extLst xmlns:a="http://schemas.openxmlformats.org/drawingml/2006/main">
              <a:ext uri="{FF2B5EF4-FFF2-40B4-BE49-F238E27FC236}">
                <a16:creationId xmlns:a16="http://schemas.microsoft.com/office/drawing/2014/main" id="{B31A9370-93E6-4F7F-A9E1-70E9A9D2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414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bullet-title-接入与权限统一">
            <a:extLst xmlns:a="http://schemas.openxmlformats.org/drawingml/2006/main">
              <a:ext uri="{FF2B5EF4-FFF2-40B4-BE49-F238E27FC236}">
                <a16:creationId xmlns:a16="http://schemas.microsoft.com/office/drawing/2014/main" id="{E984ED3F-AA56-484B-9754-2E8F0417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74142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接入与权限统一</a:t>
            </a:r>
          </a:p>
        </p:txBody>
      </p:sp>
      <p:sp>
        <p:nvSpPr>
          <p:cNvPr id="32" name="bullet-detail-接入与权限统一">
            <a:extLst xmlns:a="http://schemas.openxmlformats.org/drawingml/2006/main">
              <a:ext uri="{FF2B5EF4-FFF2-40B4-BE49-F238E27FC236}">
                <a16:creationId xmlns:a16="http://schemas.microsoft.com/office/drawing/2014/main" id="{8680C8B9-CDAA-48BF-88F0-5295B3C7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973830"/>
            <a:ext cx="2495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 / ZIP / 成员 / 回收站 / 角色一体化。</a:t>
            </a:r>
          </a:p>
        </p:txBody>
      </p:sp>
      <p:sp>
        <p:nvSpPr>
          <p:cNvPr id="33" name="bullet-dot-分析过程可观测">
            <a:extLst xmlns:a="http://schemas.openxmlformats.org/drawingml/2006/main">
              <a:ext uri="{FF2B5EF4-FFF2-40B4-BE49-F238E27FC236}">
                <a16:creationId xmlns:a16="http://schemas.microsoft.com/office/drawing/2014/main" id="{A00321B6-600B-42A8-BC5E-E2B5BE63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929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34" name="bullet-title-分析过程可观测">
            <a:extLst xmlns:a="http://schemas.openxmlformats.org/drawingml/2006/main">
              <a:ext uri="{FF2B5EF4-FFF2-40B4-BE49-F238E27FC236}">
                <a16:creationId xmlns:a16="http://schemas.microsoft.com/office/drawing/2014/main" id="{11466240-1E46-4FD7-ADD3-102F7173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39293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分析过程可观测</a:t>
            </a:r>
          </a:p>
        </p:txBody>
      </p:sp>
      <p:sp>
        <p:nvSpPr>
          <p:cNvPr id="35" name="bullet-detail-分析过程可观测">
            <a:extLst xmlns:a="http://schemas.openxmlformats.org/drawingml/2006/main">
              <a:ext uri="{FF2B5EF4-FFF2-40B4-BE49-F238E27FC236}">
                <a16:creationId xmlns:a16="http://schemas.microsoft.com/office/drawing/2014/main" id="{40D0AEED-EDFF-4FB1-8703-753AEBFD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625340"/>
            <a:ext cx="2495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thinking、tool、finding、checkpoint 全程回传。</a:t>
            </a:r>
          </a:p>
        </p:txBody>
      </p:sp>
      <p:sp>
        <p:nvSpPr>
          <p:cNvPr id="36" name="bullet-dot-动态沙箱验证">
            <a:extLst xmlns:a="http://schemas.openxmlformats.org/drawingml/2006/main">
              <a:ext uri="{FF2B5EF4-FFF2-40B4-BE49-F238E27FC236}">
                <a16:creationId xmlns:a16="http://schemas.microsoft.com/office/drawing/2014/main" id="{5829422C-861E-4B18-8D82-0A3846B0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444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37" name="bullet-title-动态沙箱验证">
            <a:extLst xmlns:a="http://schemas.openxmlformats.org/drawingml/2006/main">
              <a:ext uri="{FF2B5EF4-FFF2-40B4-BE49-F238E27FC236}">
                <a16:creationId xmlns:a16="http://schemas.microsoft.com/office/drawing/2014/main" id="{A622A3A0-E150-4A38-8252-64B101B1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04444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动态沙箱验证</a:t>
            </a:r>
          </a:p>
        </p:txBody>
      </p:sp>
      <p:sp>
        <p:nvSpPr>
          <p:cNvPr id="38" name="bullet-detail-动态沙箱验证">
            <a:extLst xmlns:a="http://schemas.openxmlformats.org/drawingml/2006/main">
              <a:ext uri="{FF2B5EF4-FFF2-40B4-BE49-F238E27FC236}">
                <a16:creationId xmlns:a16="http://schemas.microsoft.com/office/drawing/2014/main" id="{D40BE48E-9942-4696-8CB4-3A942F0C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276850"/>
            <a:ext cx="2495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LLM 生成 PoC 并在隔离环境中验证，降低误报。</a:t>
            </a:r>
          </a:p>
        </p:txBody>
      </p:sp>
      <p:sp>
        <p:nvSpPr>
          <p:cNvPr id="39" name="bullet-dot-结果可交付">
            <a:extLst xmlns:a="http://schemas.openxmlformats.org/drawingml/2006/main">
              <a:ext uri="{FF2B5EF4-FFF2-40B4-BE49-F238E27FC236}">
                <a16:creationId xmlns:a16="http://schemas.microsoft.com/office/drawing/2014/main" id="{F8A4D374-D558-4B1F-8CA2-BFEB3844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695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40" name="bullet-title-结果可交付">
            <a:extLst xmlns:a="http://schemas.openxmlformats.org/drawingml/2006/main">
              <a:ext uri="{FF2B5EF4-FFF2-40B4-BE49-F238E27FC236}">
                <a16:creationId xmlns:a16="http://schemas.microsoft.com/office/drawing/2014/main" id="{D5E2E97E-77BE-403D-A685-F81EDC0B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695950"/>
            <a:ext cx="24955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结果可交付</a:t>
            </a:r>
          </a:p>
        </p:txBody>
      </p:sp>
      <p:sp>
        <p:nvSpPr>
          <p:cNvPr id="41" name="bullet-detail-结果可交付">
            <a:extLst xmlns:a="http://schemas.openxmlformats.org/drawingml/2006/main">
              <a:ext uri="{FF2B5EF4-FFF2-40B4-BE49-F238E27FC236}">
                <a16:creationId xmlns:a16="http://schemas.microsoft.com/office/drawing/2014/main" id="{5C2A5BCB-8697-4A07-8E02-B73FADE1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928360"/>
            <a:ext cx="2495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报告页、PDF / JSON 导出、Dashboard 可直接演示。</a:t>
            </a:r>
          </a:p>
        </p:txBody>
      </p:sp>
    </p:spTree>
    <p:extLst>
      <p:ext uri="{BB962C8B-B14F-4D97-AF65-F5344CB8AC3E}">
        <p14:creationId xmlns:p14="http://schemas.microsoft.com/office/powerpoint/2010/main" val="997312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现有功能与对象分工">
            <a:extLst xmlns:a="http://schemas.openxmlformats.org/drawingml/2006/main">
              <a:ext uri="{FF2B5EF4-FFF2-40B4-BE49-F238E27FC236}">
                <a16:creationId xmlns:a16="http://schemas.microsoft.com/office/drawing/2014/main" id="{82B31EF7-73D6-409F-861A-069B38B8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376172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FEATURE PANORAMA</a:t>
            </a:r>
          </a:p>
        </p:txBody>
      </p:sp>
      <p:sp>
        <p:nvSpPr>
          <p:cNvPr id="2" name="header-title-现有功能与对象分工">
            <a:extLst xmlns:a="http://schemas.openxmlformats.org/drawingml/2006/main">
              <a:ext uri="{FF2B5EF4-FFF2-40B4-BE49-F238E27FC236}">
                <a16:creationId xmlns:a16="http://schemas.microsoft.com/office/drawing/2014/main" id="{FD3DF831-0F56-4D3F-9E26-63D0F662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现有功能与对象分工</a:t>
            </a:r>
          </a:p>
        </p:txBody>
      </p:sp>
      <p:sp>
        <p:nvSpPr>
          <p:cNvPr id="3" name="header-subtitle-现有功能与对象分工">
            <a:extLst xmlns:a="http://schemas.openxmlformats.org/drawingml/2006/main">
              <a:ext uri="{FF2B5EF4-FFF2-40B4-BE49-F238E27FC236}">
                <a16:creationId xmlns:a16="http://schemas.microsoft.com/office/drawing/2014/main" id="{D8F393A1-1878-42CE-9EE8-DA623D6B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已经形成“接入—分析—治理—交付”的完整链路，并围绕项目、任务、策略、知识和报告对象化管理。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1A119324-DD0E-4E29-A1DF-A6DEFC69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stage-num-01">
            <a:extLst xmlns:a="http://schemas.openxmlformats.org/drawingml/2006/main">
              <a:ext uri="{FF2B5EF4-FFF2-40B4-BE49-F238E27FC236}">
                <a16:creationId xmlns:a16="http://schemas.microsoft.com/office/drawing/2014/main" id="{4B2CD71D-B2D8-43BA-8D68-3F20493A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366998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6" name="stage-title-项目接入">
            <a:extLst xmlns:a="http://schemas.openxmlformats.org/drawingml/2006/main">
              <a:ext uri="{FF2B5EF4-FFF2-40B4-BE49-F238E27FC236}">
                <a16:creationId xmlns:a16="http://schemas.microsoft.com/office/drawing/2014/main" id="{36184E24-C297-4D40-BAEB-2A2FEB11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61260"/>
            <a:ext cx="99060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项目接入</a:t>
            </a:r>
          </a:p>
        </p:txBody>
      </p:sp>
      <p:sp>
        <p:nvSpPr>
          <p:cNvPr id="7" name="stage-rule-项目接入">
            <a:extLst xmlns:a="http://schemas.openxmlformats.org/drawingml/2006/main">
              <a:ext uri="{FF2B5EF4-FFF2-40B4-BE49-F238E27FC236}">
                <a16:creationId xmlns:a16="http://schemas.microsoft.com/office/drawing/2014/main" id="{17901C9F-9D32-4A0E-9A21-3C87E1F4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369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8" name="bullet-dot-仓库-zip-分支">
            <a:extLst xmlns:a="http://schemas.openxmlformats.org/drawingml/2006/main">
              <a:ext uri="{FF2B5EF4-FFF2-40B4-BE49-F238E27FC236}">
                <a16:creationId xmlns:a16="http://schemas.microsoft.com/office/drawing/2014/main" id="{CEB4DEB2-9A64-4159-89D5-C092F957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6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9" name="bullet-title-仓库-zip-分支">
            <a:extLst xmlns:a="http://schemas.openxmlformats.org/drawingml/2006/main">
              <a:ext uri="{FF2B5EF4-FFF2-40B4-BE49-F238E27FC236}">
                <a16:creationId xmlns:a16="http://schemas.microsoft.com/office/drawing/2014/main" id="{048FC641-657C-4784-AE49-5AFAB9E1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799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仓库 / ZIP / 分支</a:t>
            </a:r>
          </a:p>
        </p:txBody>
      </p:sp>
      <p:sp>
        <p:nvSpPr>
          <p:cNvPr id="10" name="bullet-detail-仓库-zip-分支">
            <a:extLst xmlns:a="http://schemas.openxmlformats.org/drawingml/2006/main">
              <a:ext uri="{FF2B5EF4-FFF2-40B4-BE49-F238E27FC236}">
                <a16:creationId xmlns:a16="http://schemas.microsoft.com/office/drawing/2014/main" id="{D68B714F-C7FE-40E7-B121-A21D7AEF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兼容仓库拉取和离线包导入，统一代码上下文。</a:t>
            </a:r>
          </a:p>
        </p:txBody>
      </p:sp>
      <p:sp>
        <p:nvSpPr>
          <p:cNvPr id="11" name="bullet-dot-成员-权限">
            <a:extLst xmlns:a="http://schemas.openxmlformats.org/drawingml/2006/main">
              <a:ext uri="{FF2B5EF4-FFF2-40B4-BE49-F238E27FC236}">
                <a16:creationId xmlns:a16="http://schemas.microsoft.com/office/drawing/2014/main" id="{A4558817-8EC8-4E33-9ECB-B0D12D40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bullet-title-成员-权限">
            <a:extLst xmlns:a="http://schemas.openxmlformats.org/drawingml/2006/main">
              <a:ext uri="{FF2B5EF4-FFF2-40B4-BE49-F238E27FC236}">
                <a16:creationId xmlns:a16="http://schemas.microsoft.com/office/drawing/2014/main" id="{EAE01489-53F9-4C26-BF45-2886E4C8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成员 / 权限</a:t>
            </a:r>
          </a:p>
        </p:txBody>
      </p:sp>
      <p:sp>
        <p:nvSpPr>
          <p:cNvPr id="13" name="bullet-detail-成员-权限">
            <a:extLst xmlns:a="http://schemas.openxmlformats.org/drawingml/2006/main">
              <a:ext uri="{FF2B5EF4-FFF2-40B4-BE49-F238E27FC236}">
                <a16:creationId xmlns:a16="http://schemas.microsoft.com/office/drawing/2014/main" id="{B4B39AF0-EE7E-4507-89B5-F3EBBB11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7096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项目拥有者、成员角色和页面级访问码一起控制可见性。</a:t>
            </a:r>
          </a:p>
        </p:txBody>
      </p:sp>
      <p:sp>
        <p:nvSpPr>
          <p:cNvPr id="14" name="bullet-dot-回收站-工作区">
            <a:extLst xmlns:a="http://schemas.openxmlformats.org/drawingml/2006/main">
              <a:ext uri="{FF2B5EF4-FFF2-40B4-BE49-F238E27FC236}">
                <a16:creationId xmlns:a16="http://schemas.microsoft.com/office/drawing/2014/main" id="{08E48567-B0D4-418C-A5B1-95594ABE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9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5" name="bullet-title-回收站-工作区">
            <a:extLst xmlns:a="http://schemas.openxmlformats.org/drawingml/2006/main">
              <a:ext uri="{FF2B5EF4-FFF2-40B4-BE49-F238E27FC236}">
                <a16:creationId xmlns:a16="http://schemas.microsoft.com/office/drawing/2014/main" id="{FD96DB20-4791-4D26-A581-526FA199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911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回收站 / 工作区</a:t>
            </a:r>
          </a:p>
        </p:txBody>
      </p:sp>
      <p:sp>
        <p:nvSpPr>
          <p:cNvPr id="16" name="bullet-detail-回收站-工作区">
            <a:extLst xmlns:a="http://schemas.openxmlformats.org/drawingml/2006/main">
              <a:ext uri="{FF2B5EF4-FFF2-40B4-BE49-F238E27FC236}">
                <a16:creationId xmlns:a16="http://schemas.microsoft.com/office/drawing/2014/main" id="{3D8FDB97-18C2-4188-A8F1-EA7C9193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4152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项目可恢复，运行时 workspace 独立准备和清理。</a:t>
            </a:r>
          </a:p>
        </p:txBody>
      </p:sp>
      <p:sp>
        <p:nvSpPr>
          <p:cNvPr id="17" name="stage-num-02">
            <a:extLst xmlns:a="http://schemas.openxmlformats.org/drawingml/2006/main">
              <a:ext uri="{FF2B5EF4-FFF2-40B4-BE49-F238E27FC236}">
                <a16:creationId xmlns:a16="http://schemas.microsoft.com/office/drawing/2014/main" id="{BB8B5380-E1C1-4DC8-AB3F-0A967542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0250"/>
            <a:ext cx="366998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8" name="stage-title-审计能力">
            <a:extLst xmlns:a="http://schemas.openxmlformats.org/drawingml/2006/main">
              <a:ext uri="{FF2B5EF4-FFF2-40B4-BE49-F238E27FC236}">
                <a16:creationId xmlns:a16="http://schemas.microsoft.com/office/drawing/2014/main" id="{893445A9-D8AD-479E-9785-BE9823C7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461260"/>
            <a:ext cx="99060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审计能力</a:t>
            </a:r>
          </a:p>
        </p:txBody>
      </p:sp>
      <p:sp>
        <p:nvSpPr>
          <p:cNvPr id="19" name="stage-rule-审计能力">
            <a:extLst xmlns:a="http://schemas.openxmlformats.org/drawingml/2006/main">
              <a:ext uri="{FF2B5EF4-FFF2-40B4-BE49-F238E27FC236}">
                <a16:creationId xmlns:a16="http://schemas.microsoft.com/office/drawing/2014/main" id="{A19C569C-7248-4A89-8F03-0FA679A9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369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20" name="bullet-dot-传统扫描">
            <a:extLst xmlns:a="http://schemas.openxmlformats.org/drawingml/2006/main">
              <a:ext uri="{FF2B5EF4-FFF2-40B4-BE49-F238E27FC236}">
                <a16:creationId xmlns:a16="http://schemas.microsoft.com/office/drawing/2014/main" id="{AB9A1B86-979B-43C6-B6C6-0441812C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6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1" name="bullet-title-传统扫描">
            <a:extLst xmlns:a="http://schemas.openxmlformats.org/drawingml/2006/main">
              <a:ext uri="{FF2B5EF4-FFF2-40B4-BE49-F238E27FC236}">
                <a16:creationId xmlns:a16="http://schemas.microsoft.com/office/drawing/2014/main" id="{4C5862C7-43A7-402D-8C85-31987184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6799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传统扫描</a:t>
            </a:r>
          </a:p>
        </p:txBody>
      </p:sp>
      <p:sp>
        <p:nvSpPr>
          <p:cNvPr id="22" name="bullet-detail-传统扫描">
            <a:extLst xmlns:a="http://schemas.openxmlformats.org/drawingml/2006/main">
              <a:ext uri="{FF2B5EF4-FFF2-40B4-BE49-F238E27FC236}">
                <a16:creationId xmlns:a16="http://schemas.microsoft.com/office/drawing/2014/main" id="{9758338C-D2DE-4A1B-9370-A917634A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00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仓库扫描、ZIP 扫描、即时分析三条入口并行。</a:t>
            </a:r>
          </a:p>
        </p:txBody>
      </p:sp>
      <p:sp>
        <p:nvSpPr>
          <p:cNvPr id="23" name="bullet-dot-agent-审计">
            <a:extLst xmlns:a="http://schemas.openxmlformats.org/drawingml/2006/main">
              <a:ext uri="{FF2B5EF4-FFF2-40B4-BE49-F238E27FC236}">
                <a16:creationId xmlns:a16="http://schemas.microsoft.com/office/drawing/2014/main" id="{E10C65ED-127C-4B8D-9E4A-B041FA69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24" name="bullet-title-agent-审计">
            <a:extLst xmlns:a="http://schemas.openxmlformats.org/drawingml/2006/main">
              <a:ext uri="{FF2B5EF4-FFF2-40B4-BE49-F238E27FC236}">
                <a16:creationId xmlns:a16="http://schemas.microsoft.com/office/drawing/2014/main" id="{D897FA37-6949-4C04-8061-16084F38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3855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Agent 审计</a:t>
            </a:r>
          </a:p>
        </p:txBody>
      </p:sp>
      <p:sp>
        <p:nvSpPr>
          <p:cNvPr id="25" name="bullet-detail-agent-审计">
            <a:extLst xmlns:a="http://schemas.openxmlformats.org/drawingml/2006/main">
              <a:ext uri="{FF2B5EF4-FFF2-40B4-BE49-F238E27FC236}">
                <a16:creationId xmlns:a16="http://schemas.microsoft.com/office/drawing/2014/main" id="{F907D049-7A19-492D-867F-72D1B985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87096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多智能体推理、事件流、检查点和恢复机制一体化。</a:t>
            </a:r>
          </a:p>
        </p:txBody>
      </p:sp>
      <p:sp>
        <p:nvSpPr>
          <p:cNvPr id="26" name="bullet-dot-结果聚合">
            <a:extLst xmlns:a="http://schemas.openxmlformats.org/drawingml/2006/main">
              <a:ext uri="{FF2B5EF4-FFF2-40B4-BE49-F238E27FC236}">
                <a16:creationId xmlns:a16="http://schemas.microsoft.com/office/drawing/2014/main" id="{0D819D58-2304-4B43-AA1F-657A230C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09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27" name="bullet-title-结果聚合">
            <a:extLst xmlns:a="http://schemas.openxmlformats.org/drawingml/2006/main">
              <a:ext uri="{FF2B5EF4-FFF2-40B4-BE49-F238E27FC236}">
                <a16:creationId xmlns:a16="http://schemas.microsoft.com/office/drawing/2014/main" id="{B029A2D6-86B2-4E59-B6A9-85BA2A75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30911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结果聚合</a:t>
            </a:r>
          </a:p>
        </p:txBody>
      </p:sp>
      <p:sp>
        <p:nvSpPr>
          <p:cNvPr id="28" name="bullet-detail-结果聚合">
            <a:extLst xmlns:a="http://schemas.openxmlformats.org/drawingml/2006/main">
              <a:ext uri="{FF2B5EF4-FFF2-40B4-BE49-F238E27FC236}">
                <a16:creationId xmlns:a16="http://schemas.microsoft.com/office/drawing/2014/main" id="{2DC9F8F0-2934-4045-A999-CA3773A0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4152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问题、Finding、摘要和报告统一收束。</a:t>
            </a:r>
          </a:p>
        </p:txBody>
      </p:sp>
      <p:sp>
        <p:nvSpPr>
          <p:cNvPr id="29" name="stage-num-03">
            <a:extLst xmlns:a="http://schemas.openxmlformats.org/drawingml/2006/main">
              <a:ext uri="{FF2B5EF4-FFF2-40B4-BE49-F238E27FC236}">
                <a16:creationId xmlns:a16="http://schemas.microsoft.com/office/drawing/2014/main" id="{0D4A2EFE-6F05-4CCF-A8D9-61C5104F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000250"/>
            <a:ext cx="366998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0" name="stage-title-策略治理">
            <a:extLst xmlns:a="http://schemas.openxmlformats.org/drawingml/2006/main">
              <a:ext uri="{FF2B5EF4-FFF2-40B4-BE49-F238E27FC236}">
                <a16:creationId xmlns:a16="http://schemas.microsoft.com/office/drawing/2014/main" id="{8FBA0304-6020-4BA5-89F5-5C3B731C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61260"/>
            <a:ext cx="99060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策略治理</a:t>
            </a:r>
          </a:p>
        </p:txBody>
      </p:sp>
      <p:sp>
        <p:nvSpPr>
          <p:cNvPr id="31" name="stage-rule-策略治理">
            <a:extLst xmlns:a="http://schemas.openxmlformats.org/drawingml/2006/main">
              <a:ext uri="{FF2B5EF4-FFF2-40B4-BE49-F238E27FC236}">
                <a16:creationId xmlns:a16="http://schemas.microsoft.com/office/drawing/2014/main" id="{9CA264D2-B89E-4AE0-83D2-761CCE3C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5369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32" name="bullet-dot-规则集-规则">
            <a:extLst xmlns:a="http://schemas.openxmlformats.org/drawingml/2006/main">
              <a:ext uri="{FF2B5EF4-FFF2-40B4-BE49-F238E27FC236}">
                <a16:creationId xmlns:a16="http://schemas.microsoft.com/office/drawing/2014/main" id="{A77FDFFA-054A-4227-9175-E1654FDA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6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3" name="bullet-title-规则集-规则">
            <a:extLst xmlns:a="http://schemas.openxmlformats.org/drawingml/2006/main">
              <a:ext uri="{FF2B5EF4-FFF2-40B4-BE49-F238E27FC236}">
                <a16:creationId xmlns:a16="http://schemas.microsoft.com/office/drawing/2014/main" id="{621FF25E-C2C2-4272-87D8-F5D00DF8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6799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规则集 / 规则</a:t>
            </a:r>
          </a:p>
        </p:txBody>
      </p:sp>
      <p:sp>
        <p:nvSpPr>
          <p:cNvPr id="34" name="bullet-detail-规则集-规则">
            <a:extLst xmlns:a="http://schemas.openxmlformats.org/drawingml/2006/main">
              <a:ext uri="{FF2B5EF4-FFF2-40B4-BE49-F238E27FC236}">
                <a16:creationId xmlns:a16="http://schemas.microsoft.com/office/drawing/2014/main" id="{C540E324-ABFF-4F41-8795-B18F2348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00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规则粒度、适用范围和命中策略可配置。</a:t>
            </a:r>
          </a:p>
        </p:txBody>
      </p:sp>
      <p:sp>
        <p:nvSpPr>
          <p:cNvPr id="35" name="bullet-dot-提示词模板">
            <a:extLst xmlns:a="http://schemas.openxmlformats.org/drawingml/2006/main">
              <a:ext uri="{FF2B5EF4-FFF2-40B4-BE49-F238E27FC236}">
                <a16:creationId xmlns:a16="http://schemas.microsoft.com/office/drawing/2014/main" id="{276B7516-92C4-4CC9-AFC2-D02ACC5B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36" name="bullet-title-提示词模板">
            <a:extLst xmlns:a="http://schemas.openxmlformats.org/drawingml/2006/main">
              <a:ext uri="{FF2B5EF4-FFF2-40B4-BE49-F238E27FC236}">
                <a16:creationId xmlns:a16="http://schemas.microsoft.com/office/drawing/2014/main" id="{636F1567-30B9-45F9-A4D3-87905F15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3855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提示词模板</a:t>
            </a:r>
          </a:p>
        </p:txBody>
      </p:sp>
      <p:sp>
        <p:nvSpPr>
          <p:cNvPr id="37" name="bullet-detail-提示词模板">
            <a:extLst xmlns:a="http://schemas.openxmlformats.org/drawingml/2006/main">
              <a:ext uri="{FF2B5EF4-FFF2-40B4-BE49-F238E27FC236}">
                <a16:creationId xmlns:a16="http://schemas.microsoft.com/office/drawing/2014/main" id="{2C71EEB4-9F34-4115-8AF5-FD04DD75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70960"/>
            <a:ext cx="2305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把模型交互方式固化成可复用模板。</a:t>
            </a:r>
          </a:p>
        </p:txBody>
      </p:sp>
      <p:sp>
        <p:nvSpPr>
          <p:cNvPr id="38" name="bullet-dot-rag-系统配置">
            <a:extLst xmlns:a="http://schemas.openxmlformats.org/drawingml/2006/main">
              <a:ext uri="{FF2B5EF4-FFF2-40B4-BE49-F238E27FC236}">
                <a16:creationId xmlns:a16="http://schemas.microsoft.com/office/drawing/2014/main" id="{C44B5D49-FF20-4C1C-8CEB-EE767653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3766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39" name="bullet-title-rag-系统配置">
            <a:extLst xmlns:a="http://schemas.openxmlformats.org/drawingml/2006/main">
              <a:ext uri="{FF2B5EF4-FFF2-40B4-BE49-F238E27FC236}">
                <a16:creationId xmlns:a16="http://schemas.microsoft.com/office/drawing/2014/main" id="{6AF7D13A-DAB8-432E-B287-109FEA0E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13766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RAG / 系统配置</a:t>
            </a:r>
          </a:p>
        </p:txBody>
      </p:sp>
      <p:sp>
        <p:nvSpPr>
          <p:cNvPr id="40" name="bullet-detail-rag-系统配置">
            <a:extLst xmlns:a="http://schemas.openxmlformats.org/drawingml/2006/main">
              <a:ext uri="{FF2B5EF4-FFF2-40B4-BE49-F238E27FC236}">
                <a16:creationId xmlns:a16="http://schemas.microsoft.com/office/drawing/2014/main" id="{9699234C-478E-47E1-A73B-CD5E3DA9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7007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知识库、LLM、Embedding、SSH 和系统参数统一治理。</a:t>
            </a:r>
          </a:p>
        </p:txBody>
      </p:sp>
      <p:sp>
        <p:nvSpPr>
          <p:cNvPr id="41" name="stage-num-04">
            <a:extLst xmlns:a="http://schemas.openxmlformats.org/drawingml/2006/main">
              <a:ext uri="{FF2B5EF4-FFF2-40B4-BE49-F238E27FC236}">
                <a16:creationId xmlns:a16="http://schemas.microsoft.com/office/drawing/2014/main" id="{C5D73958-22A5-47EF-9B7F-AE1ED39B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00250"/>
            <a:ext cx="366998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2" name="stage-title-结果交付">
            <a:extLst xmlns:a="http://schemas.openxmlformats.org/drawingml/2006/main">
              <a:ext uri="{FF2B5EF4-FFF2-40B4-BE49-F238E27FC236}">
                <a16:creationId xmlns:a16="http://schemas.microsoft.com/office/drawing/2014/main" id="{8F1E2A8D-C627-4786-B7E6-A6753C68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61260"/>
            <a:ext cx="99060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结果交付</a:t>
            </a:r>
          </a:p>
        </p:txBody>
      </p:sp>
      <p:sp>
        <p:nvSpPr>
          <p:cNvPr id="43" name="stage-rule-结果交付">
            <a:extLst xmlns:a="http://schemas.openxmlformats.org/drawingml/2006/main">
              <a:ext uri="{FF2B5EF4-FFF2-40B4-BE49-F238E27FC236}">
                <a16:creationId xmlns:a16="http://schemas.microsoft.com/office/drawing/2014/main" id="{62CDE9AC-CC31-4D2C-A75D-3DE2A50A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5369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44" name="bullet-dot-dashboard">
            <a:extLst xmlns:a="http://schemas.openxmlformats.org/drawingml/2006/main">
              <a:ext uri="{FF2B5EF4-FFF2-40B4-BE49-F238E27FC236}">
                <a16:creationId xmlns:a16="http://schemas.microsoft.com/office/drawing/2014/main" id="{A7C974C7-C414-4505-8D35-E5CC8A5E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6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45" name="bullet-title-dashboard">
            <a:extLst xmlns:a="http://schemas.openxmlformats.org/drawingml/2006/main">
              <a:ext uri="{FF2B5EF4-FFF2-40B4-BE49-F238E27FC236}">
                <a16:creationId xmlns:a16="http://schemas.microsoft.com/office/drawing/2014/main" id="{5FEE1AE1-EB0B-4406-BF3D-56E1D9CE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6799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Dashboard</a:t>
            </a:r>
          </a:p>
        </p:txBody>
      </p:sp>
      <p:sp>
        <p:nvSpPr>
          <p:cNvPr id="46" name="bullet-detail-dashboard">
            <a:extLst xmlns:a="http://schemas.openxmlformats.org/drawingml/2006/main">
              <a:ext uri="{FF2B5EF4-FFF2-40B4-BE49-F238E27FC236}">
                <a16:creationId xmlns:a16="http://schemas.microsoft.com/office/drawing/2014/main" id="{F20044D2-8449-43A6-AE76-B5977596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00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总览、最近项目、任务统计和运行状态。</a:t>
            </a:r>
          </a:p>
        </p:txBody>
      </p:sp>
      <p:sp>
        <p:nvSpPr>
          <p:cNvPr id="47" name="bullet-dot-任务详情">
            <a:extLst xmlns:a="http://schemas.openxmlformats.org/drawingml/2006/main">
              <a:ext uri="{FF2B5EF4-FFF2-40B4-BE49-F238E27FC236}">
                <a16:creationId xmlns:a16="http://schemas.microsoft.com/office/drawing/2014/main" id="{CDB32C17-5265-4A2A-A54A-268C3D2A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48" name="bullet-title-任务详情">
            <a:extLst xmlns:a="http://schemas.openxmlformats.org/drawingml/2006/main">
              <a:ext uri="{FF2B5EF4-FFF2-40B4-BE49-F238E27FC236}">
                <a16:creationId xmlns:a16="http://schemas.microsoft.com/office/drawing/2014/main" id="{B496FC1F-A59D-4307-92D6-AA895AA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3855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任务详情</a:t>
            </a:r>
          </a:p>
        </p:txBody>
      </p:sp>
      <p:sp>
        <p:nvSpPr>
          <p:cNvPr id="49" name="bullet-detail-任务详情">
            <a:extLst xmlns:a="http://schemas.openxmlformats.org/drawingml/2006/main">
              <a:ext uri="{FF2B5EF4-FFF2-40B4-BE49-F238E27FC236}">
                <a16:creationId xmlns:a16="http://schemas.microsoft.com/office/drawing/2014/main" id="{786EE692-C572-46DE-A960-2494E2DD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7096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问题定位、过程回放、阶段结果统一查看。</a:t>
            </a:r>
          </a:p>
        </p:txBody>
      </p:sp>
      <p:sp>
        <p:nvSpPr>
          <p:cNvPr id="50" name="bullet-dot-pdf-json">
            <a:extLst xmlns:a="http://schemas.openxmlformats.org/drawingml/2006/main">
              <a:ext uri="{FF2B5EF4-FFF2-40B4-BE49-F238E27FC236}">
                <a16:creationId xmlns:a16="http://schemas.microsoft.com/office/drawing/2014/main" id="{B522A1EA-66EC-4A1E-BD50-B7D2E532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309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51" name="bullet-title-pdf-json">
            <a:extLst xmlns:a="http://schemas.openxmlformats.org/drawingml/2006/main">
              <a:ext uri="{FF2B5EF4-FFF2-40B4-BE49-F238E27FC236}">
                <a16:creationId xmlns:a16="http://schemas.microsoft.com/office/drawing/2014/main" id="{6B200F6A-12D7-498A-B991-3BBD05ED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09110"/>
            <a:ext cx="23050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PDF / JSON</a:t>
            </a:r>
          </a:p>
        </p:txBody>
      </p:sp>
      <p:sp>
        <p:nvSpPr>
          <p:cNvPr id="52" name="bullet-detail-pdf-json">
            <a:extLst xmlns:a="http://schemas.openxmlformats.org/drawingml/2006/main">
              <a:ext uri="{FF2B5EF4-FFF2-40B4-BE49-F238E27FC236}">
                <a16:creationId xmlns:a16="http://schemas.microsoft.com/office/drawing/2014/main" id="{0F390B5D-ECC1-4BD4-B5FA-035553FE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54152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输出标准化报告，适合汇报、留档和复盘。</a:t>
            </a:r>
          </a:p>
        </p:txBody>
      </p:sp>
      <p:sp>
        <p:nvSpPr>
          <p:cNvPr id="53" name="panorama-model-kicker">
            <a:extLst xmlns:a="http://schemas.openxmlformats.org/drawingml/2006/main">
              <a:ext uri="{FF2B5EF4-FFF2-40B4-BE49-F238E27FC236}">
                <a16:creationId xmlns:a16="http://schemas.microsoft.com/office/drawing/2014/main" id="{5863E0E9-A87E-47E8-B427-E22DC4E4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55870"/>
            <a:ext cx="9334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对象模型与主链</a:t>
            </a:r>
          </a:p>
        </p:txBody>
      </p:sp>
      <p:sp>
        <p:nvSpPr>
          <p:cNvPr id="54" name="chip-auditproject">
            <a:extLst xmlns:a="http://schemas.openxmlformats.org/drawingml/2006/main">
              <a:ext uri="{FF2B5EF4-FFF2-40B4-BE49-F238E27FC236}">
                <a16:creationId xmlns:a16="http://schemas.microsoft.com/office/drawing/2014/main" id="{2DD447E2-1EEB-4FF8-8EC8-2927334C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75910"/>
            <a:ext cx="254377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14000"/>
            </a:srgbClr>
          </a:solidFill>
          <a:ln xmlns:a="http://schemas.openxmlformats.org/drawingml/2006/main" w="9525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5" name="chip-text-auditproject">
            <a:extLst xmlns:a="http://schemas.openxmlformats.org/drawingml/2006/main">
              <a:ext uri="{FF2B5EF4-FFF2-40B4-BE49-F238E27FC236}">
                <a16:creationId xmlns:a16="http://schemas.microsoft.com/office/drawing/2014/main" id="{419248D1-7244-4D79-8509-E72CFC12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511" y="537591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AuditProject</a:t>
            </a:r>
          </a:p>
        </p:txBody>
      </p:sp>
      <p:sp>
        <p:nvSpPr>
          <p:cNvPr id="56" name="panorama-arrow-1">
            <a:extLst xmlns:a="http://schemas.openxmlformats.org/drawingml/2006/main">
              <a:ext uri="{FF2B5EF4-FFF2-40B4-BE49-F238E27FC236}">
                <a16:creationId xmlns:a16="http://schemas.microsoft.com/office/drawing/2014/main" id="{77CAE3D1-B04F-4191-89E5-2D020150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420" y="5330190"/>
            <a:ext cx="126206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57" name="chip-audittask-agenttask">
            <a:extLst xmlns:a="http://schemas.openxmlformats.org/drawingml/2006/main">
              <a:ext uri="{FF2B5EF4-FFF2-40B4-BE49-F238E27FC236}">
                <a16:creationId xmlns:a16="http://schemas.microsoft.com/office/drawing/2014/main" id="{EFD43A7A-F5AC-4AD1-8AEF-1FF808B1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3877" y="5375910"/>
            <a:ext cx="254377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8" name="chip-text-audittask-agenttask">
            <a:extLst xmlns:a="http://schemas.openxmlformats.org/drawingml/2006/main">
              <a:ext uri="{FF2B5EF4-FFF2-40B4-BE49-F238E27FC236}">
                <a16:creationId xmlns:a16="http://schemas.microsoft.com/office/drawing/2014/main" id="{FA0BD185-A03A-4F62-BDEA-7738C230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656" y="5375910"/>
            <a:ext cx="1686211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AuditTask / AgentTask</a:t>
            </a:r>
          </a:p>
        </p:txBody>
      </p:sp>
      <p:sp>
        <p:nvSpPr>
          <p:cNvPr id="59" name="panorama-arrow-2">
            <a:extLst xmlns:a="http://schemas.openxmlformats.org/drawingml/2006/main">
              <a:ext uri="{FF2B5EF4-FFF2-40B4-BE49-F238E27FC236}">
                <a16:creationId xmlns:a16="http://schemas.microsoft.com/office/drawing/2014/main" id="{558C4E94-8479-4F4D-AF04-F176635F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897" y="5330190"/>
            <a:ext cx="126206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60" name="chip-auditissue-agentfinding">
            <a:extLst xmlns:a="http://schemas.openxmlformats.org/drawingml/2006/main">
              <a:ext uri="{FF2B5EF4-FFF2-40B4-BE49-F238E27FC236}">
                <a16:creationId xmlns:a16="http://schemas.microsoft.com/office/drawing/2014/main" id="{51111241-C5A3-4DF9-9AAF-CC2AD32B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353" y="5375910"/>
            <a:ext cx="254377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1" name="chip-text-auditissue-agentfinding">
            <a:extLst xmlns:a="http://schemas.openxmlformats.org/drawingml/2006/main">
              <a:ext uri="{FF2B5EF4-FFF2-40B4-BE49-F238E27FC236}">
                <a16:creationId xmlns:a16="http://schemas.microsoft.com/office/drawing/2014/main" id="{33779F5B-7DB6-4E03-BE30-B3B955E4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41" y="5375910"/>
            <a:ext cx="2007394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AuditIssue / AgentFinding</a:t>
            </a:r>
          </a:p>
        </p:txBody>
      </p:sp>
      <p:sp>
        <p:nvSpPr>
          <p:cNvPr id="62" name="panorama-arrow-3">
            <a:extLst xmlns:a="http://schemas.openxmlformats.org/drawingml/2006/main">
              <a:ext uri="{FF2B5EF4-FFF2-40B4-BE49-F238E27FC236}">
                <a16:creationId xmlns:a16="http://schemas.microsoft.com/office/drawing/2014/main" id="{14194E07-1D00-477B-B3EE-532DEB81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373" y="5330190"/>
            <a:ext cx="126206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63" name="chip-auditartifact-report">
            <a:extLst xmlns:a="http://schemas.openxmlformats.org/drawingml/2006/main">
              <a:ext uri="{FF2B5EF4-FFF2-40B4-BE49-F238E27FC236}">
                <a16:creationId xmlns:a16="http://schemas.microsoft.com/office/drawing/2014/main" id="{1BF34765-E81C-4D3E-84C3-CF6A6C9A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4830" y="5375910"/>
            <a:ext cx="254377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4" name="chip-text-auditartifact-report">
            <a:extLst xmlns:a="http://schemas.openxmlformats.org/drawingml/2006/main">
              <a:ext uri="{FF2B5EF4-FFF2-40B4-BE49-F238E27FC236}">
                <a16:creationId xmlns:a16="http://schemas.microsoft.com/office/drawing/2014/main" id="{D29DA312-A2F4-4D6C-8BA4-869AF21C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3462" y="5375910"/>
            <a:ext cx="176650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AuditArtifact / Report</a:t>
            </a:r>
          </a:p>
        </p:txBody>
      </p:sp>
      <p:sp>
        <p:nvSpPr>
          <p:cNvPr id="65" name="chip-auditruleset">
            <a:extLst xmlns:a="http://schemas.openxmlformats.org/drawingml/2006/main">
              <a:ext uri="{FF2B5EF4-FFF2-40B4-BE49-F238E27FC236}">
                <a16:creationId xmlns:a16="http://schemas.microsoft.com/office/drawing/2014/main" id="{86AF2E4D-AE07-4125-962E-DFF871E4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14000"/>
            </a:srgbClr>
          </a:solidFill>
          <a:ln xmlns:a="http://schemas.openxmlformats.org/drawingml/2006/main" w="9525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66" name="chip-text-auditruleset">
            <a:extLst xmlns:a="http://schemas.openxmlformats.org/drawingml/2006/main">
              <a:ext uri="{FF2B5EF4-FFF2-40B4-BE49-F238E27FC236}">
                <a16:creationId xmlns:a16="http://schemas.microsoft.com/office/drawing/2014/main" id="{E8F0CC32-8B9A-4FF1-A372-3C2DE21B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665" y="569595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AuditRuleSet</a:t>
            </a:r>
          </a:p>
        </p:txBody>
      </p:sp>
      <p:sp>
        <p:nvSpPr>
          <p:cNvPr id="67" name="chip-prompttemplate">
            <a:extLst xmlns:a="http://schemas.openxmlformats.org/drawingml/2006/main">
              <a:ext uri="{FF2B5EF4-FFF2-40B4-BE49-F238E27FC236}">
                <a16:creationId xmlns:a16="http://schemas.microsoft.com/office/drawing/2014/main" id="{B713B0AA-EC13-43E5-9ED9-5E4D22A1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8" name="chip-text-prompttemplate">
            <a:extLst xmlns:a="http://schemas.openxmlformats.org/drawingml/2006/main">
              <a:ext uri="{FF2B5EF4-FFF2-40B4-BE49-F238E27FC236}">
                <a16:creationId xmlns:a16="http://schemas.microsoft.com/office/drawing/2014/main" id="{BD309240-6728-4BBC-B7E7-EEBB823B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650" y="5695950"/>
            <a:ext cx="1124141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PromptTemplate</a:t>
            </a:r>
          </a:p>
        </p:txBody>
      </p:sp>
      <p:sp>
        <p:nvSpPr>
          <p:cNvPr id="69" name="chip-rag-knowledge">
            <a:extLst xmlns:a="http://schemas.openxmlformats.org/drawingml/2006/main">
              <a:ext uri="{FF2B5EF4-FFF2-40B4-BE49-F238E27FC236}">
                <a16:creationId xmlns:a16="http://schemas.microsoft.com/office/drawing/2014/main" id="{B97A3383-B772-4361-B76D-201A9371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396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0" name="chip-text-rag-knowledge">
            <a:extLst xmlns:a="http://schemas.openxmlformats.org/drawingml/2006/main">
              <a:ext uri="{FF2B5EF4-FFF2-40B4-BE49-F238E27FC236}">
                <a16:creationId xmlns:a16="http://schemas.microsoft.com/office/drawing/2014/main" id="{D7969763-33DC-46FB-A144-4459E481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3782" y="5695950"/>
            <a:ext cx="120443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RAG / Knowledge</a:t>
            </a:r>
          </a:p>
        </p:txBody>
      </p:sp>
      <p:sp>
        <p:nvSpPr>
          <p:cNvPr id="71" name="chip-audituserconfig">
            <a:extLst xmlns:a="http://schemas.openxmlformats.org/drawingml/2006/main">
              <a:ext uri="{FF2B5EF4-FFF2-40B4-BE49-F238E27FC236}">
                <a16:creationId xmlns:a16="http://schemas.microsoft.com/office/drawing/2014/main" id="{70EFAAD7-63F9-446E-8145-EC584F03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424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2" name="chip-text-audituserconfig">
            <a:extLst xmlns:a="http://schemas.openxmlformats.org/drawingml/2006/main">
              <a:ext uri="{FF2B5EF4-FFF2-40B4-BE49-F238E27FC236}">
                <a16:creationId xmlns:a16="http://schemas.microsoft.com/office/drawing/2014/main" id="{B21F355B-1CCF-460E-B875-DD4E2401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062" y="5695950"/>
            <a:ext cx="120443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AuditUserConfig</a:t>
            </a:r>
          </a:p>
        </p:txBody>
      </p:sp>
      <p:sp>
        <p:nvSpPr>
          <p:cNvPr id="73" name="chip-auditsshcredential">
            <a:extLst xmlns:a="http://schemas.openxmlformats.org/drawingml/2006/main">
              <a:ext uri="{FF2B5EF4-FFF2-40B4-BE49-F238E27FC236}">
                <a16:creationId xmlns:a16="http://schemas.microsoft.com/office/drawing/2014/main" id="{24357EC8-5B67-4B67-974B-462F71F5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4520" y="5695950"/>
            <a:ext cx="216408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4" name="chip-text-auditsshcredential">
            <a:extLst xmlns:a="http://schemas.openxmlformats.org/drawingml/2006/main">
              <a:ext uri="{FF2B5EF4-FFF2-40B4-BE49-F238E27FC236}">
                <a16:creationId xmlns:a16="http://schemas.microsoft.com/office/drawing/2014/main" id="{317A72D5-87EB-4F42-BD86-D12FD49F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3898" y="5695950"/>
            <a:ext cx="1445324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AuditSshCredential</a:t>
            </a:r>
          </a:p>
        </p:txBody>
      </p:sp>
      <p:sp>
        <p:nvSpPr>
          <p:cNvPr id="75" name="panorama-note">
            <a:extLst xmlns:a="http://schemas.openxmlformats.org/drawingml/2006/main">
              <a:ext uri="{FF2B5EF4-FFF2-40B4-BE49-F238E27FC236}">
                <a16:creationId xmlns:a16="http://schemas.microsoft.com/office/drawing/2014/main" id="{4CDD2DF0-C9B5-44E8-A3FF-0F914B62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70270"/>
            <a:ext cx="933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项目是上下文根对象，任务、策略、知识和报告都围绕它展开。</a:t>
            </a:r>
          </a:p>
        </p:txBody>
      </p:sp>
    </p:spTree>
    <p:extLst>
      <p:ext uri="{BB962C8B-B14F-4D97-AF65-F5344CB8AC3E}">
        <p14:creationId xmlns:p14="http://schemas.microsoft.com/office/powerpoint/2010/main" val="6069967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架构设计">
            <a:extLst xmlns:a="http://schemas.openxmlformats.org/drawingml/2006/main">
              <a:ext uri="{FF2B5EF4-FFF2-40B4-BE49-F238E27FC236}">
                <a16:creationId xmlns:a16="http://schemas.microsoft.com/office/drawing/2014/main" id="{36BF7511-EFF7-47B7-890A-2B4F088D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032129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ARCHITECTURE</a:t>
            </a:r>
          </a:p>
        </p:txBody>
      </p:sp>
      <p:sp>
        <p:nvSpPr>
          <p:cNvPr id="2" name="header-title-架构设计">
            <a:extLst xmlns:a="http://schemas.openxmlformats.org/drawingml/2006/main">
              <a:ext uri="{FF2B5EF4-FFF2-40B4-BE49-F238E27FC236}">
                <a16:creationId xmlns:a16="http://schemas.microsoft.com/office/drawing/2014/main" id="{A4841286-51D2-412A-A719-16770D9A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架构设计</a:t>
            </a:r>
          </a:p>
        </p:txBody>
      </p:sp>
      <p:sp>
        <p:nvSpPr>
          <p:cNvPr id="3" name="header-subtitle-架构设计">
            <a:extLst xmlns:a="http://schemas.openxmlformats.org/drawingml/2006/main">
              <a:ext uri="{FF2B5EF4-FFF2-40B4-BE49-F238E27FC236}">
                <a16:creationId xmlns:a16="http://schemas.microsoft.com/office/drawing/2014/main" id="{FBD40541-CD7A-4D90-9FB0-5A2A1DB9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独立前端 + Django Ninja 后端聚合 + Celery / Redis / Channels 实时链路。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F83772C0-E8A8-4108-B057-8C2503E3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90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flow-node-用户-领导">
            <a:extLst xmlns:a="http://schemas.openxmlformats.org/drawingml/2006/main">
              <a:ext uri="{FF2B5EF4-FFF2-40B4-BE49-F238E27FC236}">
                <a16:creationId xmlns:a16="http://schemas.microsoft.com/office/drawing/2014/main" id="{14B99473-531C-4FC3-93F2-E9AC69F6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676400" cy="11087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flow-node-label-用户-领导">
            <a:extLst xmlns:a="http://schemas.openxmlformats.org/drawingml/2006/main">
              <a:ext uri="{FF2B5EF4-FFF2-40B4-BE49-F238E27FC236}">
                <a16:creationId xmlns:a16="http://schemas.microsoft.com/office/drawing/2014/main" id="{D222C6B6-F576-4CAB-A124-D55DC9C7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7" name="flow-node-title-用户-领导">
            <a:extLst xmlns:a="http://schemas.openxmlformats.org/drawingml/2006/main">
              <a:ext uri="{FF2B5EF4-FFF2-40B4-BE49-F238E27FC236}">
                <a16:creationId xmlns:a16="http://schemas.microsoft.com/office/drawing/2014/main" id="{B6C561A1-2477-40BB-9E17-04DAA8FB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5990"/>
            <a:ext cx="113176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用户 / 领导</a:t>
            </a:r>
          </a:p>
        </p:txBody>
      </p:sp>
      <p:sp>
        <p:nvSpPr>
          <p:cNvPr id="8" name="flow-node-subtitle-用户-领导">
            <a:extLst xmlns:a="http://schemas.openxmlformats.org/drawingml/2006/main">
              <a:ext uri="{FF2B5EF4-FFF2-40B4-BE49-F238E27FC236}">
                <a16:creationId xmlns:a16="http://schemas.microsoft.com/office/drawing/2014/main" id="{4A7D73C9-9E69-47A5-B381-D9EFAE59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88920"/>
            <a:ext cx="2445734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看 Dashboard、任务、报告和演示结果。</a:t>
            </a:r>
          </a:p>
        </p:txBody>
      </p:sp>
      <p:sp>
        <p:nvSpPr>
          <p:cNvPr id="9" name="arch-arrow-1">
            <a:extLst xmlns:a="http://schemas.openxmlformats.org/drawingml/2006/main">
              <a:ext uri="{FF2B5EF4-FFF2-40B4-BE49-F238E27FC236}">
                <a16:creationId xmlns:a16="http://schemas.microsoft.com/office/drawing/2014/main" id="{E41CD2EB-CC26-4B01-B4C9-A26580E5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00250"/>
            <a:ext cx="228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0" name="flow-node-独立前端">
            <a:extLst xmlns:a="http://schemas.openxmlformats.org/drawingml/2006/main">
              <a:ext uri="{FF2B5EF4-FFF2-40B4-BE49-F238E27FC236}">
                <a16:creationId xmlns:a16="http://schemas.microsoft.com/office/drawing/2014/main" id="{F92A6764-9593-4E77-8ABF-A42B9165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00250"/>
            <a:ext cx="1676400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10000"/>
            </a:srgbClr>
          </a:solidFill>
          <a:ln xmlns:a="http://schemas.openxmlformats.org/drawingml/2006/main" w="9525">
            <a:solidFill>
              <a:srgbClr val="FF6A2A">
                <a:alpha val="35000"/>
              </a:srgbClr>
            </a:solidFill>
            <a:prstDash val="solid"/>
          </a:ln>
        </p:spPr>
      </p:sp>
      <p:sp>
        <p:nvSpPr>
          <p:cNvPr id="11" name="flow-node-label-独立前端">
            <a:extLst xmlns:a="http://schemas.openxmlformats.org/drawingml/2006/main">
              <a:ext uri="{FF2B5EF4-FFF2-40B4-BE49-F238E27FC236}">
                <a16:creationId xmlns:a16="http://schemas.microsoft.com/office/drawing/2014/main" id="{1E68C08D-6CD5-4641-B141-AD93371C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2" name="flow-node-title-独立前端">
            <a:extLst xmlns:a="http://schemas.openxmlformats.org/drawingml/2006/main">
              <a:ext uri="{FF2B5EF4-FFF2-40B4-BE49-F238E27FC236}">
                <a16:creationId xmlns:a16="http://schemas.microsoft.com/office/drawing/2014/main" id="{8FA3005A-8DD5-455F-9CAC-53714718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05990"/>
            <a:ext cx="876300" cy="2628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独立前端</a:t>
            </a:r>
          </a:p>
        </p:txBody>
      </p:sp>
      <p:sp>
        <p:nvSpPr>
          <p:cNvPr id="13" name="flow-node-subtitle-独立前端">
            <a:extLst xmlns:a="http://schemas.openxmlformats.org/drawingml/2006/main">
              <a:ext uri="{FF2B5EF4-FFF2-40B4-BE49-F238E27FC236}">
                <a16:creationId xmlns:a16="http://schemas.microsoft.com/office/drawing/2014/main" id="{D1EA5328-C577-4B60-B121-57D203A2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26030"/>
            <a:ext cx="2258187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/deepaudit-app/，页面级权限控制。</a:t>
            </a:r>
          </a:p>
        </p:txBody>
      </p:sp>
      <p:sp>
        <p:nvSpPr>
          <p:cNvPr id="14" name="arch-arrow-2">
            <a:extLst xmlns:a="http://schemas.openxmlformats.org/drawingml/2006/main">
              <a:ext uri="{FF2B5EF4-FFF2-40B4-BE49-F238E27FC236}">
                <a16:creationId xmlns:a16="http://schemas.microsoft.com/office/drawing/2014/main" id="{5681E0B1-145D-478A-8308-77D5FFBD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00250"/>
            <a:ext cx="228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flow-node-api-聚合">
            <a:extLst xmlns:a="http://schemas.openxmlformats.org/drawingml/2006/main">
              <a:ext uri="{FF2B5EF4-FFF2-40B4-BE49-F238E27FC236}">
                <a16:creationId xmlns:a16="http://schemas.microsoft.com/office/drawing/2014/main" id="{C75E8131-7662-4145-8AB1-9719C507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00250"/>
            <a:ext cx="1676400" cy="948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flow-node-label-api-聚合">
            <a:extLst xmlns:a="http://schemas.openxmlformats.org/drawingml/2006/main">
              <a:ext uri="{FF2B5EF4-FFF2-40B4-BE49-F238E27FC236}">
                <a16:creationId xmlns:a16="http://schemas.microsoft.com/office/drawing/2014/main" id="{B626720D-4FA1-43E0-8EB4-CA4958C0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17" name="flow-node-title-api-聚合">
            <a:extLst xmlns:a="http://schemas.openxmlformats.org/drawingml/2006/main">
              <a:ext uri="{FF2B5EF4-FFF2-40B4-BE49-F238E27FC236}">
                <a16:creationId xmlns:a16="http://schemas.microsoft.com/office/drawing/2014/main" id="{1B2A80CA-16D3-4871-BF08-47D2DD3F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05990"/>
            <a:ext cx="859726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API 聚合</a:t>
            </a:r>
          </a:p>
        </p:txBody>
      </p:sp>
      <p:sp>
        <p:nvSpPr>
          <p:cNvPr id="18" name="flow-node-subtitle-api-聚合">
            <a:extLst xmlns:a="http://schemas.openxmlformats.org/drawingml/2006/main">
              <a:ext uri="{FF2B5EF4-FFF2-40B4-BE49-F238E27FC236}">
                <a16:creationId xmlns:a16="http://schemas.microsoft.com/office/drawing/2014/main" id="{6E4421A0-1BCF-4E48-8F3F-E1BC0790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8920"/>
            <a:ext cx="213426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/api/deepaudit/*，按业务域拆分。</a:t>
            </a:r>
          </a:p>
        </p:txBody>
      </p:sp>
      <p:sp>
        <p:nvSpPr>
          <p:cNvPr id="19" name="arch-arrow-3">
            <a:extLst xmlns:a="http://schemas.openxmlformats.org/drawingml/2006/main">
              <a:ext uri="{FF2B5EF4-FFF2-40B4-BE49-F238E27FC236}">
                <a16:creationId xmlns:a16="http://schemas.microsoft.com/office/drawing/2014/main" id="{C56E6F7E-CA9D-4C95-AB5C-9FF09395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00250"/>
            <a:ext cx="228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0" name="flow-node-worker">
            <a:extLst xmlns:a="http://schemas.openxmlformats.org/drawingml/2006/main">
              <a:ext uri="{FF2B5EF4-FFF2-40B4-BE49-F238E27FC236}">
                <a16:creationId xmlns:a16="http://schemas.microsoft.com/office/drawing/2014/main" id="{FA9970AF-3998-41EB-A746-66F79553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1676400" cy="948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flow-node-label-worker">
            <a:extLst xmlns:a="http://schemas.openxmlformats.org/drawingml/2006/main">
              <a:ext uri="{FF2B5EF4-FFF2-40B4-BE49-F238E27FC236}">
                <a16:creationId xmlns:a16="http://schemas.microsoft.com/office/drawing/2014/main" id="{B101D351-44EA-4D82-A35E-3EEA76D4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2" name="flow-node-title-worker">
            <a:extLst xmlns:a="http://schemas.openxmlformats.org/drawingml/2006/main">
              <a:ext uri="{FF2B5EF4-FFF2-40B4-BE49-F238E27FC236}">
                <a16:creationId xmlns:a16="http://schemas.microsoft.com/office/drawing/2014/main" id="{A8A1203E-500D-46FA-B2DD-E9F55985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05990"/>
            <a:ext cx="749427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Worker</a:t>
            </a:r>
          </a:p>
        </p:txBody>
      </p:sp>
      <p:sp>
        <p:nvSpPr>
          <p:cNvPr id="23" name="flow-node-subtitle-worker">
            <a:extLst xmlns:a="http://schemas.openxmlformats.org/drawingml/2006/main">
              <a:ext uri="{FF2B5EF4-FFF2-40B4-BE49-F238E27FC236}">
                <a16:creationId xmlns:a16="http://schemas.microsoft.com/office/drawing/2014/main" id="{DC03176B-7458-45FE-95AC-6FA81C7F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88920"/>
            <a:ext cx="220399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Celery + AgentRunner 执行长任务。</a:t>
            </a:r>
          </a:p>
        </p:txBody>
      </p:sp>
      <p:sp>
        <p:nvSpPr>
          <p:cNvPr id="24" name="arch-arrow-4">
            <a:extLst xmlns:a="http://schemas.openxmlformats.org/drawingml/2006/main">
              <a:ext uri="{FF2B5EF4-FFF2-40B4-BE49-F238E27FC236}">
                <a16:creationId xmlns:a16="http://schemas.microsoft.com/office/drawing/2014/main" id="{B9413FBB-A6A0-4593-8800-E25623B2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00250"/>
            <a:ext cx="228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5" name="flow-node-sse-ws">
            <a:extLst xmlns:a="http://schemas.openxmlformats.org/drawingml/2006/main">
              <a:ext uri="{FF2B5EF4-FFF2-40B4-BE49-F238E27FC236}">
                <a16:creationId xmlns:a16="http://schemas.microsoft.com/office/drawing/2014/main" id="{C063B892-5E6B-4633-8675-61946348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00250"/>
            <a:ext cx="1676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10000"/>
            </a:srgbClr>
          </a:solidFill>
          <a:ln xmlns:a="http://schemas.openxmlformats.org/drawingml/2006/main" w="9525">
            <a:solidFill>
              <a:srgbClr val="FF6A2A">
                <a:alpha val="35000"/>
              </a:srgbClr>
            </a:solidFill>
            <a:prstDash val="solid"/>
          </a:ln>
        </p:spPr>
      </p:sp>
      <p:sp>
        <p:nvSpPr>
          <p:cNvPr id="26" name="flow-node-label-sse-ws">
            <a:extLst xmlns:a="http://schemas.openxmlformats.org/drawingml/2006/main">
              <a:ext uri="{FF2B5EF4-FFF2-40B4-BE49-F238E27FC236}">
                <a16:creationId xmlns:a16="http://schemas.microsoft.com/office/drawing/2014/main" id="{89DAC4F3-54AD-44BB-B43F-6DD903BB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00250"/>
            <a:ext cx="74581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27" name="flow-node-title-sse-ws">
            <a:extLst xmlns:a="http://schemas.openxmlformats.org/drawingml/2006/main">
              <a:ext uri="{FF2B5EF4-FFF2-40B4-BE49-F238E27FC236}">
                <a16:creationId xmlns:a16="http://schemas.microsoft.com/office/drawing/2014/main" id="{982FF822-4492-4284-B18A-BB88F940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05990"/>
            <a:ext cx="1032796" cy="2628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SSE / WS</a:t>
            </a:r>
          </a:p>
        </p:txBody>
      </p:sp>
      <p:sp>
        <p:nvSpPr>
          <p:cNvPr id="28" name="flow-node-subtitle-sse-ws">
            <a:extLst xmlns:a="http://schemas.openxmlformats.org/drawingml/2006/main">
              <a:ext uri="{FF2B5EF4-FFF2-40B4-BE49-F238E27FC236}">
                <a16:creationId xmlns:a16="http://schemas.microsoft.com/office/drawing/2014/main" id="{692F1C3A-6E8A-4E56-B100-CF2FAC34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26030"/>
            <a:ext cx="17335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事件流回传到前端实时渲染。</a:t>
            </a:r>
          </a:p>
        </p:txBody>
      </p:sp>
      <p:sp>
        <p:nvSpPr>
          <p:cNvPr id="29" name="arch-support-kicker">
            <a:extLst xmlns:a="http://schemas.openxmlformats.org/drawingml/2006/main">
              <a:ext uri="{FF2B5EF4-FFF2-40B4-BE49-F238E27FC236}">
                <a16:creationId xmlns:a16="http://schemas.microsoft.com/office/drawing/2014/main" id="{300B58D3-5890-4081-8CEB-B5F33EEE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0410"/>
            <a:ext cx="6667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运行支撑层</a:t>
            </a:r>
          </a:p>
        </p:txBody>
      </p:sp>
      <p:sp>
        <p:nvSpPr>
          <p:cNvPr id="30" name="chip-asgi">
            <a:extLst xmlns:a="http://schemas.openxmlformats.org/drawingml/2006/main">
              <a:ext uri="{FF2B5EF4-FFF2-40B4-BE49-F238E27FC236}">
                <a16:creationId xmlns:a16="http://schemas.microsoft.com/office/drawing/2014/main" id="{324910B6-2865-4C26-9796-8AED9014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3568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1" name="chip-text-asgi">
            <a:extLst xmlns:a="http://schemas.openxmlformats.org/drawingml/2006/main">
              <a:ext uri="{FF2B5EF4-FFF2-40B4-BE49-F238E27FC236}">
                <a16:creationId xmlns:a16="http://schemas.microsoft.com/office/drawing/2014/main" id="{660A845B-4570-4DD3-8CC5-1973C9C5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58" y="3535680"/>
            <a:ext cx="321183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ASGI</a:t>
            </a:r>
          </a:p>
        </p:txBody>
      </p:sp>
      <p:sp>
        <p:nvSpPr>
          <p:cNvPr id="32" name="chip-celery">
            <a:extLst xmlns:a="http://schemas.openxmlformats.org/drawingml/2006/main">
              <a:ext uri="{FF2B5EF4-FFF2-40B4-BE49-F238E27FC236}">
                <a16:creationId xmlns:a16="http://schemas.microsoft.com/office/drawing/2014/main" id="{FFC55CE2-E9A0-487C-BF9C-7AA99628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3568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3" name="chip-text-celery">
            <a:extLst xmlns:a="http://schemas.openxmlformats.org/drawingml/2006/main">
              <a:ext uri="{FF2B5EF4-FFF2-40B4-BE49-F238E27FC236}">
                <a16:creationId xmlns:a16="http://schemas.microsoft.com/office/drawing/2014/main" id="{78A07E67-F3CF-4746-A241-F7D89013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363" y="3535680"/>
            <a:ext cx="48177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Celery</a:t>
            </a:r>
          </a:p>
        </p:txBody>
      </p:sp>
      <p:sp>
        <p:nvSpPr>
          <p:cNvPr id="34" name="chip-redis">
            <a:extLst xmlns:a="http://schemas.openxmlformats.org/drawingml/2006/main">
              <a:ext uri="{FF2B5EF4-FFF2-40B4-BE49-F238E27FC236}">
                <a16:creationId xmlns:a16="http://schemas.microsoft.com/office/drawing/2014/main" id="{02FD7F9D-041E-433B-B7B7-D61450E8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3568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5" name="chip-text-redis">
            <a:extLst xmlns:a="http://schemas.openxmlformats.org/drawingml/2006/main">
              <a:ext uri="{FF2B5EF4-FFF2-40B4-BE49-F238E27FC236}">
                <a16:creationId xmlns:a16="http://schemas.microsoft.com/office/drawing/2014/main" id="{CBB3C2AF-3D65-47EC-B8FB-F762363C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7811" y="3535680"/>
            <a:ext cx="40147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Redis</a:t>
            </a:r>
          </a:p>
        </p:txBody>
      </p:sp>
      <p:sp>
        <p:nvSpPr>
          <p:cNvPr id="36" name="chip-channels">
            <a:extLst xmlns:a="http://schemas.openxmlformats.org/drawingml/2006/main">
              <a:ext uri="{FF2B5EF4-FFF2-40B4-BE49-F238E27FC236}">
                <a16:creationId xmlns:a16="http://schemas.microsoft.com/office/drawing/2014/main" id="{FE2A93CE-9127-4C07-A1DE-F5C81A73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3568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7" name="chip-text-channels">
            <a:extLst xmlns:a="http://schemas.openxmlformats.org/drawingml/2006/main">
              <a:ext uri="{FF2B5EF4-FFF2-40B4-BE49-F238E27FC236}">
                <a16:creationId xmlns:a16="http://schemas.microsoft.com/office/drawing/2014/main" id="{205909A3-89F7-4933-ACB7-284CA4DD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4667" y="3535680"/>
            <a:ext cx="64236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Channels</a:t>
            </a:r>
          </a:p>
        </p:txBody>
      </p:sp>
      <p:sp>
        <p:nvSpPr>
          <p:cNvPr id="38" name="chip-nginx">
            <a:extLst xmlns:a="http://schemas.openxmlformats.org/drawingml/2006/main">
              <a:ext uri="{FF2B5EF4-FFF2-40B4-BE49-F238E27FC236}">
                <a16:creationId xmlns:a16="http://schemas.microsoft.com/office/drawing/2014/main" id="{CBCDAF2F-48EB-4F55-9DD4-4B99BB4F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9" name="chip-text-nginx">
            <a:extLst xmlns:a="http://schemas.openxmlformats.org/drawingml/2006/main">
              <a:ext uri="{FF2B5EF4-FFF2-40B4-BE49-F238E27FC236}">
                <a16:creationId xmlns:a16="http://schemas.microsoft.com/office/drawing/2014/main" id="{3E946FF2-3E78-4E4C-AD41-B1CE615E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211" y="3771900"/>
            <a:ext cx="40147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Nginx</a:t>
            </a:r>
          </a:p>
        </p:txBody>
      </p:sp>
      <p:sp>
        <p:nvSpPr>
          <p:cNvPr id="40" name="chip-workspace">
            <a:extLst xmlns:a="http://schemas.openxmlformats.org/drawingml/2006/main">
              <a:ext uri="{FF2B5EF4-FFF2-40B4-BE49-F238E27FC236}">
                <a16:creationId xmlns:a16="http://schemas.microsoft.com/office/drawing/2014/main" id="{328534FA-05ED-472D-B0B9-4E9C8D01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77190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1" name="chip-text-workspace">
            <a:extLst xmlns:a="http://schemas.openxmlformats.org/drawingml/2006/main">
              <a:ext uri="{FF2B5EF4-FFF2-40B4-BE49-F238E27FC236}">
                <a16:creationId xmlns:a16="http://schemas.microsoft.com/office/drawing/2014/main" id="{E03544B0-5D8C-41B6-8906-EF80C5B5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919" y="377190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Workspace</a:t>
            </a:r>
          </a:p>
        </p:txBody>
      </p:sp>
      <p:sp>
        <p:nvSpPr>
          <p:cNvPr id="42" name="chip-rag">
            <a:extLst xmlns:a="http://schemas.openxmlformats.org/drawingml/2006/main">
              <a:ext uri="{FF2B5EF4-FFF2-40B4-BE49-F238E27FC236}">
                <a16:creationId xmlns:a16="http://schemas.microsoft.com/office/drawing/2014/main" id="{E14303BD-E7B9-4D83-ADF0-52CB75E5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7190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3" name="chip-text-rag">
            <a:extLst xmlns:a="http://schemas.openxmlformats.org/drawingml/2006/main">
              <a:ext uri="{FF2B5EF4-FFF2-40B4-BE49-F238E27FC236}">
                <a16:creationId xmlns:a16="http://schemas.microsoft.com/office/drawing/2014/main" id="{7E0230C6-7EEE-4F9C-9AE3-0F1C4B43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106" y="3771900"/>
            <a:ext cx="24088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RAG</a:t>
            </a:r>
          </a:p>
        </p:txBody>
      </p:sp>
      <p:sp>
        <p:nvSpPr>
          <p:cNvPr id="44" name="chip-reports">
            <a:extLst xmlns:a="http://schemas.openxmlformats.org/drawingml/2006/main">
              <a:ext uri="{FF2B5EF4-FFF2-40B4-BE49-F238E27FC236}">
                <a16:creationId xmlns:a16="http://schemas.microsoft.com/office/drawing/2014/main" id="{1FF94541-E596-4DA0-BC7A-A28E4492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71900"/>
            <a:ext cx="118110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5" name="chip-text-reports">
            <a:extLst xmlns:a="http://schemas.openxmlformats.org/drawingml/2006/main">
              <a:ext uri="{FF2B5EF4-FFF2-40B4-BE49-F238E27FC236}">
                <a16:creationId xmlns:a16="http://schemas.microsoft.com/office/drawing/2014/main" id="{47382AED-3B21-4E26-94A5-B9721333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815" y="3771900"/>
            <a:ext cx="56207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Reports</a:t>
            </a:r>
          </a:p>
        </p:txBody>
      </p:sp>
      <p:sp>
        <p:nvSpPr>
          <p:cNvPr id="46" name="arch-summary">
            <a:extLst xmlns:a="http://schemas.openxmlformats.org/drawingml/2006/main">
              <a:ext uri="{FF2B5EF4-FFF2-40B4-BE49-F238E27FC236}">
                <a16:creationId xmlns:a16="http://schemas.microsoft.com/office/drawing/2014/main" id="{54F21F91-FDC4-48CC-B4DD-1FAD9F6E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27170"/>
            <a:ext cx="4762500" cy="3886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前端只关心事件流；后端把“执行”和“回传”拆开，保证长任务能持续可观测。</a:t>
            </a:r>
          </a:p>
        </p:txBody>
      </p:sp>
      <p:sp>
        <p:nvSpPr>
          <p:cNvPr id="47" name="arch-domain-kicker">
            <a:extLst xmlns:a="http://schemas.openxmlformats.org/drawingml/2006/main">
              <a:ext uri="{FF2B5EF4-FFF2-40B4-BE49-F238E27FC236}">
                <a16:creationId xmlns:a16="http://schemas.microsoft.com/office/drawing/2014/main" id="{8C5EE3FE-BA1B-4083-BBE4-F39C7611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8041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后端子域</a:t>
            </a:r>
          </a:p>
        </p:txBody>
      </p:sp>
      <p:sp>
        <p:nvSpPr>
          <p:cNvPr id="48" name="chip-project">
            <a:extLst xmlns:a="http://schemas.openxmlformats.org/drawingml/2006/main">
              <a:ext uri="{FF2B5EF4-FFF2-40B4-BE49-F238E27FC236}">
                <a16:creationId xmlns:a16="http://schemas.microsoft.com/office/drawing/2014/main" id="{AE375210-B861-4B78-85D0-EFEDD1DB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55473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9" name="chip-text-project">
            <a:extLst xmlns:a="http://schemas.openxmlformats.org/drawingml/2006/main">
              <a:ext uri="{FF2B5EF4-FFF2-40B4-BE49-F238E27FC236}">
                <a16:creationId xmlns:a16="http://schemas.microsoft.com/office/drawing/2014/main" id="{1F6B81CC-A00A-4564-865E-EFDC8CA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340" y="3554730"/>
            <a:ext cx="56207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project</a:t>
            </a:r>
          </a:p>
        </p:txBody>
      </p:sp>
      <p:sp>
        <p:nvSpPr>
          <p:cNvPr id="50" name="chip-scan-task">
            <a:extLst xmlns:a="http://schemas.openxmlformats.org/drawingml/2006/main">
              <a:ext uri="{FF2B5EF4-FFF2-40B4-BE49-F238E27FC236}">
                <a16:creationId xmlns:a16="http://schemas.microsoft.com/office/drawing/2014/main" id="{C6CC112A-F040-4F4B-8E0A-64AFC680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5473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1" name="chip-text-scan-task">
            <a:extLst xmlns:a="http://schemas.openxmlformats.org/drawingml/2006/main">
              <a:ext uri="{FF2B5EF4-FFF2-40B4-BE49-F238E27FC236}">
                <a16:creationId xmlns:a16="http://schemas.microsoft.com/office/drawing/2014/main" id="{7717A6BF-32CF-467F-90B8-EA2624A9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994" y="355473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scan_task</a:t>
            </a:r>
          </a:p>
        </p:txBody>
      </p:sp>
      <p:sp>
        <p:nvSpPr>
          <p:cNvPr id="52" name="chip-agent-task">
            <a:extLst xmlns:a="http://schemas.openxmlformats.org/drawingml/2006/main">
              <a:ext uri="{FF2B5EF4-FFF2-40B4-BE49-F238E27FC236}">
                <a16:creationId xmlns:a16="http://schemas.microsoft.com/office/drawing/2014/main" id="{EC4FEBF8-E806-4247-A41B-15B1BBFF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55473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3" name="chip-text-agent-task">
            <a:extLst xmlns:a="http://schemas.openxmlformats.org/drawingml/2006/main">
              <a:ext uri="{FF2B5EF4-FFF2-40B4-BE49-F238E27FC236}">
                <a16:creationId xmlns:a16="http://schemas.microsoft.com/office/drawing/2014/main" id="{6AF241D4-BF03-4CF6-A2A7-96D3F2EF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7796" y="3554730"/>
            <a:ext cx="802958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agent_task</a:t>
            </a:r>
          </a:p>
        </p:txBody>
      </p:sp>
      <p:sp>
        <p:nvSpPr>
          <p:cNvPr id="54" name="chip-rag">
            <a:extLst xmlns:a="http://schemas.openxmlformats.org/drawingml/2006/main">
              <a:ext uri="{FF2B5EF4-FFF2-40B4-BE49-F238E27FC236}">
                <a16:creationId xmlns:a16="http://schemas.microsoft.com/office/drawing/2014/main" id="{75A5BD3E-EC6C-444A-97AF-864E2C3A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55473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5" name="chip-text-rag">
            <a:extLst xmlns:a="http://schemas.openxmlformats.org/drawingml/2006/main">
              <a:ext uri="{FF2B5EF4-FFF2-40B4-BE49-F238E27FC236}">
                <a16:creationId xmlns:a16="http://schemas.microsoft.com/office/drawing/2014/main" id="{3F6AA22F-0CE2-43AF-8B75-3F3AE267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3781" y="3554730"/>
            <a:ext cx="24088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rag</a:t>
            </a:r>
          </a:p>
        </p:txBody>
      </p:sp>
      <p:sp>
        <p:nvSpPr>
          <p:cNvPr id="56" name="chip-audit-rule">
            <a:extLst xmlns:a="http://schemas.openxmlformats.org/drawingml/2006/main">
              <a:ext uri="{FF2B5EF4-FFF2-40B4-BE49-F238E27FC236}">
                <a16:creationId xmlns:a16="http://schemas.microsoft.com/office/drawing/2014/main" id="{B6340329-0C88-4878-B663-DCA6EB61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79095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7" name="chip-text-audit-rule">
            <a:extLst xmlns:a="http://schemas.openxmlformats.org/drawingml/2006/main">
              <a:ext uri="{FF2B5EF4-FFF2-40B4-BE49-F238E27FC236}">
                <a16:creationId xmlns:a16="http://schemas.microsoft.com/office/drawing/2014/main" id="{6DB198E3-064C-4400-84B5-B23DEE6E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7896" y="3790950"/>
            <a:ext cx="802958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audit_rule</a:t>
            </a:r>
          </a:p>
        </p:txBody>
      </p:sp>
      <p:sp>
        <p:nvSpPr>
          <p:cNvPr id="58" name="chip-prompt-template">
            <a:extLst xmlns:a="http://schemas.openxmlformats.org/drawingml/2006/main">
              <a:ext uri="{FF2B5EF4-FFF2-40B4-BE49-F238E27FC236}">
                <a16:creationId xmlns:a16="http://schemas.microsoft.com/office/drawing/2014/main" id="{823168BD-4414-4B0F-A9D1-17A3FECE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9095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9" name="chip-text-prompt-template">
            <a:extLst xmlns:a="http://schemas.openxmlformats.org/drawingml/2006/main">
              <a:ext uri="{FF2B5EF4-FFF2-40B4-BE49-F238E27FC236}">
                <a16:creationId xmlns:a16="http://schemas.microsoft.com/office/drawing/2014/main" id="{2BAC2BCE-984A-48C2-9E9D-39B850635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107" y="3790950"/>
            <a:ext cx="120443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prompt_template</a:t>
            </a:r>
          </a:p>
        </p:txBody>
      </p:sp>
      <p:sp>
        <p:nvSpPr>
          <p:cNvPr id="60" name="chip-user-config">
            <a:extLst xmlns:a="http://schemas.openxmlformats.org/drawingml/2006/main">
              <a:ext uri="{FF2B5EF4-FFF2-40B4-BE49-F238E27FC236}">
                <a16:creationId xmlns:a16="http://schemas.microsoft.com/office/drawing/2014/main" id="{911C207F-5078-40E5-A4D6-9AFCA59A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9095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1" name="chip-text-user-config">
            <a:extLst xmlns:a="http://schemas.openxmlformats.org/drawingml/2006/main">
              <a:ext uri="{FF2B5EF4-FFF2-40B4-BE49-F238E27FC236}">
                <a16:creationId xmlns:a16="http://schemas.microsoft.com/office/drawing/2014/main" id="{B3B8B414-1A65-4EA2-8955-1ACE2AB7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48" y="3790950"/>
            <a:ext cx="883253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user_config</a:t>
            </a:r>
          </a:p>
        </p:txBody>
      </p:sp>
      <p:sp>
        <p:nvSpPr>
          <p:cNvPr id="62" name="chip-dashboard">
            <a:extLst xmlns:a="http://schemas.openxmlformats.org/drawingml/2006/main">
              <a:ext uri="{FF2B5EF4-FFF2-40B4-BE49-F238E27FC236}">
                <a16:creationId xmlns:a16="http://schemas.microsoft.com/office/drawing/2014/main" id="{07B2D9DD-8B59-4F97-BB2B-57990C6E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79095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3" name="chip-text-dashboard">
            <a:extLst xmlns:a="http://schemas.openxmlformats.org/drawingml/2006/main">
              <a:ext uri="{FF2B5EF4-FFF2-40B4-BE49-F238E27FC236}">
                <a16:creationId xmlns:a16="http://schemas.microsoft.com/office/drawing/2014/main" id="{959ECD61-EC78-41E1-9C09-AACB01AE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894" y="379095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dashboard</a:t>
            </a:r>
          </a:p>
        </p:txBody>
      </p:sp>
      <p:sp>
        <p:nvSpPr>
          <p:cNvPr id="64" name="arch-domain-note">
            <a:extLst xmlns:a="http://schemas.openxmlformats.org/drawingml/2006/main">
              <a:ext uri="{FF2B5EF4-FFF2-40B4-BE49-F238E27FC236}">
                <a16:creationId xmlns:a16="http://schemas.microsoft.com/office/drawing/2014/main" id="{25A7D97A-58F1-4A4F-8960-7D1DF86F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65270"/>
            <a:ext cx="5143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这些子域分别负责项目、传统扫描、Agent 审计、策略、知识和结果交付。</a:t>
            </a:r>
          </a:p>
        </p:txBody>
      </p:sp>
      <p:sp>
        <p:nvSpPr>
          <p:cNvPr id="65" name="arch-entity-kicker">
            <a:extLst xmlns:a="http://schemas.openxmlformats.org/drawingml/2006/main">
              <a:ext uri="{FF2B5EF4-FFF2-40B4-BE49-F238E27FC236}">
                <a16:creationId xmlns:a16="http://schemas.microsoft.com/office/drawing/2014/main" id="{C9593DCB-9189-460C-B641-0249BD79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5102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核心对象</a:t>
            </a:r>
          </a:p>
        </p:txBody>
      </p:sp>
      <p:sp>
        <p:nvSpPr>
          <p:cNvPr id="66" name="chip-auditproject">
            <a:extLst xmlns:a="http://schemas.openxmlformats.org/drawingml/2006/main">
              <a:ext uri="{FF2B5EF4-FFF2-40B4-BE49-F238E27FC236}">
                <a16:creationId xmlns:a16="http://schemas.microsoft.com/office/drawing/2014/main" id="{506DE667-65E5-4E23-9A4A-2ACF0E77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62534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7" name="chip-text-auditproject">
            <a:extLst xmlns:a="http://schemas.openxmlformats.org/drawingml/2006/main">
              <a:ext uri="{FF2B5EF4-FFF2-40B4-BE49-F238E27FC236}">
                <a16:creationId xmlns:a16="http://schemas.microsoft.com/office/drawing/2014/main" id="{96A86953-D841-4E18-A8F2-089CFDF9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600" y="462534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AuditProject</a:t>
            </a:r>
          </a:p>
        </p:txBody>
      </p:sp>
      <p:sp>
        <p:nvSpPr>
          <p:cNvPr id="68" name="chip-audittask">
            <a:extLst xmlns:a="http://schemas.openxmlformats.org/drawingml/2006/main">
              <a:ext uri="{FF2B5EF4-FFF2-40B4-BE49-F238E27FC236}">
                <a16:creationId xmlns:a16="http://schemas.microsoft.com/office/drawing/2014/main" id="{F39FC589-4C79-4258-AED3-F579AB60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62534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9" name="chip-text-audittask">
            <a:extLst xmlns:a="http://schemas.openxmlformats.org/drawingml/2006/main">
              <a:ext uri="{FF2B5EF4-FFF2-40B4-BE49-F238E27FC236}">
                <a16:creationId xmlns:a16="http://schemas.microsoft.com/office/drawing/2014/main" id="{CA6C6BAC-F644-43AB-A6D1-6C80D4E1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994" y="462534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AuditTask</a:t>
            </a:r>
          </a:p>
        </p:txBody>
      </p:sp>
      <p:sp>
        <p:nvSpPr>
          <p:cNvPr id="70" name="chip-agenttask">
            <a:extLst xmlns:a="http://schemas.openxmlformats.org/drawingml/2006/main">
              <a:ext uri="{FF2B5EF4-FFF2-40B4-BE49-F238E27FC236}">
                <a16:creationId xmlns:a16="http://schemas.microsoft.com/office/drawing/2014/main" id="{74722E6B-15A7-403B-8190-76AD625B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62534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1" name="chip-text-agenttask">
            <a:extLst xmlns:a="http://schemas.openxmlformats.org/drawingml/2006/main">
              <a:ext uri="{FF2B5EF4-FFF2-40B4-BE49-F238E27FC236}">
                <a16:creationId xmlns:a16="http://schemas.microsoft.com/office/drawing/2014/main" id="{2DC8096D-BEA8-4A8E-978B-8F5CA3C6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944" y="4625340"/>
            <a:ext cx="7226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AgentTask</a:t>
            </a:r>
          </a:p>
        </p:txBody>
      </p:sp>
      <p:sp>
        <p:nvSpPr>
          <p:cNvPr id="72" name="chip-agentcheckpoint">
            <a:extLst xmlns:a="http://schemas.openxmlformats.org/drawingml/2006/main">
              <a:ext uri="{FF2B5EF4-FFF2-40B4-BE49-F238E27FC236}">
                <a16:creationId xmlns:a16="http://schemas.microsoft.com/office/drawing/2014/main" id="{51354486-ED60-4630-9AB5-08591817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62534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3" name="chip-text-agentcheckpoint">
            <a:extLst xmlns:a="http://schemas.openxmlformats.org/drawingml/2006/main">
              <a:ext uri="{FF2B5EF4-FFF2-40B4-BE49-F238E27FC236}">
                <a16:creationId xmlns:a16="http://schemas.microsoft.com/office/drawing/2014/main" id="{504CD8DE-32B0-4EB9-A5DB-878A655F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2007" y="4625340"/>
            <a:ext cx="120443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AgentCheckpoint</a:t>
            </a:r>
          </a:p>
        </p:txBody>
      </p:sp>
      <p:sp>
        <p:nvSpPr>
          <p:cNvPr id="74" name="chip-agentevent">
            <a:extLst xmlns:a="http://schemas.openxmlformats.org/drawingml/2006/main">
              <a:ext uri="{FF2B5EF4-FFF2-40B4-BE49-F238E27FC236}">
                <a16:creationId xmlns:a16="http://schemas.microsoft.com/office/drawing/2014/main" id="{4DD60272-2A6E-468E-9C4B-F32C5336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6156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5" name="chip-text-agentevent">
            <a:extLst xmlns:a="http://schemas.openxmlformats.org/drawingml/2006/main">
              <a:ext uri="{FF2B5EF4-FFF2-40B4-BE49-F238E27FC236}">
                <a16:creationId xmlns:a16="http://schemas.microsoft.com/office/drawing/2014/main" id="{3925A46D-78C6-44B9-AFEC-4841A805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7896" y="4861560"/>
            <a:ext cx="802958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AgentEvent</a:t>
            </a:r>
          </a:p>
        </p:txBody>
      </p:sp>
      <p:sp>
        <p:nvSpPr>
          <p:cNvPr id="76" name="chip-agentfinding">
            <a:extLst xmlns:a="http://schemas.openxmlformats.org/drawingml/2006/main">
              <a:ext uri="{FF2B5EF4-FFF2-40B4-BE49-F238E27FC236}">
                <a16:creationId xmlns:a16="http://schemas.microsoft.com/office/drawing/2014/main" id="{F78FF4E5-F952-40B8-833F-0A629422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86156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7" name="chip-text-agentfinding">
            <a:extLst xmlns:a="http://schemas.openxmlformats.org/drawingml/2006/main">
              <a:ext uri="{FF2B5EF4-FFF2-40B4-BE49-F238E27FC236}">
                <a16:creationId xmlns:a16="http://schemas.microsoft.com/office/drawing/2014/main" id="{00B9023B-1992-4F0F-92F1-3CAAD0CE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550" y="486156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AgentFinding</a:t>
            </a:r>
          </a:p>
        </p:txBody>
      </p:sp>
      <p:sp>
        <p:nvSpPr>
          <p:cNvPr id="78" name="chip-auditruleset">
            <a:extLst xmlns:a="http://schemas.openxmlformats.org/drawingml/2006/main">
              <a:ext uri="{FF2B5EF4-FFF2-40B4-BE49-F238E27FC236}">
                <a16:creationId xmlns:a16="http://schemas.microsoft.com/office/drawing/2014/main" id="{0ED0E2CB-7E9F-4DCD-9723-3E7A76C8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6156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9" name="chip-text-auditruleset">
            <a:extLst xmlns:a="http://schemas.openxmlformats.org/drawingml/2006/main">
              <a:ext uri="{FF2B5EF4-FFF2-40B4-BE49-F238E27FC236}">
                <a16:creationId xmlns:a16="http://schemas.microsoft.com/office/drawing/2014/main" id="{AC71B78B-747F-4803-A951-7F15C1BC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00" y="4861560"/>
            <a:ext cx="963549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AuditRuleSet</a:t>
            </a:r>
          </a:p>
        </p:txBody>
      </p:sp>
      <p:sp>
        <p:nvSpPr>
          <p:cNvPr id="80" name="chip-prompttemplate">
            <a:extLst xmlns:a="http://schemas.openxmlformats.org/drawingml/2006/main">
              <a:ext uri="{FF2B5EF4-FFF2-40B4-BE49-F238E27FC236}">
                <a16:creationId xmlns:a16="http://schemas.microsoft.com/office/drawing/2014/main" id="{576091A0-F4AA-4F43-A4B7-E4764C3A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861560"/>
            <a:ext cx="14287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81" name="chip-text-prompttemplate">
            <a:extLst xmlns:a="http://schemas.openxmlformats.org/drawingml/2006/main">
              <a:ext uri="{FF2B5EF4-FFF2-40B4-BE49-F238E27FC236}">
                <a16:creationId xmlns:a16="http://schemas.microsoft.com/office/drawing/2014/main" id="{8DD3946F-C7B8-49F6-A9E8-4E02845E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155" y="4861560"/>
            <a:ext cx="1124141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PromptTemplate</a:t>
            </a:r>
          </a:p>
        </p:txBody>
      </p:sp>
      <p:sp>
        <p:nvSpPr>
          <p:cNvPr id="82" name="arch-note">
            <a:extLst xmlns:a="http://schemas.openxmlformats.org/drawingml/2006/main">
              <a:ext uri="{FF2B5EF4-FFF2-40B4-BE49-F238E27FC236}">
                <a16:creationId xmlns:a16="http://schemas.microsoft.com/office/drawing/2014/main" id="{AAE7A4D1-40B0-4F0D-9785-468F0466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93030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入口 `/deepaudit-app/` 对接 Focus 主平台 token；SSE `/stream` 与 WebSocket `/ws/` 都依赖 ASGI + Redis + Nginx 的同一条链路。</a:t>
            </a:r>
          </a:p>
        </p:txBody>
      </p:sp>
    </p:spTree>
    <p:extLst>
      <p:ext uri="{BB962C8B-B14F-4D97-AF65-F5344CB8AC3E}">
        <p14:creationId xmlns:p14="http://schemas.microsoft.com/office/powerpoint/2010/main" val="2584919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多智能体编排架构">
            <a:extLst xmlns:a="http://schemas.openxmlformats.org/drawingml/2006/main">
              <a:ext uri="{FF2B5EF4-FFF2-40B4-BE49-F238E27FC236}">
                <a16:creationId xmlns:a16="http://schemas.microsoft.com/office/drawing/2014/main" id="{30297F8C-DAD4-4505-A22F-0556963A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946118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MULTI-AGENT</a:t>
            </a:r>
          </a:p>
        </p:txBody>
      </p:sp>
      <p:sp>
        <p:nvSpPr>
          <p:cNvPr id="2" name="header-title-多智能体编排架构">
            <a:extLst xmlns:a="http://schemas.openxmlformats.org/drawingml/2006/main">
              <a:ext uri="{FF2B5EF4-FFF2-40B4-BE49-F238E27FC236}">
                <a16:creationId xmlns:a16="http://schemas.microsoft.com/office/drawing/2014/main" id="{0BE52CE4-11EB-4370-BB82-7C1998D5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多智能体编排架构</a:t>
            </a:r>
          </a:p>
        </p:txBody>
      </p:sp>
      <p:sp>
        <p:nvSpPr>
          <p:cNvPr id="3" name="header-subtitle-多智能体编排架构">
            <a:extLst xmlns:a="http://schemas.openxmlformats.org/drawingml/2006/main">
              <a:ext uri="{FF2B5EF4-FFF2-40B4-BE49-F238E27FC236}">
                <a16:creationId xmlns:a16="http://schemas.microsoft.com/office/drawing/2014/main" id="{BFC14894-09A7-478D-99F6-91E3C925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基于 LLM 的 ReAct 循环，实现动态策略适应与子领域专业化。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68483E43-1E30-412A-A217-0A07237F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B082EC-FC02-4F65-8BDC-1860277A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核心大脑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CA0E8-9890-47A6-BC9E-BE1A4D0F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3386518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Orchestrator 编排器</a:t>
            </a:r>
          </a:p>
        </p:txBody>
      </p:sp>
      <p:sp>
        <p:nvSpPr>
          <p:cNvPr id="7" name="bullet-dot-自主决策">
            <a:extLst xmlns:a="http://schemas.openxmlformats.org/drawingml/2006/main">
              <a:ext uri="{FF2B5EF4-FFF2-40B4-BE49-F238E27FC236}">
                <a16:creationId xmlns:a16="http://schemas.microsoft.com/office/drawing/2014/main" id="{A1D15817-C166-4D60-B87A-46572646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自主决策">
            <a:extLst xmlns:a="http://schemas.openxmlformats.org/drawingml/2006/main">
              <a:ext uri="{FF2B5EF4-FFF2-40B4-BE49-F238E27FC236}">
                <a16:creationId xmlns:a16="http://schemas.microsoft.com/office/drawing/2014/main" id="{845FFF74-B6BD-4621-BED8-0E6F3C60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自主决策</a:t>
            </a:r>
          </a:p>
        </p:txBody>
      </p:sp>
      <p:sp>
        <p:nvSpPr>
          <p:cNvPr id="9" name="bullet-detail-自主决策">
            <a:extLst xmlns:a="http://schemas.openxmlformats.org/drawingml/2006/main">
              <a:ext uri="{FF2B5EF4-FFF2-40B4-BE49-F238E27FC236}">
                <a16:creationId xmlns:a16="http://schemas.microsoft.com/office/drawing/2014/main" id="{D32B231F-622A-45E3-8984-405512DE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9960"/>
            <a:ext cx="3143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LLM 作为系统大脑，不再是固定的规则流，而是动态调度。</a:t>
            </a:r>
          </a:p>
        </p:txBody>
      </p:sp>
      <p:sp>
        <p:nvSpPr>
          <p:cNvPr id="10" name="bullet-dot-react-循环">
            <a:extLst xmlns:a="http://schemas.openxmlformats.org/drawingml/2006/main">
              <a:ext uri="{FF2B5EF4-FFF2-40B4-BE49-F238E27FC236}">
                <a16:creationId xmlns:a16="http://schemas.microsoft.com/office/drawing/2014/main" id="{2544B61B-603D-4EA3-9E18-86A5697D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86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react-循环">
            <a:extLst xmlns:a="http://schemas.openxmlformats.org/drawingml/2006/main">
              <a:ext uri="{FF2B5EF4-FFF2-40B4-BE49-F238E27FC236}">
                <a16:creationId xmlns:a16="http://schemas.microsoft.com/office/drawing/2014/main" id="{1DFE634A-AB6F-4C7F-9406-5BF1CA87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861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ReAct 循环</a:t>
            </a:r>
          </a:p>
        </p:txBody>
      </p:sp>
      <p:sp>
        <p:nvSpPr>
          <p:cNvPr id="12" name="bullet-detail-react-循环">
            <a:extLst xmlns:a="http://schemas.openxmlformats.org/drawingml/2006/main">
              <a:ext uri="{FF2B5EF4-FFF2-40B4-BE49-F238E27FC236}">
                <a16:creationId xmlns:a16="http://schemas.microsoft.com/office/drawing/2014/main" id="{4BB3DCC4-5517-44F9-9C1B-2D37A9C2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102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Thought (思考) → Action (派发/工具) → Observation (观察反馈)。</a:t>
            </a:r>
          </a:p>
        </p:txBody>
      </p:sp>
      <p:sp>
        <p:nvSpPr>
          <p:cNvPr id="13" name="bullet-dot-任务交接">
            <a:extLst xmlns:a="http://schemas.openxmlformats.org/drawingml/2006/main">
              <a:ext uri="{FF2B5EF4-FFF2-40B4-BE49-F238E27FC236}">
                <a16:creationId xmlns:a16="http://schemas.microsoft.com/office/drawing/2014/main" id="{8D27376F-ADC0-4107-AA75-188EDEBD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82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任务交接">
            <a:extLst xmlns:a="http://schemas.openxmlformats.org/drawingml/2006/main">
              <a:ext uri="{FF2B5EF4-FFF2-40B4-BE49-F238E27FC236}">
                <a16:creationId xmlns:a16="http://schemas.microsoft.com/office/drawing/2014/main" id="{FF51BBAC-BFD0-4EBD-BD92-FD1B8B97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0822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任务交接</a:t>
            </a:r>
          </a:p>
        </p:txBody>
      </p:sp>
      <p:sp>
        <p:nvSpPr>
          <p:cNvPr id="15" name="bullet-detail-任务交接">
            <a:extLst xmlns:a="http://schemas.openxmlformats.org/drawingml/2006/main">
              <a:ext uri="{FF2B5EF4-FFF2-40B4-BE49-F238E27FC236}">
                <a16:creationId xmlns:a16="http://schemas.microsoft.com/office/drawing/2014/main" id="{EB1AD4DD-B60A-4364-8D4A-CE9C9AA5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063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通过 TaskHandoff 协议，在不同 Agent 间传递上下文与高优区域。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220F34-AB2E-41B0-80F9-687DC65E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00250"/>
            <a:ext cx="88182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专业子 Agent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735432-0C82-4901-9951-347A7C36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74570"/>
            <a:ext cx="217170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领域专家分离</a:t>
            </a:r>
          </a:p>
        </p:txBody>
      </p:sp>
      <p:sp>
        <p:nvSpPr>
          <p:cNvPr id="18" name="bullet-dot-recon-agent-侦察">
            <a:extLst xmlns:a="http://schemas.openxmlformats.org/drawingml/2006/main">
              <a:ext uri="{FF2B5EF4-FFF2-40B4-BE49-F238E27FC236}">
                <a16:creationId xmlns:a16="http://schemas.microsoft.com/office/drawing/2014/main" id="{C3C32BBF-CDA6-451F-9416-CAF28E53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recon-agent-侦察">
            <a:extLst xmlns:a="http://schemas.openxmlformats.org/drawingml/2006/main">
              <a:ext uri="{FF2B5EF4-FFF2-40B4-BE49-F238E27FC236}">
                <a16:creationId xmlns:a16="http://schemas.microsoft.com/office/drawing/2014/main" id="{6463513D-81B3-42B1-A0A1-50C22554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2321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Recon Agent (侦察)</a:t>
            </a:r>
          </a:p>
        </p:txBody>
      </p:sp>
      <p:sp>
        <p:nvSpPr>
          <p:cNvPr id="20" name="bullet-detail-recon-agent-侦察">
            <a:extLst xmlns:a="http://schemas.openxmlformats.org/drawingml/2006/main">
              <a:ext uri="{FF2B5EF4-FFF2-40B4-BE49-F238E27FC236}">
                <a16:creationId xmlns:a16="http://schemas.microsoft.com/office/drawing/2014/main" id="{A0E5A310-0BB0-468C-A79A-C82D5283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55620"/>
            <a:ext cx="342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收集项目结构、识别技术栈和定位高危入口点。</a:t>
            </a:r>
          </a:p>
        </p:txBody>
      </p:sp>
      <p:sp>
        <p:nvSpPr>
          <p:cNvPr id="21" name="bullet-dot-analysis-agent-分析">
            <a:extLst xmlns:a="http://schemas.openxmlformats.org/drawingml/2006/main">
              <a:ext uri="{FF2B5EF4-FFF2-40B4-BE49-F238E27FC236}">
                <a16:creationId xmlns:a16="http://schemas.microsoft.com/office/drawing/2014/main" id="{705E26E4-E9A2-4EF1-8117-44F0874C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413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analysis-agent-分析">
            <a:extLst xmlns:a="http://schemas.openxmlformats.org/drawingml/2006/main">
              <a:ext uri="{FF2B5EF4-FFF2-40B4-BE49-F238E27FC236}">
                <a16:creationId xmlns:a16="http://schemas.microsoft.com/office/drawing/2014/main" id="{FE78A595-1DDA-4809-885E-286016BB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4137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Analysis Agent (分析)</a:t>
            </a:r>
          </a:p>
        </p:txBody>
      </p:sp>
      <p:sp>
        <p:nvSpPr>
          <p:cNvPr id="23" name="bullet-detail-analysis-agent-分析">
            <a:extLst xmlns:a="http://schemas.openxmlformats.org/drawingml/2006/main">
              <a:ext uri="{FF2B5EF4-FFF2-40B4-BE49-F238E27FC236}">
                <a16:creationId xmlns:a16="http://schemas.microsoft.com/office/drawing/2014/main" id="{A8ED44A6-F526-4233-A398-A7C69F69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7378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挂载 SmartScan、Semgrep 等工具，进行深度漏洞挖掘。</a:t>
            </a:r>
          </a:p>
        </p:txBody>
      </p:sp>
      <p:sp>
        <p:nvSpPr>
          <p:cNvPr id="24" name="bullet-dot-verification-agent-验证">
            <a:extLst xmlns:a="http://schemas.openxmlformats.org/drawingml/2006/main">
              <a:ext uri="{FF2B5EF4-FFF2-40B4-BE49-F238E27FC236}">
                <a16:creationId xmlns:a16="http://schemas.microsoft.com/office/drawing/2014/main" id="{7535105C-E6A2-4152-B5CB-1DCEC6DE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309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verification-agent-验证">
            <a:extLst xmlns:a="http://schemas.openxmlformats.org/drawingml/2006/main">
              <a:ext uri="{FF2B5EF4-FFF2-40B4-BE49-F238E27FC236}">
                <a16:creationId xmlns:a16="http://schemas.microsoft.com/office/drawing/2014/main" id="{094E74AA-7F9F-4070-99CC-CD3D2DBD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3098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Verification Agent (验证)</a:t>
            </a:r>
          </a:p>
        </p:txBody>
      </p:sp>
      <p:sp>
        <p:nvSpPr>
          <p:cNvPr id="26" name="bullet-detail-verification-agent-验证">
            <a:extLst xmlns:a="http://schemas.openxmlformats.org/drawingml/2006/main">
              <a:ext uri="{FF2B5EF4-FFF2-40B4-BE49-F238E27FC236}">
                <a16:creationId xmlns:a16="http://schemas.microsoft.com/office/drawing/2014/main" id="{201B84AE-A335-4B51-9379-66189DFC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6339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负责减少误报，生成 PoC 并在隔离沙箱中验证可利用性。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6BB67-81D4-4F6F-9ECB-57E9CB02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00250"/>
            <a:ext cx="6667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动态任务流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C47EFB-FC54-4661-A3B8-497D6EB0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74570"/>
            <a:ext cx="3714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442A40-80AF-4548-94A7-F681B299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26970"/>
            <a:ext cx="1231868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LLM Output 示例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924CDF-ED7C-43B3-BC47-BECAFCEB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93670"/>
            <a:ext cx="3658743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Thought: 这是一个 Django 项目，我应该先派发 Recon。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4CB3CF-A6F2-49FF-A151-6E8472B2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31820"/>
            <a:ext cx="1892236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Action: dispatch_agent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C9B1CC-CA85-47D4-8135-CC03C4DF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98520"/>
            <a:ext cx="2054923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Action Input: {"agent": "recon"}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ACCB37-4C51-43A9-BA00-A401857F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08120"/>
            <a:ext cx="2857500" cy="5829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通过熔断器(Circuit Breaker)和重试机制保证协作的健壮性。</a:t>
            </a:r>
          </a:p>
        </p:txBody>
      </p:sp>
    </p:spTree>
    <p:extLst>
      <p:ext uri="{BB962C8B-B14F-4D97-AF65-F5344CB8AC3E}">
        <p14:creationId xmlns:p14="http://schemas.microsoft.com/office/powerpoint/2010/main" val="20206063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实现方法与关键技术">
            <a:extLst xmlns:a="http://schemas.openxmlformats.org/drawingml/2006/main">
              <a:ext uri="{FF2B5EF4-FFF2-40B4-BE49-F238E27FC236}">
                <a16:creationId xmlns:a16="http://schemas.microsoft.com/office/drawing/2014/main" id="{9BF3A2FA-E72C-4A0B-8582-D7AEDE70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204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IMPLEMENTATION</a:t>
            </a:r>
          </a:p>
        </p:txBody>
      </p:sp>
      <p:sp>
        <p:nvSpPr>
          <p:cNvPr id="2" name="header-title-实现方法与关键技术">
            <a:extLst xmlns:a="http://schemas.openxmlformats.org/drawingml/2006/main">
              <a:ext uri="{FF2B5EF4-FFF2-40B4-BE49-F238E27FC236}">
                <a16:creationId xmlns:a16="http://schemas.microsoft.com/office/drawing/2014/main" id="{2202A3B9-FEF6-4B94-AA2F-BD4FA56C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实现方法与关键技术</a:t>
            </a:r>
          </a:p>
        </p:txBody>
      </p:sp>
      <p:sp>
        <p:nvSpPr>
          <p:cNvPr id="3" name="header-subtitle-实现方法与关键技术">
            <a:extLst xmlns:a="http://schemas.openxmlformats.org/drawingml/2006/main">
              <a:ext uri="{FF2B5EF4-FFF2-40B4-BE49-F238E27FC236}">
                <a16:creationId xmlns:a16="http://schemas.microsoft.com/office/drawing/2014/main" id="{883AE0E5-A442-43BC-B0ED-ED81D9DB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先工具、再推理；先收敛、再验证；先回传、再报告。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544D358B-9D22-455B-B0AC-780F7CB0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impl-exec-kicker">
            <a:extLst xmlns:a="http://schemas.openxmlformats.org/drawingml/2006/main">
              <a:ext uri="{FF2B5EF4-FFF2-40B4-BE49-F238E27FC236}">
                <a16:creationId xmlns:a16="http://schemas.microsoft.com/office/drawing/2014/main" id="{FC82126F-4E07-45EA-9992-6EC18F81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4000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执行链</a:t>
            </a:r>
          </a:p>
        </p:txBody>
      </p:sp>
      <p:sp>
        <p:nvSpPr>
          <p:cNvPr id="6" name="impl-exec-title">
            <a:extLst xmlns:a="http://schemas.openxmlformats.org/drawingml/2006/main">
              <a:ext uri="{FF2B5EF4-FFF2-40B4-BE49-F238E27FC236}">
                <a16:creationId xmlns:a16="http://schemas.microsoft.com/office/drawing/2014/main" id="{8535F50C-5DAE-4633-9437-8215BC41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289560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任务入口与运行时</a:t>
            </a:r>
          </a:p>
        </p:txBody>
      </p:sp>
      <p:sp>
        <p:nvSpPr>
          <p:cNvPr id="7" name="bullet-dot-任务入口分域">
            <a:extLst xmlns:a="http://schemas.openxmlformats.org/drawingml/2006/main">
              <a:ext uri="{FF2B5EF4-FFF2-40B4-BE49-F238E27FC236}">
                <a16:creationId xmlns:a16="http://schemas.microsoft.com/office/drawing/2014/main" id="{EC806DD8-AD1A-4D4B-9CD2-60C61846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任务入口分域">
            <a:extLst xmlns:a="http://schemas.openxmlformats.org/drawingml/2006/main">
              <a:ext uri="{FF2B5EF4-FFF2-40B4-BE49-F238E27FC236}">
                <a16:creationId xmlns:a16="http://schemas.microsoft.com/office/drawing/2014/main" id="{FB7C20BD-92A8-4B4B-9B8D-828AA678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321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任务入口分域</a:t>
            </a:r>
          </a:p>
        </p:txBody>
      </p:sp>
      <p:sp>
        <p:nvSpPr>
          <p:cNvPr id="9" name="bullet-detail-任务入口分域">
            <a:extLst xmlns:a="http://schemas.openxmlformats.org/drawingml/2006/main">
              <a:ext uri="{FF2B5EF4-FFF2-40B4-BE49-F238E27FC236}">
                <a16:creationId xmlns:a16="http://schemas.microsoft.com/office/drawing/2014/main" id="{3B28D814-FEEC-4FD3-A3F6-74C00818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5620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project_services、scan_task_services、agent_task_services 分别处理项目、传统扫描和 Agent 审计。</a:t>
            </a:r>
          </a:p>
        </p:txBody>
      </p:sp>
      <p:sp>
        <p:nvSpPr>
          <p:cNvPr id="10" name="bullet-dot-工作区准备">
            <a:extLst xmlns:a="http://schemas.openxmlformats.org/drawingml/2006/main">
              <a:ext uri="{FF2B5EF4-FFF2-40B4-BE49-F238E27FC236}">
                <a16:creationId xmlns:a16="http://schemas.microsoft.com/office/drawing/2014/main" id="{4BFD2902-C6E5-4866-94BB-BDA56D51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842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工作区准备">
            <a:extLst xmlns:a="http://schemas.openxmlformats.org/drawingml/2006/main">
              <a:ext uri="{FF2B5EF4-FFF2-40B4-BE49-F238E27FC236}">
                <a16:creationId xmlns:a16="http://schemas.microsoft.com/office/drawing/2014/main" id="{E321D821-3BB6-4C1C-9BC7-13E90BFB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8427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工作区准备</a:t>
            </a:r>
          </a:p>
        </p:txBody>
      </p:sp>
      <p:sp>
        <p:nvSpPr>
          <p:cNvPr id="12" name="bullet-detail-工作区准备">
            <a:extLst xmlns:a="http://schemas.openxmlformats.org/drawingml/2006/main">
              <a:ext uri="{FF2B5EF4-FFF2-40B4-BE49-F238E27FC236}">
                <a16:creationId xmlns:a16="http://schemas.microsoft.com/office/drawing/2014/main" id="{F288CE96-CD1A-4297-BE69-60B01F28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6680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runtime.py + storage.py 负责 workspace、git worktree、ZIP、SSH 和目录清理。</a:t>
            </a:r>
          </a:p>
        </p:txBody>
      </p:sp>
      <p:sp>
        <p:nvSpPr>
          <p:cNvPr id="13" name="bullet-dot-结果输出">
            <a:extLst xmlns:a="http://schemas.openxmlformats.org/drawingml/2006/main">
              <a:ext uri="{FF2B5EF4-FFF2-40B4-BE49-F238E27FC236}">
                <a16:creationId xmlns:a16="http://schemas.microsoft.com/office/drawing/2014/main" id="{6C4899E6-BEDE-4521-B742-34943DDD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53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结果输出">
            <a:extLst xmlns:a="http://schemas.openxmlformats.org/drawingml/2006/main">
              <a:ext uri="{FF2B5EF4-FFF2-40B4-BE49-F238E27FC236}">
                <a16:creationId xmlns:a16="http://schemas.microsoft.com/office/drawing/2014/main" id="{1D345FF8-BB26-42F5-8023-05677022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4533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结果输出</a:t>
            </a:r>
          </a:p>
        </p:txBody>
      </p:sp>
      <p:sp>
        <p:nvSpPr>
          <p:cNvPr id="15" name="bullet-detail-结果输出">
            <a:extLst xmlns:a="http://schemas.openxmlformats.org/drawingml/2006/main">
              <a:ext uri="{FF2B5EF4-FFF2-40B4-BE49-F238E27FC236}">
                <a16:creationId xmlns:a16="http://schemas.microsoft.com/office/drawing/2014/main" id="{158FC93F-A5EA-44FA-901F-0E8C0901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77740"/>
            <a:ext cx="2952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reporting.py 生成 PDF / JSON，AgentCheckpoint 支持恢复和重跑。</a:t>
            </a:r>
          </a:p>
        </p:txBody>
      </p:sp>
      <p:sp>
        <p:nvSpPr>
          <p:cNvPr id="16" name="impl-orch-kicker">
            <a:extLst xmlns:a="http://schemas.openxmlformats.org/drawingml/2006/main">
              <a:ext uri="{FF2B5EF4-FFF2-40B4-BE49-F238E27FC236}">
                <a16:creationId xmlns:a16="http://schemas.microsoft.com/office/drawing/2014/main" id="{690BDC0D-F93E-405E-B491-D8B48773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8001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遥测与健壮性</a:t>
            </a:r>
          </a:p>
        </p:txBody>
      </p:sp>
      <p:sp>
        <p:nvSpPr>
          <p:cNvPr id="17" name="impl-orch-title">
            <a:extLst xmlns:a="http://schemas.openxmlformats.org/drawingml/2006/main">
              <a:ext uri="{FF2B5EF4-FFF2-40B4-BE49-F238E27FC236}">
                <a16:creationId xmlns:a16="http://schemas.microsoft.com/office/drawing/2014/main" id="{A6E813B9-6195-4921-AC45-775B0BB1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74570"/>
            <a:ext cx="289560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分布式追踪与熔断</a:t>
            </a:r>
          </a:p>
        </p:txBody>
      </p:sp>
      <p:sp>
        <p:nvSpPr>
          <p:cNvPr id="18" name="bullet-dot-event-manager">
            <a:extLst xmlns:a="http://schemas.openxmlformats.org/drawingml/2006/main">
              <a:ext uri="{FF2B5EF4-FFF2-40B4-BE49-F238E27FC236}">
                <a16:creationId xmlns:a16="http://schemas.microsoft.com/office/drawing/2014/main" id="{6D827B7D-0359-444D-8AC1-C370320F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event-manager">
            <a:extLst xmlns:a="http://schemas.openxmlformats.org/drawingml/2006/main">
              <a:ext uri="{FF2B5EF4-FFF2-40B4-BE49-F238E27FC236}">
                <a16:creationId xmlns:a16="http://schemas.microsoft.com/office/drawing/2014/main" id="{F49EB707-C5AD-4C69-855F-5498BA30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321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Event Manager</a:t>
            </a:r>
          </a:p>
        </p:txBody>
      </p:sp>
      <p:sp>
        <p:nvSpPr>
          <p:cNvPr id="20" name="bullet-detail-event-manager">
            <a:extLst xmlns:a="http://schemas.openxmlformats.org/drawingml/2006/main">
              <a:ext uri="{FF2B5EF4-FFF2-40B4-BE49-F238E27FC236}">
                <a16:creationId xmlns:a16="http://schemas.microsoft.com/office/drawing/2014/main" id="{460FB049-8DB8-4FCD-8F4A-E2E1FDAC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5562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内存队列 + SSE 异步迭代，实现高并发下的低延迟事件分发。</a:t>
            </a:r>
          </a:p>
        </p:txBody>
      </p:sp>
      <p:sp>
        <p:nvSpPr>
          <p:cNvPr id="21" name="impl-orch-panel">
            <a:extLst xmlns:a="http://schemas.openxmlformats.org/drawingml/2006/main">
              <a:ext uri="{FF2B5EF4-FFF2-40B4-BE49-F238E27FC236}">
                <a16:creationId xmlns:a16="http://schemas.microsoft.com/office/drawing/2014/main" id="{070BA190-1513-4A41-A983-90592B3D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12820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impl-orch-tree-title">
            <a:extLst xmlns:a="http://schemas.openxmlformats.org/drawingml/2006/main">
              <a:ext uri="{FF2B5EF4-FFF2-40B4-BE49-F238E27FC236}">
                <a16:creationId xmlns:a16="http://schemas.microsoft.com/office/drawing/2014/main" id="{CB9F7FC6-2F7E-4FCD-9784-3CC1B5B1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12820"/>
            <a:ext cx="2109407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Circuit Breaker (熔断器)</a:t>
            </a:r>
          </a:p>
        </p:txBody>
      </p:sp>
      <p:sp>
        <p:nvSpPr>
          <p:cNvPr id="23" name="impl-orch-tree-body">
            <a:extLst xmlns:a="http://schemas.openxmlformats.org/drawingml/2006/main">
              <a:ext uri="{FF2B5EF4-FFF2-40B4-BE49-F238E27FC236}">
                <a16:creationId xmlns:a16="http://schemas.microsoft.com/office/drawing/2014/main" id="{D4766080-69B5-48D6-9F88-C2F9DABB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71900"/>
            <a:ext cx="2730056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CLOSED → OPEN → HALF_OPEN → CLOSED</a:t>
            </a:r>
          </a:p>
        </p:txBody>
      </p:sp>
      <p:sp>
        <p:nvSpPr>
          <p:cNvPr id="24" name="impl-orch-tree-note">
            <a:extLst xmlns:a="http://schemas.openxmlformats.org/drawingml/2006/main">
              <a:ext uri="{FF2B5EF4-FFF2-40B4-BE49-F238E27FC236}">
                <a16:creationId xmlns:a16="http://schemas.microsoft.com/office/drawing/2014/main" id="{1F336DD6-AA83-43C6-B73E-3F4747FA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08120"/>
            <a:ext cx="3043619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失败阈值 5 次，恢复超时 30s，防止级联故障。</a:t>
            </a:r>
          </a:p>
        </p:txBody>
      </p:sp>
      <p:sp>
        <p:nvSpPr>
          <p:cNvPr id="25" name="bullet-dot-分布式追踪-tracer">
            <a:extLst xmlns:a="http://schemas.openxmlformats.org/drawingml/2006/main">
              <a:ext uri="{FF2B5EF4-FFF2-40B4-BE49-F238E27FC236}">
                <a16:creationId xmlns:a16="http://schemas.microsoft.com/office/drawing/2014/main" id="{35037B26-2E35-4FA4-8DB6-006C8F48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2938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26" name="bullet-title-分布式追踪-tracer">
            <a:extLst xmlns:a="http://schemas.openxmlformats.org/drawingml/2006/main">
              <a:ext uri="{FF2B5EF4-FFF2-40B4-BE49-F238E27FC236}">
                <a16:creationId xmlns:a16="http://schemas.microsoft.com/office/drawing/2014/main" id="{1125B09C-FAE9-4967-861D-78FD8890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9387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分布式追踪 (Tracer)</a:t>
            </a:r>
          </a:p>
        </p:txBody>
      </p:sp>
      <p:sp>
        <p:nvSpPr>
          <p:cNvPr id="27" name="bullet-detail-分布式追踪-tracer">
            <a:extLst xmlns:a="http://schemas.openxmlformats.org/drawingml/2006/main">
              <a:ext uri="{FF2B5EF4-FFF2-40B4-BE49-F238E27FC236}">
                <a16:creationId xmlns:a16="http://schemas.microsoft.com/office/drawing/2014/main" id="{F77CC236-60FF-4029-95CD-5F4C0C36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2628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记录执行时间、Token使用量和关联ID，构建完整的追踪树。</a:t>
            </a:r>
          </a:p>
        </p:txBody>
      </p:sp>
      <p:sp>
        <p:nvSpPr>
          <p:cNvPr id="28" name="bullet-dot-速率限制-rate-limiter">
            <a:extLst xmlns:a="http://schemas.openxmlformats.org/drawingml/2006/main">
              <a:ext uri="{FF2B5EF4-FFF2-40B4-BE49-F238E27FC236}">
                <a16:creationId xmlns:a16="http://schemas.microsoft.com/office/drawing/2014/main" id="{DFE78F8D-A7D7-4DB2-90D7-A0F42A76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834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29" name="bullet-title-速率限制-rate-limiter">
            <a:extLst xmlns:a="http://schemas.openxmlformats.org/drawingml/2006/main">
              <a:ext uri="{FF2B5EF4-FFF2-40B4-BE49-F238E27FC236}">
                <a16:creationId xmlns:a16="http://schemas.microsoft.com/office/drawing/2014/main" id="{90758A7D-F464-4FD8-8C2E-FA0EA801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8348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速率限制 (Rate Limiter)</a:t>
            </a:r>
          </a:p>
        </p:txBody>
      </p:sp>
      <p:sp>
        <p:nvSpPr>
          <p:cNvPr id="30" name="bullet-detail-速率限制-rate-limiter">
            <a:extLst xmlns:a="http://schemas.openxmlformats.org/drawingml/2006/main">
              <a:ext uri="{FF2B5EF4-FFF2-40B4-BE49-F238E27FC236}">
                <a16:creationId xmlns:a16="http://schemas.microsoft.com/office/drawing/2014/main" id="{742A1AEA-E39C-47A6-AEAA-4A134621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1589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基于令牌桶算法，平滑控制 LLM 和外部工具的并发请求频率。</a:t>
            </a:r>
          </a:p>
        </p:txBody>
      </p:sp>
      <p:sp>
        <p:nvSpPr>
          <p:cNvPr id="31" name="impl-realtime-kicker">
            <a:extLst xmlns:a="http://schemas.openxmlformats.org/drawingml/2006/main">
              <a:ext uri="{FF2B5EF4-FFF2-40B4-BE49-F238E27FC236}">
                <a16:creationId xmlns:a16="http://schemas.microsoft.com/office/drawing/2014/main" id="{0833CB97-A54E-4396-982F-13B1EB59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00250"/>
            <a:ext cx="4000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实时层</a:t>
            </a:r>
          </a:p>
        </p:txBody>
      </p:sp>
      <p:sp>
        <p:nvSpPr>
          <p:cNvPr id="32" name="impl-realtime-title">
            <a:extLst xmlns:a="http://schemas.openxmlformats.org/drawingml/2006/main">
              <a:ext uri="{FF2B5EF4-FFF2-40B4-BE49-F238E27FC236}">
                <a16:creationId xmlns:a16="http://schemas.microsoft.com/office/drawing/2014/main" id="{A1866F21-91F4-4776-ACB5-7C293AA4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74570"/>
            <a:ext cx="2631662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可观测 + 可恢复</a:t>
            </a:r>
          </a:p>
        </p:txBody>
      </p:sp>
      <p:sp>
        <p:nvSpPr>
          <p:cNvPr id="33" name="bullet-dot-流式事件">
            <a:extLst xmlns:a="http://schemas.openxmlformats.org/drawingml/2006/main">
              <a:ext uri="{FF2B5EF4-FFF2-40B4-BE49-F238E27FC236}">
                <a16:creationId xmlns:a16="http://schemas.microsoft.com/office/drawing/2014/main" id="{007BDA69-6C41-41E6-B7B2-CF76E3F5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4" name="bullet-title-流式事件">
            <a:extLst xmlns:a="http://schemas.openxmlformats.org/drawingml/2006/main">
              <a:ext uri="{FF2B5EF4-FFF2-40B4-BE49-F238E27FC236}">
                <a16:creationId xmlns:a16="http://schemas.microsoft.com/office/drawing/2014/main" id="{BE7A2A10-84C6-40AB-9DB3-3EAEC231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5755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流式事件</a:t>
            </a:r>
          </a:p>
        </p:txBody>
      </p:sp>
      <p:sp>
        <p:nvSpPr>
          <p:cNvPr id="35" name="bullet-detail-流式事件">
            <a:extLst xmlns:a="http://schemas.openxmlformats.org/drawingml/2006/main">
              <a:ext uri="{FF2B5EF4-FFF2-40B4-BE49-F238E27FC236}">
                <a16:creationId xmlns:a16="http://schemas.microsoft.com/office/drawing/2014/main" id="{2687EA5B-622E-4AD1-A0DA-26D2C380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8996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thinking、tool_call、node_start、phase_start、finding、heartbeat、task_end 持续回传。</a:t>
            </a:r>
          </a:p>
        </p:txBody>
      </p:sp>
      <p:sp>
        <p:nvSpPr>
          <p:cNvPr id="36" name="bullet-dot-前端重连">
            <a:extLst xmlns:a="http://schemas.openxmlformats.org/drawingml/2006/main">
              <a:ext uri="{FF2B5EF4-FFF2-40B4-BE49-F238E27FC236}">
                <a16:creationId xmlns:a16="http://schemas.microsoft.com/office/drawing/2014/main" id="{0A3D4219-9ACD-495C-8AC6-6986AAAD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4716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37" name="bullet-title-前端重连">
            <a:extLst xmlns:a="http://schemas.openxmlformats.org/drawingml/2006/main">
              <a:ext uri="{FF2B5EF4-FFF2-40B4-BE49-F238E27FC236}">
                <a16:creationId xmlns:a16="http://schemas.microsoft.com/office/drawing/2014/main" id="{5D70AD4E-3CE7-48B1-AB89-25F750DE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4716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前端重连</a:t>
            </a:r>
          </a:p>
        </p:txBody>
      </p:sp>
      <p:sp>
        <p:nvSpPr>
          <p:cNvPr id="38" name="bullet-detail-前端重连">
            <a:extLst xmlns:a="http://schemas.openxmlformats.org/drawingml/2006/main">
              <a:ext uri="{FF2B5EF4-FFF2-40B4-BE49-F238E27FC236}">
                <a16:creationId xmlns:a16="http://schemas.microsoft.com/office/drawing/2014/main" id="{758C823C-A927-40EF-8CF4-E4B86494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7957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fetch + ReadableStream + afterSequence 续传，配合 heartbeat 和指数退避重连。</a:t>
            </a:r>
          </a:p>
        </p:txBody>
      </p:sp>
      <p:sp>
        <p:nvSpPr>
          <p:cNvPr id="39" name="bullet-dot-任务恢复">
            <a:extLst xmlns:a="http://schemas.openxmlformats.org/drawingml/2006/main">
              <a:ext uri="{FF2B5EF4-FFF2-40B4-BE49-F238E27FC236}">
                <a16:creationId xmlns:a16="http://schemas.microsoft.com/office/drawing/2014/main" id="{EACDC78E-C3FF-44F1-B48E-46029F11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367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40" name="bullet-title-任务恢复">
            <a:extLst xmlns:a="http://schemas.openxmlformats.org/drawingml/2006/main">
              <a:ext uri="{FF2B5EF4-FFF2-40B4-BE49-F238E27FC236}">
                <a16:creationId xmlns:a16="http://schemas.microsoft.com/office/drawing/2014/main" id="{95FB5C7E-2477-42F1-B23D-AE0BFE32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3677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任务恢复</a:t>
            </a:r>
          </a:p>
        </p:txBody>
      </p:sp>
      <p:sp>
        <p:nvSpPr>
          <p:cNvPr id="41" name="bullet-detail-任务恢复">
            <a:extLst xmlns:a="http://schemas.openxmlformats.org/drawingml/2006/main">
              <a:ext uri="{FF2B5EF4-FFF2-40B4-BE49-F238E27FC236}">
                <a16:creationId xmlns:a16="http://schemas.microsoft.com/office/drawing/2014/main" id="{8EB7E6EE-C1B3-404B-9ACD-92F970ED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6918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checkpoint、snapshot、workspace 缓存让长任务中断后仍能恢复。</a:t>
            </a:r>
          </a:p>
        </p:txBody>
      </p:sp>
      <p:sp>
        <p:nvSpPr>
          <p:cNvPr id="42" name="impl-realtime-note">
            <a:extLst xmlns:a="http://schemas.openxmlformats.org/drawingml/2006/main">
              <a:ext uri="{FF2B5EF4-FFF2-40B4-BE49-F238E27FC236}">
                <a16:creationId xmlns:a16="http://schemas.microsoft.com/office/drawing/2014/main" id="{07296E33-F93F-4991-A3CF-5BE7CEBB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32638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SSE 负责主链流式输出，WebSocket 负责任务事件推送，两者共同支撑现场演示。</a:t>
            </a:r>
          </a:p>
        </p:txBody>
      </p:sp>
      <p:sp>
        <p:nvSpPr>
          <p:cNvPr id="43" name="impl-note">
            <a:extLst xmlns:a="http://schemas.openxmlformats.org/drawingml/2006/main">
              <a:ext uri="{FF2B5EF4-FFF2-40B4-BE49-F238E27FC236}">
                <a16:creationId xmlns:a16="http://schemas.microsoft.com/office/drawing/2014/main" id="{687866FF-6737-4A13-B52D-11934E75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40730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核心思路是“工具覆盖 + 模型解释 + 检查点恢复 + 事件流回传”，而不是只给一个静态最终结果。</a:t>
            </a:r>
          </a:p>
        </p:txBody>
      </p:sp>
    </p:spTree>
    <p:extLst>
      <p:ext uri="{BB962C8B-B14F-4D97-AF65-F5344CB8AC3E}">
        <p14:creationId xmlns:p14="http://schemas.microsoft.com/office/powerpoint/2010/main" val="6995409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安全工具生态与沙箱验证">
            <a:extLst xmlns:a="http://schemas.openxmlformats.org/drawingml/2006/main">
              <a:ext uri="{FF2B5EF4-FFF2-40B4-BE49-F238E27FC236}">
                <a16:creationId xmlns:a16="http://schemas.microsoft.com/office/drawing/2014/main" id="{1D558146-7424-470C-AF14-DD9D8266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29016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TOOLS &amp; SANDBOX</a:t>
            </a:r>
          </a:p>
        </p:txBody>
      </p:sp>
      <p:sp>
        <p:nvSpPr>
          <p:cNvPr id="2" name="header-title-安全工具生态与沙箱验证">
            <a:extLst xmlns:a="http://schemas.openxmlformats.org/drawingml/2006/main">
              <a:ext uri="{FF2B5EF4-FFF2-40B4-BE49-F238E27FC236}">
                <a16:creationId xmlns:a16="http://schemas.microsoft.com/office/drawing/2014/main" id="{7F4777EF-0552-480B-89ED-18F4DD7E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安全工具生态与沙箱验证</a:t>
            </a:r>
          </a:p>
        </p:txBody>
      </p:sp>
      <p:sp>
        <p:nvSpPr>
          <p:cNvPr id="3" name="header-subtitle-安全工具生态与沙箱验证">
            <a:extLst xmlns:a="http://schemas.openxmlformats.org/drawingml/2006/main">
              <a:ext uri="{FF2B5EF4-FFF2-40B4-BE49-F238E27FC236}">
                <a16:creationId xmlns:a16="http://schemas.microsoft.com/office/drawing/2014/main" id="{DFE50C34-3535-4CFD-804A-ACD5D5A7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集成 20+ 专业分析工具，结合隔离沙箱完成“发现到验证”的闭环。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5909270C-79C6-4439-9FE4-D3B0AEA4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906E51-74B4-495F-AB26-EDC8FD0F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8001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安全工具生态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060B2-0F9D-4FE9-8CC6-2A5F5D48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289560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内置与外部工具链</a:t>
            </a:r>
          </a:p>
        </p:txBody>
      </p:sp>
      <p:sp>
        <p:nvSpPr>
          <p:cNvPr id="7" name="bullet-dot-智能分析工具">
            <a:extLst xmlns:a="http://schemas.openxmlformats.org/drawingml/2006/main">
              <a:ext uri="{FF2B5EF4-FFF2-40B4-BE49-F238E27FC236}">
                <a16:creationId xmlns:a16="http://schemas.microsoft.com/office/drawing/2014/main" id="{F3918A0C-4B3C-427F-B7BE-3864E258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智能分析工具">
            <a:extLst xmlns:a="http://schemas.openxmlformats.org/drawingml/2006/main">
              <a:ext uri="{FF2B5EF4-FFF2-40B4-BE49-F238E27FC236}">
                <a16:creationId xmlns:a16="http://schemas.microsoft.com/office/drawing/2014/main" id="{7BD9397C-F5B0-4E9A-B659-248F28A6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3210"/>
            <a:ext cx="4095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智能分析工具</a:t>
            </a:r>
          </a:p>
        </p:txBody>
      </p:sp>
      <p:sp>
        <p:nvSpPr>
          <p:cNvPr id="9" name="bullet-detail-智能分析工具">
            <a:extLst xmlns:a="http://schemas.openxmlformats.org/drawingml/2006/main">
              <a:ext uri="{FF2B5EF4-FFF2-40B4-BE49-F238E27FC236}">
                <a16:creationId xmlns:a16="http://schemas.microsoft.com/office/drawing/2014/main" id="{FEDFE933-DF8F-41AD-BE9A-35C2E444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5620"/>
            <a:ext cx="4095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SmartScanTool (推荐首选) / DataFlowAnalysisTool。</a:t>
            </a:r>
          </a:p>
        </p:txBody>
      </p:sp>
      <p:sp>
        <p:nvSpPr>
          <p:cNvPr id="10" name="bullet-dot-外部扫描器">
            <a:extLst xmlns:a="http://schemas.openxmlformats.org/drawingml/2006/main">
              <a:ext uri="{FF2B5EF4-FFF2-40B4-BE49-F238E27FC236}">
                <a16:creationId xmlns:a16="http://schemas.microsoft.com/office/drawing/2014/main" id="{5882B133-4F10-4C5C-B58C-4947D6D7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413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外部扫描器">
            <a:extLst xmlns:a="http://schemas.openxmlformats.org/drawingml/2006/main">
              <a:ext uri="{FF2B5EF4-FFF2-40B4-BE49-F238E27FC236}">
                <a16:creationId xmlns:a16="http://schemas.microsoft.com/office/drawing/2014/main" id="{B5F678C2-6052-4CF3-B8CF-40F386D3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41370"/>
            <a:ext cx="4095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外部扫描器</a:t>
            </a:r>
          </a:p>
        </p:txBody>
      </p:sp>
      <p:sp>
        <p:nvSpPr>
          <p:cNvPr id="12" name="bullet-detail-外部扫描器">
            <a:extLst xmlns:a="http://schemas.openxmlformats.org/drawingml/2006/main">
              <a:ext uri="{FF2B5EF4-FFF2-40B4-BE49-F238E27FC236}">
                <a16:creationId xmlns:a16="http://schemas.microsoft.com/office/drawing/2014/main" id="{1C5E9B3C-DE3F-4BCD-8935-1D450CC7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3780"/>
            <a:ext cx="4095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Semgrep (多语言), Bandit (Python), Gitleaks (密钥检测)。</a:t>
            </a:r>
          </a:p>
        </p:txBody>
      </p:sp>
      <p:sp>
        <p:nvSpPr>
          <p:cNvPr id="13" name="bullet-dot-后备方案">
            <a:extLst xmlns:a="http://schemas.openxmlformats.org/drawingml/2006/main">
              <a:ext uri="{FF2B5EF4-FFF2-40B4-BE49-F238E27FC236}">
                <a16:creationId xmlns:a16="http://schemas.microsoft.com/office/drawing/2014/main" id="{43B45155-0DA4-42D8-803A-4BC0D96B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595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后备方案">
            <a:extLst xmlns:a="http://schemas.openxmlformats.org/drawingml/2006/main">
              <a:ext uri="{FF2B5EF4-FFF2-40B4-BE49-F238E27FC236}">
                <a16:creationId xmlns:a16="http://schemas.microsoft.com/office/drawing/2014/main" id="{70DE5A63-C854-405D-9F28-653C158E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9530"/>
            <a:ext cx="4095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后备方案</a:t>
            </a:r>
          </a:p>
        </p:txBody>
      </p:sp>
      <p:sp>
        <p:nvSpPr>
          <p:cNvPr id="15" name="bullet-detail-后备方案">
            <a:extLst xmlns:a="http://schemas.openxmlformats.org/drawingml/2006/main">
              <a:ext uri="{FF2B5EF4-FFF2-40B4-BE49-F238E27FC236}">
                <a16:creationId xmlns:a16="http://schemas.microsoft.com/office/drawing/2014/main" id="{6D5C5D24-92C3-4B88-8C16-0FE9A8C4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1940"/>
            <a:ext cx="4095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工具超时或失败时(如 120s 限制)，自动降级至 PatternMatchTool。</a:t>
            </a:r>
          </a:p>
        </p:txBody>
      </p:sp>
      <p:sp>
        <p:nvSpPr>
          <p:cNvPr id="16" name="bullet-dot-ast-语义解析">
            <a:extLst xmlns:a="http://schemas.openxmlformats.org/drawingml/2006/main">
              <a:ext uri="{FF2B5EF4-FFF2-40B4-BE49-F238E27FC236}">
                <a16:creationId xmlns:a16="http://schemas.microsoft.com/office/drawing/2014/main" id="{2442074E-7701-4319-A172-383D91CB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91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bullet-title-ast-语义解析">
            <a:extLst xmlns:a="http://schemas.openxmlformats.org/drawingml/2006/main">
              <a:ext uri="{FF2B5EF4-FFF2-40B4-BE49-F238E27FC236}">
                <a16:creationId xmlns:a16="http://schemas.microsoft.com/office/drawing/2014/main" id="{28CBB23F-1D2F-4B0A-A377-A20A545E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49140"/>
            <a:ext cx="4095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AST 语义解析</a:t>
            </a:r>
          </a:p>
        </p:txBody>
      </p:sp>
      <p:sp>
        <p:nvSpPr>
          <p:cNvPr id="18" name="bullet-detail-ast-语义解析">
            <a:extLst xmlns:a="http://schemas.openxmlformats.org/drawingml/2006/main">
              <a:ext uri="{FF2B5EF4-FFF2-40B4-BE49-F238E27FC236}">
                <a16:creationId xmlns:a16="http://schemas.microsoft.com/office/drawing/2014/main" id="{65B99C3D-16CD-40AA-8462-8A94A82A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4095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Tree-sitter 保留完整的函数/类语义，配合 ChromaDB 构建向量。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1A8F29-5EB9-4A4E-B809-B3AA686B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00250"/>
            <a:ext cx="6667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沙箱验证层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80D596-55B2-4302-937E-1B082428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74570"/>
            <a:ext cx="3060573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从“发现”到“确认”</a:t>
            </a:r>
          </a:p>
        </p:txBody>
      </p:sp>
      <p:sp>
        <p:nvSpPr>
          <p:cNvPr id="21" name="bullet-dot-poc-自动生成">
            <a:extLst xmlns:a="http://schemas.openxmlformats.org/drawingml/2006/main">
              <a:ext uri="{FF2B5EF4-FFF2-40B4-BE49-F238E27FC236}">
                <a16:creationId xmlns:a16="http://schemas.microsoft.com/office/drawing/2014/main" id="{05FB34A4-145B-4016-97C5-F58BFBB5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poc-自动生成">
            <a:extLst xmlns:a="http://schemas.openxmlformats.org/drawingml/2006/main">
              <a:ext uri="{FF2B5EF4-FFF2-40B4-BE49-F238E27FC236}">
                <a16:creationId xmlns:a16="http://schemas.microsoft.com/office/drawing/2014/main" id="{7175F158-B170-4CD1-AD56-85ECC59F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57550"/>
            <a:ext cx="64198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PoC 自动生成</a:t>
            </a:r>
          </a:p>
        </p:txBody>
      </p:sp>
      <p:sp>
        <p:nvSpPr>
          <p:cNvPr id="23" name="bullet-detail-poc-自动生成">
            <a:extLst xmlns:a="http://schemas.openxmlformats.org/drawingml/2006/main">
              <a:ext uri="{FF2B5EF4-FFF2-40B4-BE49-F238E27FC236}">
                <a16:creationId xmlns:a16="http://schemas.microsoft.com/office/drawing/2014/main" id="{AA6BEEFC-778A-4E8A-9AA8-1253A25A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89960"/>
            <a:ext cx="6419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LLM 根据漏洞上下文，自动编写概念验证（Exploit/PoC）代码。</a:t>
            </a:r>
          </a:p>
        </p:txBody>
      </p:sp>
      <p:sp>
        <p:nvSpPr>
          <p:cNvPr id="24" name="bullet-dot-docker-隔离执行">
            <a:extLst xmlns:a="http://schemas.openxmlformats.org/drawingml/2006/main">
              <a:ext uri="{FF2B5EF4-FFF2-40B4-BE49-F238E27FC236}">
                <a16:creationId xmlns:a16="http://schemas.microsoft.com/office/drawing/2014/main" id="{9F2EFA40-2E0D-45B6-AFF3-F7EA2FD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757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docker-隔离执行">
            <a:extLst xmlns:a="http://schemas.openxmlformats.org/drawingml/2006/main">
              <a:ext uri="{FF2B5EF4-FFF2-40B4-BE49-F238E27FC236}">
                <a16:creationId xmlns:a16="http://schemas.microsoft.com/office/drawing/2014/main" id="{343C749B-6DB0-4AF2-8DF2-45B94006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75710"/>
            <a:ext cx="64198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Docker 隔离执行</a:t>
            </a:r>
          </a:p>
        </p:txBody>
      </p:sp>
      <p:sp>
        <p:nvSpPr>
          <p:cNvPr id="26" name="bullet-detail-docker-隔离执行">
            <a:extLst xmlns:a="http://schemas.openxmlformats.org/drawingml/2006/main">
              <a:ext uri="{FF2B5EF4-FFF2-40B4-BE49-F238E27FC236}">
                <a16:creationId xmlns:a16="http://schemas.microsoft.com/office/drawing/2014/main" id="{E127162D-8990-424D-B127-612C562F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08120"/>
            <a:ext cx="6419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限制网络出站、内存(512MB)、CPU，通过 seccomp 限制系统调用。</a:t>
            </a:r>
          </a:p>
        </p:txBody>
      </p:sp>
      <p:sp>
        <p:nvSpPr>
          <p:cNvPr id="27" name="bullet-dot-置信度打分">
            <a:extLst xmlns:a="http://schemas.openxmlformats.org/drawingml/2006/main">
              <a:ext uri="{FF2B5EF4-FFF2-40B4-BE49-F238E27FC236}">
                <a16:creationId xmlns:a16="http://schemas.microsoft.com/office/drawing/2014/main" id="{2546E84D-E83E-47FB-B5D7-487A770D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938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28" name="bullet-title-置信度打分">
            <a:extLst xmlns:a="http://schemas.openxmlformats.org/drawingml/2006/main">
              <a:ext uri="{FF2B5EF4-FFF2-40B4-BE49-F238E27FC236}">
                <a16:creationId xmlns:a16="http://schemas.microsoft.com/office/drawing/2014/main" id="{C171F126-8322-46AE-8D1F-014F3AB3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293870"/>
            <a:ext cx="64198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置信度打分</a:t>
            </a:r>
          </a:p>
        </p:txBody>
      </p:sp>
      <p:sp>
        <p:nvSpPr>
          <p:cNvPr id="29" name="bullet-detail-置信度打分">
            <a:extLst xmlns:a="http://schemas.openxmlformats.org/drawingml/2006/main">
              <a:ext uri="{FF2B5EF4-FFF2-40B4-BE49-F238E27FC236}">
                <a16:creationId xmlns:a16="http://schemas.microsoft.com/office/drawing/2014/main" id="{8A6FE178-2A8A-4A49-8749-9AD762A8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526280"/>
            <a:ext cx="6419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根据沙箱执行的 Observation，动态计算漏洞的可利用性与置信度。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FF5495-C8C1-4E2E-AC45-EEE8D628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2030"/>
            <a:ext cx="6610350" cy="67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5000"/>
            </a:srgbClr>
          </a:solidFill>
          <a:ln xmlns:a="http://schemas.openxmlformats.org/drawingml/2006/main" w="9525">
            <a:solidFill>
              <a:srgbClr val="FF6A2A">
                <a:alpha val="2000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7DB306-F33E-4E53-976C-64787D07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964430"/>
            <a:ext cx="4888039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验证结果使得安全报告的准确率大幅提升，真正做到“可解释、可验证”。</a:t>
            </a:r>
          </a:p>
        </p:txBody>
      </p:sp>
    </p:spTree>
    <p:extLst>
      <p:ext uri="{BB962C8B-B14F-4D97-AF65-F5344CB8AC3E}">
        <p14:creationId xmlns:p14="http://schemas.microsoft.com/office/powerpoint/2010/main" val="6720284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知识库与模型配置">
            <a:extLst xmlns:a="http://schemas.openxmlformats.org/drawingml/2006/main">
              <a:ext uri="{FF2B5EF4-FFF2-40B4-BE49-F238E27FC236}">
                <a16:creationId xmlns:a16="http://schemas.microsoft.com/office/drawing/2014/main" id="{D649068A-9963-45E1-85BC-9594F4A8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29016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RAG &amp; KNOWLEDGE</a:t>
            </a:r>
          </a:p>
        </p:txBody>
      </p:sp>
      <p:sp>
        <p:nvSpPr>
          <p:cNvPr id="2" name="header-title-知识库与模型配置">
            <a:extLst xmlns:a="http://schemas.openxmlformats.org/drawingml/2006/main">
              <a:ext uri="{FF2B5EF4-FFF2-40B4-BE49-F238E27FC236}">
                <a16:creationId xmlns:a16="http://schemas.microsoft.com/office/drawing/2014/main" id="{A846808D-E9AF-4D58-AAC6-3542B2A6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知识库与模型配置</a:t>
            </a:r>
          </a:p>
        </p:txBody>
      </p:sp>
      <p:sp>
        <p:nvSpPr>
          <p:cNvPr id="3" name="header-subtitle-知识库与模型配置">
            <a:extLst xmlns:a="http://schemas.openxmlformats.org/drawingml/2006/main">
              <a:ext uri="{FF2B5EF4-FFF2-40B4-BE49-F238E27FC236}">
                <a16:creationId xmlns:a16="http://schemas.microsoft.com/office/drawing/2014/main" id="{F223A172-7C41-45C8-91FF-626810DF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把通用漏洞知识、项目专项知识和用户级模型配置拆开，避免经验散落。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663F3795-3090-4441-8DE4-7D5D9D7B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knowledge-layer-kicker">
            <a:extLst xmlns:a="http://schemas.openxmlformats.org/drawingml/2006/main">
              <a:ext uri="{FF2B5EF4-FFF2-40B4-BE49-F238E27FC236}">
                <a16:creationId xmlns:a16="http://schemas.microsoft.com/office/drawing/2014/main" id="{94CD0B40-5C70-478A-AFE4-47B91419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知识分层</a:t>
            </a:r>
          </a:p>
        </p:txBody>
      </p:sp>
      <p:sp>
        <p:nvSpPr>
          <p:cNvPr id="6" name="knowledge-layer-title">
            <a:extLst xmlns:a="http://schemas.openxmlformats.org/drawingml/2006/main">
              <a:ext uri="{FF2B5EF4-FFF2-40B4-BE49-F238E27FC236}">
                <a16:creationId xmlns:a16="http://schemas.microsoft.com/office/drawing/2014/main" id="{60F1F59C-B030-4161-ACE3-98E6597E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6470"/>
            <a:ext cx="3355562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共享基线 + 项目专项</a:t>
            </a:r>
          </a:p>
        </p:txBody>
      </p:sp>
      <p:sp>
        <p:nvSpPr>
          <p:cNvPr id="7" name="bullet-dot-共享基线知识">
            <a:extLst xmlns:a="http://schemas.openxmlformats.org/drawingml/2006/main">
              <a:ext uri="{FF2B5EF4-FFF2-40B4-BE49-F238E27FC236}">
                <a16:creationId xmlns:a16="http://schemas.microsoft.com/office/drawing/2014/main" id="{4FAF710C-C67D-4282-834E-367BA75B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共享基线知识">
            <a:extLst xmlns:a="http://schemas.openxmlformats.org/drawingml/2006/main">
              <a:ext uri="{FF2B5EF4-FFF2-40B4-BE49-F238E27FC236}">
                <a16:creationId xmlns:a16="http://schemas.microsoft.com/office/drawing/2014/main" id="{4FF72B81-3604-42BA-985B-915872B8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共享基线知识</a:t>
            </a:r>
          </a:p>
        </p:txBody>
      </p:sp>
      <p:sp>
        <p:nvSpPr>
          <p:cNvPr id="9" name="bullet-detail-共享基线知识">
            <a:extLst xmlns:a="http://schemas.openxmlformats.org/drawingml/2006/main">
              <a:ext uri="{FF2B5EF4-FFF2-40B4-BE49-F238E27FC236}">
                <a16:creationId xmlns:a16="http://schemas.microsoft.com/office/drawing/2014/main" id="{E3C82015-4316-4F0C-A2CB-AD783787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1860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vulnerabilities / frameworks 继续维护在内置模块里，适合通用漏洞模式和长期稳定规则。</a:t>
            </a:r>
          </a:p>
        </p:txBody>
      </p:sp>
      <p:sp>
        <p:nvSpPr>
          <p:cNvPr id="10" name="bullet-dot-项目-团队知识">
            <a:extLst xmlns:a="http://schemas.openxmlformats.org/drawingml/2006/main">
              <a:ext uri="{FF2B5EF4-FFF2-40B4-BE49-F238E27FC236}">
                <a16:creationId xmlns:a16="http://schemas.microsoft.com/office/drawing/2014/main" id="{178BC5D5-7F66-4D20-B40D-3DD95FF9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805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项目-团队知识">
            <a:extLst xmlns:a="http://schemas.openxmlformats.org/drawingml/2006/main">
              <a:ext uri="{FF2B5EF4-FFF2-40B4-BE49-F238E27FC236}">
                <a16:creationId xmlns:a16="http://schemas.microsoft.com/office/drawing/2014/main" id="{CB37962C-DD64-4DB8-B659-10F949B1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051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项目 / 团队知识</a:t>
            </a:r>
          </a:p>
        </p:txBody>
      </p:sp>
      <p:sp>
        <p:nvSpPr>
          <p:cNvPr id="12" name="bullet-detail-项目-团队知识">
            <a:extLst xmlns:a="http://schemas.openxmlformats.org/drawingml/2006/main">
              <a:ext uri="{FF2B5EF4-FFF2-40B4-BE49-F238E27FC236}">
                <a16:creationId xmlns:a16="http://schemas.microsoft.com/office/drawing/2014/main" id="{68F7C8D2-3C5F-4721-B2A9-0BDD9DC6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12920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custom 条目写入 media/deepaudit/knowledge/*.json，适合误报边界、内部规范和项目坑点。</a:t>
            </a:r>
          </a:p>
        </p:txBody>
      </p:sp>
      <p:sp>
        <p:nvSpPr>
          <p:cNvPr id="13" name="bullet-dot-项目-rag">
            <a:extLst xmlns:a="http://schemas.openxmlformats.org/drawingml/2006/main">
              <a:ext uri="{FF2B5EF4-FFF2-40B4-BE49-F238E27FC236}">
                <a16:creationId xmlns:a16="http://schemas.microsoft.com/office/drawing/2014/main" id="{9D34AD6C-BE3D-4503-A67A-68AB7B1C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415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项目-rag">
            <a:extLst xmlns:a="http://schemas.openxmlformats.org/drawingml/2006/main">
              <a:ext uri="{FF2B5EF4-FFF2-40B4-BE49-F238E27FC236}">
                <a16:creationId xmlns:a16="http://schemas.microsoft.com/office/drawing/2014/main" id="{F8ECCB05-9153-44BB-8B37-4E577129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41570"/>
            <a:ext cx="2952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项目 RAG</a:t>
            </a:r>
          </a:p>
        </p:txBody>
      </p:sp>
      <p:sp>
        <p:nvSpPr>
          <p:cNvPr id="15" name="bullet-detail-项目-rag">
            <a:extLst xmlns:a="http://schemas.openxmlformats.org/drawingml/2006/main">
              <a:ext uri="{FF2B5EF4-FFF2-40B4-BE49-F238E27FC236}">
                <a16:creationId xmlns:a16="http://schemas.microsoft.com/office/drawing/2014/main" id="{24466429-C592-457C-BE01-6410D9A6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73980"/>
            <a:ext cx="2952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项目代码索引面向事实，负责“当前仓库里有什么”。</a:t>
            </a:r>
          </a:p>
        </p:txBody>
      </p:sp>
      <p:sp>
        <p:nvSpPr>
          <p:cNvPr id="16" name="knowledge-schema-kicker">
            <a:extLst xmlns:a="http://schemas.openxmlformats.org/drawingml/2006/main">
              <a:ext uri="{FF2B5EF4-FFF2-40B4-BE49-F238E27FC236}">
                <a16:creationId xmlns:a16="http://schemas.microsoft.com/office/drawing/2014/main" id="{0C1DBBFB-1C18-4FFA-9FA7-5AB66DD5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6215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条目规范</a:t>
            </a:r>
          </a:p>
        </p:txBody>
      </p:sp>
      <p:sp>
        <p:nvSpPr>
          <p:cNvPr id="17" name="knowledge-schema-title">
            <a:extLst xmlns:a="http://schemas.openxmlformats.org/drawingml/2006/main">
              <a:ext uri="{FF2B5EF4-FFF2-40B4-BE49-F238E27FC236}">
                <a16:creationId xmlns:a16="http://schemas.microsoft.com/office/drawing/2014/main" id="{11E38276-EDA8-4D8D-BB85-6C2B8DAF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36470"/>
            <a:ext cx="2971609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id 是真正的模块名</a:t>
            </a:r>
          </a:p>
        </p:txBody>
      </p:sp>
      <p:sp>
        <p:nvSpPr>
          <p:cNvPr id="18" name="bullet-dot-命名规则">
            <a:extLst xmlns:a="http://schemas.openxmlformats.org/drawingml/2006/main">
              <a:ext uri="{FF2B5EF4-FFF2-40B4-BE49-F238E27FC236}">
                <a16:creationId xmlns:a16="http://schemas.microsoft.com/office/drawing/2014/main" id="{52C91748-4D1F-493E-8025-926C34A8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命名规则">
            <a:extLst xmlns:a="http://schemas.openxmlformats.org/drawingml/2006/main">
              <a:ext uri="{FF2B5EF4-FFF2-40B4-BE49-F238E27FC236}">
                <a16:creationId xmlns:a16="http://schemas.microsoft.com/office/drawing/2014/main" id="{9249770A-350B-4DF9-BEC0-2F7BEF21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1945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命名规则</a:t>
            </a:r>
          </a:p>
        </p:txBody>
      </p:sp>
      <p:sp>
        <p:nvSpPr>
          <p:cNvPr id="20" name="bullet-detail-命名规则">
            <a:extLst xmlns:a="http://schemas.openxmlformats.org/drawingml/2006/main">
              <a:ext uri="{FF2B5EF4-FFF2-40B4-BE49-F238E27FC236}">
                <a16:creationId xmlns:a16="http://schemas.microsoft.com/office/drawing/2014/main" id="{259BF9D3-49F4-4DD1-9855-DB490EDE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51860"/>
            <a:ext cx="3238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推荐使用 custom_&lt;name&gt;_&lt;topic&gt;、team_&lt;domain&gt;_&lt;topic&gt;、proj_&lt;project&gt;_&lt;topic&gt;。</a:t>
            </a:r>
          </a:p>
        </p:txBody>
      </p:sp>
      <p:sp>
        <p:nvSpPr>
          <p:cNvPr id="21" name="bullet-dot-字段结构">
            <a:extLst xmlns:a="http://schemas.openxmlformats.org/drawingml/2006/main">
              <a:ext uri="{FF2B5EF4-FFF2-40B4-BE49-F238E27FC236}">
                <a16:creationId xmlns:a16="http://schemas.microsoft.com/office/drawing/2014/main" id="{F4D34A13-BC5F-403D-9A8D-71253009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805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字段结构">
            <a:extLst xmlns:a="http://schemas.openxmlformats.org/drawingml/2006/main">
              <a:ext uri="{FF2B5EF4-FFF2-40B4-BE49-F238E27FC236}">
                <a16:creationId xmlns:a16="http://schemas.microsoft.com/office/drawing/2014/main" id="{50460D81-2EB2-4C79-9658-C04AF277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8051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字段结构</a:t>
            </a:r>
          </a:p>
        </p:txBody>
      </p:sp>
      <p:sp>
        <p:nvSpPr>
          <p:cNvPr id="23" name="bullet-detail-字段结构">
            <a:extLst xmlns:a="http://schemas.openxmlformats.org/drawingml/2006/main">
              <a:ext uri="{FF2B5EF4-FFF2-40B4-BE49-F238E27FC236}">
                <a16:creationId xmlns:a16="http://schemas.microsoft.com/office/drawing/2014/main" id="{1F4546BE-58E1-47FF-BE0B-1A44BBE9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12920"/>
            <a:ext cx="3238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id / title / content / category / tags 为基础字段，必要时再加 severity、cwe_ids、owasp_ids。</a:t>
            </a:r>
          </a:p>
        </p:txBody>
      </p:sp>
      <p:sp>
        <p:nvSpPr>
          <p:cNvPr id="24" name="bullet-dot-内容模板">
            <a:extLst xmlns:a="http://schemas.openxmlformats.org/drawingml/2006/main">
              <a:ext uri="{FF2B5EF4-FFF2-40B4-BE49-F238E27FC236}">
                <a16:creationId xmlns:a16="http://schemas.microsoft.com/office/drawing/2014/main" id="{A5F2F641-13B8-45CB-BFB8-6AB6C63C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415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内容模板">
            <a:extLst xmlns:a="http://schemas.openxmlformats.org/drawingml/2006/main">
              <a:ext uri="{FF2B5EF4-FFF2-40B4-BE49-F238E27FC236}">
                <a16:creationId xmlns:a16="http://schemas.microsoft.com/office/drawing/2014/main" id="{F0D5CFDE-043E-4E23-89A1-F96B3467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41570"/>
            <a:ext cx="3238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内容模板</a:t>
            </a:r>
          </a:p>
        </p:txBody>
      </p:sp>
      <p:sp>
        <p:nvSpPr>
          <p:cNvPr id="26" name="bullet-detail-内容模板">
            <a:extLst xmlns:a="http://schemas.openxmlformats.org/drawingml/2006/main">
              <a:ext uri="{FF2B5EF4-FFF2-40B4-BE49-F238E27FC236}">
                <a16:creationId xmlns:a16="http://schemas.microsoft.com/office/drawing/2014/main" id="{501BC6B8-67AC-4223-93F5-01F705B3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7398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场景 / 风险模式 / 检测信号 / 误报边界 / 修复建议 / 最小示例。</a:t>
            </a:r>
          </a:p>
        </p:txBody>
      </p:sp>
      <p:sp>
        <p:nvSpPr>
          <p:cNvPr id="27" name="knowledge-llm-kicker">
            <a:extLst xmlns:a="http://schemas.openxmlformats.org/drawingml/2006/main">
              <a:ext uri="{FF2B5EF4-FFF2-40B4-BE49-F238E27FC236}">
                <a16:creationId xmlns:a16="http://schemas.microsoft.com/office/drawing/2014/main" id="{B257CBB9-E208-4761-B700-A50CC5DD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62150"/>
            <a:ext cx="12001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私有模型与运行参数</a:t>
            </a:r>
          </a:p>
        </p:txBody>
      </p:sp>
      <p:sp>
        <p:nvSpPr>
          <p:cNvPr id="28" name="knowledge-llm-title">
            <a:extLst xmlns:a="http://schemas.openxmlformats.org/drawingml/2006/main">
              <a:ext uri="{FF2B5EF4-FFF2-40B4-BE49-F238E27FC236}">
                <a16:creationId xmlns:a16="http://schemas.microsoft.com/office/drawing/2014/main" id="{0973B06A-CC72-43C0-86EA-431AA626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36470"/>
            <a:ext cx="4262247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LLM / Embedding / 缓存</a:t>
            </a:r>
          </a:p>
        </p:txBody>
      </p:sp>
      <p:sp>
        <p:nvSpPr>
          <p:cNvPr id="29" name="bullet-dot-内网网关">
            <a:extLst xmlns:a="http://schemas.openxmlformats.org/drawingml/2006/main">
              <a:ext uri="{FF2B5EF4-FFF2-40B4-BE49-F238E27FC236}">
                <a16:creationId xmlns:a16="http://schemas.microsoft.com/office/drawing/2014/main" id="{758E4740-31BB-4702-A76F-EF7A0BAF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85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0" name="bullet-title-内网网关">
            <a:extLst xmlns:a="http://schemas.openxmlformats.org/drawingml/2006/main">
              <a:ext uri="{FF2B5EF4-FFF2-40B4-BE49-F238E27FC236}">
                <a16:creationId xmlns:a16="http://schemas.microsoft.com/office/drawing/2014/main" id="{6BF6A16B-4F30-401C-AF02-B7418633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85110"/>
            <a:ext cx="3905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内网网关</a:t>
            </a:r>
          </a:p>
        </p:txBody>
      </p:sp>
      <p:sp>
        <p:nvSpPr>
          <p:cNvPr id="31" name="bullet-detail-内网网关">
            <a:extLst xmlns:a="http://schemas.openxmlformats.org/drawingml/2006/main">
              <a:ext uri="{FF2B5EF4-FFF2-40B4-BE49-F238E27FC236}">
                <a16:creationId xmlns:a16="http://schemas.microsoft.com/office/drawing/2014/main" id="{76BD2300-1C59-45C8-A205-E8474DA0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17520"/>
            <a:ext cx="3905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LLM_BASE_URL 和 EMBEDDING_BASE_URL 都应指向内网地址，避免生产流量出网。</a:t>
            </a:r>
          </a:p>
        </p:txBody>
      </p:sp>
      <p:sp>
        <p:nvSpPr>
          <p:cNvPr id="32" name="bullet-dot-超时控制">
            <a:extLst xmlns:a="http://schemas.openxmlformats.org/drawingml/2006/main">
              <a:ext uri="{FF2B5EF4-FFF2-40B4-BE49-F238E27FC236}">
                <a16:creationId xmlns:a16="http://schemas.microsoft.com/office/drawing/2014/main" id="{090EF198-BF46-4628-A11D-1DEB6BDD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747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33" name="bullet-title-超时控制">
            <a:extLst xmlns:a="http://schemas.openxmlformats.org/drawingml/2006/main">
              <a:ext uri="{FF2B5EF4-FFF2-40B4-BE49-F238E27FC236}">
                <a16:creationId xmlns:a16="http://schemas.microsoft.com/office/drawing/2014/main" id="{F0FF9BEC-F3CB-43DF-940E-15FB3D0E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74720"/>
            <a:ext cx="3905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超时控制</a:t>
            </a:r>
          </a:p>
        </p:txBody>
      </p:sp>
      <p:sp>
        <p:nvSpPr>
          <p:cNvPr id="34" name="bullet-detail-超时控制">
            <a:extLst xmlns:a="http://schemas.openxmlformats.org/drawingml/2006/main">
              <a:ext uri="{FF2B5EF4-FFF2-40B4-BE49-F238E27FC236}">
                <a16:creationId xmlns:a16="http://schemas.microsoft.com/office/drawing/2014/main" id="{536AE204-D2CA-47B9-ADA6-5A3DD18E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07130"/>
            <a:ext cx="3905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LLM_FIRST_TOKEN_TIMEOUT 与 LLM_STREAM_TIMEOUT 保障首包和持续流式输出。</a:t>
            </a:r>
          </a:p>
        </p:txBody>
      </p:sp>
      <p:sp>
        <p:nvSpPr>
          <p:cNvPr id="35" name="bullet-dot-离线缓存">
            <a:extLst xmlns:a="http://schemas.openxmlformats.org/drawingml/2006/main">
              <a:ext uri="{FF2B5EF4-FFF2-40B4-BE49-F238E27FC236}">
                <a16:creationId xmlns:a16="http://schemas.microsoft.com/office/drawing/2014/main" id="{00283CF1-57AE-41BD-AC6D-5F0DE433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643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36" name="bullet-title-离线缓存">
            <a:extLst xmlns:a="http://schemas.openxmlformats.org/drawingml/2006/main">
              <a:ext uri="{FF2B5EF4-FFF2-40B4-BE49-F238E27FC236}">
                <a16:creationId xmlns:a16="http://schemas.microsoft.com/office/drawing/2014/main" id="{51A19387-B9FF-49EF-BECA-998E3C82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64330"/>
            <a:ext cx="3905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离线缓存</a:t>
            </a:r>
          </a:p>
        </p:txBody>
      </p:sp>
      <p:sp>
        <p:nvSpPr>
          <p:cNvPr id="37" name="bullet-detail-离线缓存">
            <a:extLst xmlns:a="http://schemas.openxmlformats.org/drawingml/2006/main">
              <a:ext uri="{FF2B5EF4-FFF2-40B4-BE49-F238E27FC236}">
                <a16:creationId xmlns:a16="http://schemas.microsoft.com/office/drawing/2014/main" id="{34BB82AA-343C-445E-A12D-323AB9C2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396740"/>
            <a:ext cx="3905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DEEPAUDIT_TIKTOKEN_MODE=local，TIKTOKEN_CACHE_DIR 需被 Django 与 Celery 同时读取。</a:t>
            </a:r>
          </a:p>
        </p:txBody>
      </p:sp>
      <p:sp>
        <p:nvSpPr>
          <p:cNvPr id="38" name="bullet-dot-用户级覆盖">
            <a:extLst xmlns:a="http://schemas.openxmlformats.org/drawingml/2006/main">
              <a:ext uri="{FF2B5EF4-FFF2-40B4-BE49-F238E27FC236}">
                <a16:creationId xmlns:a16="http://schemas.microsoft.com/office/drawing/2014/main" id="{82DA227D-E6BA-4034-B37F-4528CD4F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539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39" name="bullet-title-用户级覆盖">
            <a:extLst xmlns:a="http://schemas.openxmlformats.org/drawingml/2006/main">
              <a:ext uri="{FF2B5EF4-FFF2-40B4-BE49-F238E27FC236}">
                <a16:creationId xmlns:a16="http://schemas.microsoft.com/office/drawing/2014/main" id="{95BD9C1D-C80F-4EE9-9A52-0344114B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53940"/>
            <a:ext cx="3905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用户级覆盖</a:t>
            </a:r>
          </a:p>
        </p:txBody>
      </p:sp>
      <p:sp>
        <p:nvSpPr>
          <p:cNvPr id="40" name="bullet-detail-用户级覆盖">
            <a:extLst xmlns:a="http://schemas.openxmlformats.org/drawingml/2006/main">
              <a:ext uri="{FF2B5EF4-FFF2-40B4-BE49-F238E27FC236}">
                <a16:creationId xmlns:a16="http://schemas.microsoft.com/office/drawing/2014/main" id="{DD86573A-F912-46EE-808E-E400FCD7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086350"/>
            <a:ext cx="3905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deepaudit_user_config 里的 LLM / Embedding 配置可以覆盖系统默认值，密钥入库前加密。</a:t>
            </a:r>
          </a:p>
        </p:txBody>
      </p:sp>
      <p:sp>
        <p:nvSpPr>
          <p:cNvPr id="41" name="knowledge-callout-lite">
            <a:extLst xmlns:a="http://schemas.openxmlformats.org/drawingml/2006/main">
              <a:ext uri="{FF2B5EF4-FFF2-40B4-BE49-F238E27FC236}">
                <a16:creationId xmlns:a16="http://schemas.microsoft.com/office/drawing/2014/main" id="{CCD4ABF8-C394-41AA-B4B9-E3C097F0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543550"/>
            <a:ext cx="3619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一句话：知识库负责经验，项目 RAG 负责事实，两个一起用才完整。</a:t>
            </a:r>
          </a:p>
        </p:txBody>
      </p:sp>
    </p:spTree>
    <p:extLst>
      <p:ext uri="{BB962C8B-B14F-4D97-AF65-F5344CB8AC3E}">
        <p14:creationId xmlns:p14="http://schemas.microsoft.com/office/powerpoint/2010/main" val="3844741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项目演示-推荐现场操作顺序">
            <a:extLst xmlns:a="http://schemas.openxmlformats.org/drawingml/2006/main">
              <a:ext uri="{FF2B5EF4-FFF2-40B4-BE49-F238E27FC236}">
                <a16:creationId xmlns:a16="http://schemas.microsoft.com/office/drawing/2014/main" id="{76E5A43E-0C15-47E9-8486-7AD38AB8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77409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LIVE DEMO</a:t>
            </a:r>
          </a:p>
        </p:txBody>
      </p:sp>
      <p:sp>
        <p:nvSpPr>
          <p:cNvPr id="2" name="header-title-项目演示-推荐现场操作顺序">
            <a:extLst xmlns:a="http://schemas.openxmlformats.org/drawingml/2006/main">
              <a:ext uri="{FF2B5EF4-FFF2-40B4-BE49-F238E27FC236}">
                <a16:creationId xmlns:a16="http://schemas.microsoft.com/office/drawing/2014/main" id="{D420C17D-5E78-4192-8B57-FD6C4A1E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项目演示：推荐现场操作顺序</a:t>
            </a:r>
          </a:p>
        </p:txBody>
      </p:sp>
      <p:sp>
        <p:nvSpPr>
          <p:cNvPr id="3" name="header-subtitle-项目演示-推荐现场操作顺序">
            <a:extLst xmlns:a="http://schemas.openxmlformats.org/drawingml/2006/main">
              <a:ext uri="{FF2B5EF4-FFF2-40B4-BE49-F238E27FC236}">
                <a16:creationId xmlns:a16="http://schemas.microsoft.com/office/drawing/2014/main" id="{D13F3CAB-A0B6-4C7F-B034-98B4FA05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现场演示以 live demo 为主，截图作为兜底；优先展示闭环，而不是逐个点按钮。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0F81FAD4-9B11-4A7A-B122-56665910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demo-statement">
            <a:extLst xmlns:a="http://schemas.openxmlformats.org/drawingml/2006/main">
              <a:ext uri="{FF2B5EF4-FFF2-40B4-BE49-F238E27FC236}">
                <a16:creationId xmlns:a16="http://schemas.microsoft.com/office/drawing/2014/main" id="{32477449-235E-41BE-A252-79D890F0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3333750" cy="3886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建议按这个顺序走，领导只需要先看到结果，再看到过程。</a:t>
            </a:r>
          </a:p>
        </p:txBody>
      </p:sp>
      <p:sp>
        <p:nvSpPr>
          <p:cNvPr id="6" name="bullet-dot-1-dashboard">
            <a:extLst xmlns:a="http://schemas.openxmlformats.org/drawingml/2006/main">
              <a:ext uri="{FF2B5EF4-FFF2-40B4-BE49-F238E27FC236}">
                <a16:creationId xmlns:a16="http://schemas.microsoft.com/office/drawing/2014/main" id="{324AFDA1-2BF2-4D2A-BD52-E6BD094B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41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bullet-title-1-dashboard">
            <a:extLst xmlns:a="http://schemas.openxmlformats.org/drawingml/2006/main">
              <a:ext uri="{FF2B5EF4-FFF2-40B4-BE49-F238E27FC236}">
                <a16:creationId xmlns:a16="http://schemas.microsoft.com/office/drawing/2014/main" id="{FDE0A30B-690D-4D0A-B4C6-911E7A8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412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1. Dashboard</a:t>
            </a:r>
          </a:p>
        </p:txBody>
      </p:sp>
      <p:sp>
        <p:nvSpPr>
          <p:cNvPr id="8" name="bullet-detail-1-dashboard">
            <a:extLst xmlns:a="http://schemas.openxmlformats.org/drawingml/2006/main">
              <a:ext uri="{FF2B5EF4-FFF2-40B4-BE49-F238E27FC236}">
                <a16:creationId xmlns:a16="http://schemas.microsoft.com/office/drawing/2014/main" id="{5F82F188-5DCE-4258-81A7-94719665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6530"/>
            <a:ext cx="342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先展示总览、最近项目、任务、规则 / 模板统计。</a:t>
            </a:r>
          </a:p>
        </p:txBody>
      </p:sp>
      <p:sp>
        <p:nvSpPr>
          <p:cNvPr id="9" name="bullet-dot-2-项目管理">
            <a:extLst xmlns:a="http://schemas.openxmlformats.org/drawingml/2006/main">
              <a:ext uri="{FF2B5EF4-FFF2-40B4-BE49-F238E27FC236}">
                <a16:creationId xmlns:a16="http://schemas.microsoft.com/office/drawing/2014/main" id="{5134F58C-E087-4538-B0C3-81478C75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13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0" name="bullet-title-2-项目管理">
            <a:extLst xmlns:a="http://schemas.openxmlformats.org/drawingml/2006/main">
              <a:ext uri="{FF2B5EF4-FFF2-40B4-BE49-F238E27FC236}">
                <a16:creationId xmlns:a16="http://schemas.microsoft.com/office/drawing/2014/main" id="{3676C32B-6350-4F0E-9FF4-2AACE123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133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2. 项目管理</a:t>
            </a:r>
          </a:p>
        </p:txBody>
      </p:sp>
      <p:sp>
        <p:nvSpPr>
          <p:cNvPr id="11" name="bullet-detail-2-项目管理">
            <a:extLst xmlns:a="http://schemas.openxmlformats.org/drawingml/2006/main">
              <a:ext uri="{FF2B5EF4-FFF2-40B4-BE49-F238E27FC236}">
                <a16:creationId xmlns:a16="http://schemas.microsoft.com/office/drawing/2014/main" id="{83644267-495C-478B-9ED5-1F9789C9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3740"/>
            <a:ext cx="342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再看仓库 / ZIP、分支、成员、项目详情。</a:t>
            </a:r>
          </a:p>
        </p:txBody>
      </p:sp>
      <p:sp>
        <p:nvSpPr>
          <p:cNvPr id="12" name="bullet-dot-3-agent-审计">
            <a:extLst xmlns:a="http://schemas.openxmlformats.org/drawingml/2006/main">
              <a:ext uri="{FF2B5EF4-FFF2-40B4-BE49-F238E27FC236}">
                <a16:creationId xmlns:a16="http://schemas.microsoft.com/office/drawing/2014/main" id="{C97DC4A8-CCA2-4FBB-AC5E-E4C14FA8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585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3" name="bullet-title-3-agent-审计">
            <a:extLst xmlns:a="http://schemas.openxmlformats.org/drawingml/2006/main">
              <a:ext uri="{FF2B5EF4-FFF2-40B4-BE49-F238E27FC236}">
                <a16:creationId xmlns:a16="http://schemas.microsoft.com/office/drawing/2014/main" id="{B24AE097-63FE-4D35-84A4-81C50ED0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854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3. Agent 审计</a:t>
            </a:r>
          </a:p>
        </p:txBody>
      </p:sp>
      <p:sp>
        <p:nvSpPr>
          <p:cNvPr id="14" name="bullet-detail-3-agent-审计">
            <a:extLst xmlns:a="http://schemas.openxmlformats.org/drawingml/2006/main">
              <a:ext uri="{FF2B5EF4-FFF2-40B4-BE49-F238E27FC236}">
                <a16:creationId xmlns:a16="http://schemas.microsoft.com/office/drawing/2014/main" id="{2D37537B-3BFF-4C0A-A727-034E5250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342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重点看实时事件流、任务树、Finding、Checkpoint。</a:t>
            </a:r>
          </a:p>
        </p:txBody>
      </p:sp>
      <p:sp>
        <p:nvSpPr>
          <p:cNvPr id="15" name="bullet-dot-4-报告页">
            <a:extLst xmlns:a="http://schemas.openxmlformats.org/drawingml/2006/main">
              <a:ext uri="{FF2B5EF4-FFF2-40B4-BE49-F238E27FC236}">
                <a16:creationId xmlns:a16="http://schemas.microsoft.com/office/drawing/2014/main" id="{3DCBF066-1787-46F7-BA7A-125C1BF3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16" name="bullet-title-4-报告页">
            <a:extLst xmlns:a="http://schemas.openxmlformats.org/drawingml/2006/main">
              <a:ext uri="{FF2B5EF4-FFF2-40B4-BE49-F238E27FC236}">
                <a16:creationId xmlns:a16="http://schemas.microsoft.com/office/drawing/2014/main" id="{394D479A-23BF-4EA3-8CF7-3D9E8223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4. 报告页</a:t>
            </a:r>
          </a:p>
        </p:txBody>
      </p:sp>
      <p:sp>
        <p:nvSpPr>
          <p:cNvPr id="17" name="bullet-detail-4-报告页">
            <a:extLst xmlns:a="http://schemas.openxmlformats.org/drawingml/2006/main">
              <a:ext uri="{FF2B5EF4-FFF2-40B4-BE49-F238E27FC236}">
                <a16:creationId xmlns:a16="http://schemas.microsoft.com/office/drawing/2014/main" id="{C6BE118B-2E9D-4798-892F-508E3FD6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816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最后打开任务报告，展示问题定位和 PDF / JSON 导出。</a:t>
            </a:r>
          </a:p>
        </p:txBody>
      </p:sp>
      <p:sp>
        <p:nvSpPr>
          <p:cNvPr id="18" name="bullet-dot-5-截图兜底">
            <a:extLst xmlns:a="http://schemas.openxmlformats.org/drawingml/2006/main">
              <a:ext uri="{FF2B5EF4-FFF2-40B4-BE49-F238E27FC236}">
                <a16:creationId xmlns:a16="http://schemas.microsoft.com/office/drawing/2014/main" id="{21F01EFE-D425-4F5B-920F-B1097153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44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5-截图兜底">
            <a:extLst xmlns:a="http://schemas.openxmlformats.org/drawingml/2006/main">
              <a:ext uri="{FF2B5EF4-FFF2-40B4-BE49-F238E27FC236}">
                <a16:creationId xmlns:a16="http://schemas.microsoft.com/office/drawing/2014/main" id="{B7D9821B-9312-48F4-9136-EEB58DDB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04410"/>
            <a:ext cx="34290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5. 截图兜底</a:t>
            </a:r>
          </a:p>
        </p:txBody>
      </p:sp>
      <p:sp>
        <p:nvSpPr>
          <p:cNvPr id="20" name="bullet-detail-5-截图兜底">
            <a:extLst xmlns:a="http://schemas.openxmlformats.org/drawingml/2006/main">
              <a:ext uri="{FF2B5EF4-FFF2-40B4-BE49-F238E27FC236}">
                <a16:creationId xmlns:a16="http://schemas.microsoft.com/office/drawing/2014/main" id="{05530F8C-6F1D-4719-A888-6E52F820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36820"/>
            <a:ext cx="342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如果实时流不稳，直接切报告页截图，不影响主结论。</a:t>
            </a:r>
          </a:p>
        </p:txBody>
      </p:sp>
      <p:sp>
        <p:nvSpPr>
          <p:cNvPr id="21" name="demo-image-kicker">
            <a:extLst xmlns:a="http://schemas.openxmlformats.org/drawingml/2006/main">
              <a:ext uri="{FF2B5EF4-FFF2-40B4-BE49-F238E27FC236}">
                <a16:creationId xmlns:a16="http://schemas.microsoft.com/office/drawing/2014/main" id="{4F24E1D0-068F-40DD-A8B2-EA67B2F7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62150"/>
            <a:ext cx="117433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报告页 / 兜底截图</a:t>
            </a:r>
          </a:p>
        </p:txBody>
      </p:sp>
      <p:sp>
        <p:nvSpPr>
          <p:cNvPr id="22" name="demo-image-panel">
            <a:extLst xmlns:a="http://schemas.openxmlformats.org/drawingml/2006/main">
              <a:ext uri="{FF2B5EF4-FFF2-40B4-BE49-F238E27FC236}">
                <a16:creationId xmlns:a16="http://schemas.microsoft.com/office/drawing/2014/main" id="{230B5C62-8A46-42CD-86A2-2412142D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1742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218"/>
          </a:solidFill>
          <a:ln xmlns:a="http://schemas.openxmlformats.org/drawingml/2006/main" w="9525">
            <a:solidFill>
              <a:srgbClr val="26304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8c11103b44e4f"/>
          <a:stretch xmlns:a="http://schemas.openxmlformats.org/drawingml/2006/main"/>
        </p:blipFill>
        <p:spPr>
          <a:xfrm xmlns:a="http://schemas.openxmlformats.org/drawingml/2006/main">
            <a:off x="5267325" y="2172756"/>
            <a:ext cx="5467350" cy="38650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2820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阶段成果与下一步">
            <a:extLst xmlns:a="http://schemas.openxmlformats.org/drawingml/2006/main">
              <a:ext uri="{FF2B5EF4-FFF2-40B4-BE49-F238E27FC236}">
                <a16:creationId xmlns:a16="http://schemas.microsoft.com/office/drawing/2014/main" id="{1FB75862-54F8-4831-B70E-13503A57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77409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MILESTONE</a:t>
            </a:r>
          </a:p>
        </p:txBody>
      </p:sp>
      <p:sp>
        <p:nvSpPr>
          <p:cNvPr id="2" name="header-title-阶段成果与下一步">
            <a:extLst xmlns:a="http://schemas.openxmlformats.org/drawingml/2006/main">
              <a:ext uri="{FF2B5EF4-FFF2-40B4-BE49-F238E27FC236}">
                <a16:creationId xmlns:a16="http://schemas.microsoft.com/office/drawing/2014/main" id="{A736519E-1F08-4931-99FE-8EAFDD0A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阶段成果与下一步</a:t>
            </a:r>
          </a:p>
        </p:txBody>
      </p:sp>
      <p:sp>
        <p:nvSpPr>
          <p:cNvPr id="3" name="header-subtitle-阶段成果与下一步">
            <a:extLst xmlns:a="http://schemas.openxmlformats.org/drawingml/2006/main">
              <a:ext uri="{FF2B5EF4-FFF2-40B4-BE49-F238E27FC236}">
                <a16:creationId xmlns:a16="http://schemas.microsoft.com/office/drawing/2014/main" id="{00788504-84CA-4058-BC1A-212E583B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当前成果已经形成闭环，下一步重点放在知识、规则、监控和真实指标沉淀。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14B085CC-4A3E-46A4-8E30-FFD6AFE2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results-left-kicker">
            <a:extLst xmlns:a="http://schemas.openxmlformats.org/drawingml/2006/main">
              <a:ext uri="{FF2B5EF4-FFF2-40B4-BE49-F238E27FC236}">
                <a16:creationId xmlns:a16="http://schemas.microsoft.com/office/drawing/2014/main" id="{BD1A0116-B234-4897-82F3-7F7418EB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已经跑通</a:t>
            </a:r>
          </a:p>
        </p:txBody>
      </p:sp>
      <p:sp>
        <p:nvSpPr>
          <p:cNvPr id="6" name="results-left-title">
            <a:extLst xmlns:a="http://schemas.openxmlformats.org/drawingml/2006/main">
              <a:ext uri="{FF2B5EF4-FFF2-40B4-BE49-F238E27FC236}">
                <a16:creationId xmlns:a16="http://schemas.microsoft.com/office/drawing/2014/main" id="{FE811CAF-97F1-4ABC-95BC-8ECA86D8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3333750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DeepAudit 主线闭环已成立。</a:t>
            </a:r>
          </a:p>
        </p:txBody>
      </p:sp>
      <p:sp>
        <p:nvSpPr>
          <p:cNvPr id="7" name="bullet-dot-项目接入">
            <a:extLst xmlns:a="http://schemas.openxmlformats.org/drawingml/2006/main">
              <a:ext uri="{FF2B5EF4-FFF2-40B4-BE49-F238E27FC236}">
                <a16:creationId xmlns:a16="http://schemas.microsoft.com/office/drawing/2014/main" id="{A4AF0A58-790B-4468-B9A1-3CCACD5C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项目接入">
            <a:extLst xmlns:a="http://schemas.openxmlformats.org/drawingml/2006/main">
              <a:ext uri="{FF2B5EF4-FFF2-40B4-BE49-F238E27FC236}">
                <a16:creationId xmlns:a16="http://schemas.microsoft.com/office/drawing/2014/main" id="{C1789263-6F16-4BB0-99D8-02D2A84B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项目接入</a:t>
            </a:r>
          </a:p>
        </p:txBody>
      </p:sp>
      <p:sp>
        <p:nvSpPr>
          <p:cNvPr id="9" name="bullet-detail-项目接入">
            <a:extLst xmlns:a="http://schemas.openxmlformats.org/drawingml/2006/main">
              <a:ext uri="{FF2B5EF4-FFF2-40B4-BE49-F238E27FC236}">
                <a16:creationId xmlns:a16="http://schemas.microsoft.com/office/drawing/2014/main" id="{5085D9F2-DC35-452B-ACAC-0E6B4A38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996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 / ZIP / 分支 / 成员 / 回收站都已可用。</a:t>
            </a:r>
          </a:p>
        </p:txBody>
      </p:sp>
      <p:sp>
        <p:nvSpPr>
          <p:cNvPr id="10" name="bullet-dot-智能分析">
            <a:extLst xmlns:a="http://schemas.openxmlformats.org/drawingml/2006/main">
              <a:ext uri="{FF2B5EF4-FFF2-40B4-BE49-F238E27FC236}">
                <a16:creationId xmlns:a16="http://schemas.microsoft.com/office/drawing/2014/main" id="{7686E170-9687-4130-9EDD-906656FA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57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智能分析">
            <a:extLst xmlns:a="http://schemas.openxmlformats.org/drawingml/2006/main">
              <a:ext uri="{FF2B5EF4-FFF2-40B4-BE49-F238E27FC236}">
                <a16:creationId xmlns:a16="http://schemas.microsoft.com/office/drawing/2014/main" id="{1D1B5CFB-35E4-4D38-AA7B-F7C4EC7B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571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智能分析</a:t>
            </a:r>
          </a:p>
        </p:txBody>
      </p:sp>
      <p:sp>
        <p:nvSpPr>
          <p:cNvPr id="12" name="bullet-detail-智能分析">
            <a:extLst xmlns:a="http://schemas.openxmlformats.org/drawingml/2006/main">
              <a:ext uri="{FF2B5EF4-FFF2-40B4-BE49-F238E27FC236}">
                <a16:creationId xmlns:a16="http://schemas.microsoft.com/office/drawing/2014/main" id="{912C63D6-368D-4E24-A238-90C8DFE0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812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多智能体 + 外部工具优先 + RAG 形成稳定分析链。</a:t>
            </a:r>
          </a:p>
        </p:txBody>
      </p:sp>
      <p:sp>
        <p:nvSpPr>
          <p:cNvPr id="13" name="bullet-dot-实时回传">
            <a:extLst xmlns:a="http://schemas.openxmlformats.org/drawingml/2006/main">
              <a:ext uri="{FF2B5EF4-FFF2-40B4-BE49-F238E27FC236}">
                <a16:creationId xmlns:a16="http://schemas.microsoft.com/office/drawing/2014/main" id="{475010CB-3BD4-4A5A-8CE5-8723AC24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653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实时回传">
            <a:extLst xmlns:a="http://schemas.openxmlformats.org/drawingml/2006/main">
              <a:ext uri="{FF2B5EF4-FFF2-40B4-BE49-F238E27FC236}">
                <a16:creationId xmlns:a16="http://schemas.microsoft.com/office/drawing/2014/main" id="{507508AC-1F0E-4E50-96F0-3304E380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532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实时回传</a:t>
            </a:r>
          </a:p>
        </p:txBody>
      </p:sp>
      <p:sp>
        <p:nvSpPr>
          <p:cNvPr id="15" name="bullet-detail-实时回传">
            <a:extLst xmlns:a="http://schemas.openxmlformats.org/drawingml/2006/main">
              <a:ext uri="{FF2B5EF4-FFF2-40B4-BE49-F238E27FC236}">
                <a16:creationId xmlns:a16="http://schemas.microsoft.com/office/drawing/2014/main" id="{F0B98468-FECC-4481-B83B-00ECF66D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773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SSE / WebSocket / heartbeat / reconnect 已接通。</a:t>
            </a:r>
          </a:p>
        </p:txBody>
      </p:sp>
      <p:sp>
        <p:nvSpPr>
          <p:cNvPr id="16" name="bullet-dot-报告交付">
            <a:extLst xmlns:a="http://schemas.openxmlformats.org/drawingml/2006/main">
              <a:ext uri="{FF2B5EF4-FFF2-40B4-BE49-F238E27FC236}">
                <a16:creationId xmlns:a16="http://schemas.microsoft.com/office/drawing/2014/main" id="{74BF04CE-8742-43F3-9982-18755165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549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bullet-title-报告交付">
            <a:extLst xmlns:a="http://schemas.openxmlformats.org/drawingml/2006/main">
              <a:ext uri="{FF2B5EF4-FFF2-40B4-BE49-F238E27FC236}">
                <a16:creationId xmlns:a16="http://schemas.microsoft.com/office/drawing/2014/main" id="{E853956E-0B2E-4DC4-8D38-1622C1B4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493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报告交付</a:t>
            </a:r>
          </a:p>
        </p:txBody>
      </p:sp>
      <p:sp>
        <p:nvSpPr>
          <p:cNvPr id="18" name="bullet-detail-报告交付">
            <a:extLst xmlns:a="http://schemas.openxmlformats.org/drawingml/2006/main">
              <a:ext uri="{FF2B5EF4-FFF2-40B4-BE49-F238E27FC236}">
                <a16:creationId xmlns:a16="http://schemas.microsoft.com/office/drawing/2014/main" id="{BD25C095-A1AF-4035-B7E7-3420CFCA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734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任务详情、问题定位、PDF / JSON 导出闭环完整。</a:t>
            </a:r>
          </a:p>
        </p:txBody>
      </p:sp>
      <p:sp>
        <p:nvSpPr>
          <p:cNvPr id="19" name="results-right-kicker">
            <a:extLst xmlns:a="http://schemas.openxmlformats.org/drawingml/2006/main">
              <a:ext uri="{FF2B5EF4-FFF2-40B4-BE49-F238E27FC236}">
                <a16:creationId xmlns:a16="http://schemas.microsoft.com/office/drawing/2014/main" id="{C042341A-04BE-411B-BC6A-362B4D1A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00250"/>
            <a:ext cx="4000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下一步</a:t>
            </a:r>
          </a:p>
        </p:txBody>
      </p:sp>
      <p:sp>
        <p:nvSpPr>
          <p:cNvPr id="20" name="results-right-title">
            <a:extLst xmlns:a="http://schemas.openxmlformats.org/drawingml/2006/main">
              <a:ext uri="{FF2B5EF4-FFF2-40B4-BE49-F238E27FC236}">
                <a16:creationId xmlns:a16="http://schemas.microsoft.com/office/drawing/2014/main" id="{C7992159-0EE8-494E-84F9-C40B680B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74570"/>
            <a:ext cx="3333750" cy="8686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把平台化能力沉淀成可持续运营能力。</a:t>
            </a:r>
          </a:p>
        </p:txBody>
      </p:sp>
      <p:sp>
        <p:nvSpPr>
          <p:cNvPr id="21" name="bullet-dot-知识库">
            <a:extLst xmlns:a="http://schemas.openxmlformats.org/drawingml/2006/main">
              <a:ext uri="{FF2B5EF4-FFF2-40B4-BE49-F238E27FC236}">
                <a16:creationId xmlns:a16="http://schemas.microsoft.com/office/drawing/2014/main" id="{5FCF0778-037F-487F-A7B6-7D72F557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知识库">
            <a:extLst xmlns:a="http://schemas.openxmlformats.org/drawingml/2006/main">
              <a:ext uri="{FF2B5EF4-FFF2-40B4-BE49-F238E27FC236}">
                <a16:creationId xmlns:a16="http://schemas.microsoft.com/office/drawing/2014/main" id="{FCC97940-4DE4-4A74-8ADC-85196068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知识库</a:t>
            </a:r>
          </a:p>
        </p:txBody>
      </p:sp>
      <p:sp>
        <p:nvSpPr>
          <p:cNvPr id="23" name="bullet-detail-知识库">
            <a:extLst xmlns:a="http://schemas.openxmlformats.org/drawingml/2006/main">
              <a:ext uri="{FF2B5EF4-FFF2-40B4-BE49-F238E27FC236}">
                <a16:creationId xmlns:a16="http://schemas.microsoft.com/office/drawing/2014/main" id="{59D0BCEA-6DCD-4CB0-8C34-4D5ADD2A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996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补充真实场景、误报边界和修复建议。</a:t>
            </a:r>
          </a:p>
        </p:txBody>
      </p:sp>
      <p:sp>
        <p:nvSpPr>
          <p:cNvPr id="24" name="bullet-dot-规则覆盖">
            <a:extLst xmlns:a="http://schemas.openxmlformats.org/drawingml/2006/main">
              <a:ext uri="{FF2B5EF4-FFF2-40B4-BE49-F238E27FC236}">
                <a16:creationId xmlns:a16="http://schemas.microsoft.com/office/drawing/2014/main" id="{F226BFC0-56D6-4618-92D8-6702BD32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757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规则覆盖">
            <a:extLst xmlns:a="http://schemas.openxmlformats.org/drawingml/2006/main">
              <a:ext uri="{FF2B5EF4-FFF2-40B4-BE49-F238E27FC236}">
                <a16:creationId xmlns:a16="http://schemas.microsoft.com/office/drawing/2014/main" id="{A443A76B-0B1F-4B82-8CB2-55205E6F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7571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规则覆盖</a:t>
            </a:r>
          </a:p>
        </p:txBody>
      </p:sp>
      <p:sp>
        <p:nvSpPr>
          <p:cNvPr id="26" name="bullet-detail-规则覆盖">
            <a:extLst xmlns:a="http://schemas.openxmlformats.org/drawingml/2006/main">
              <a:ext uri="{FF2B5EF4-FFF2-40B4-BE49-F238E27FC236}">
                <a16:creationId xmlns:a16="http://schemas.microsoft.com/office/drawing/2014/main" id="{FFD9B3FF-AE5E-46CF-AC1A-75A8DBB4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0812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扩充语言、框架和项目类型，减少人工补充。</a:t>
            </a:r>
          </a:p>
        </p:txBody>
      </p:sp>
      <p:sp>
        <p:nvSpPr>
          <p:cNvPr id="27" name="bullet-dot-部署与监控">
            <a:extLst xmlns:a="http://schemas.openxmlformats.org/drawingml/2006/main">
              <a:ext uri="{FF2B5EF4-FFF2-40B4-BE49-F238E27FC236}">
                <a16:creationId xmlns:a16="http://schemas.microsoft.com/office/drawing/2014/main" id="{E269DAC2-0C57-4DC3-85CF-3411B07E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938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28" name="bullet-title-部署与监控">
            <a:extLst xmlns:a="http://schemas.openxmlformats.org/drawingml/2006/main">
              <a:ext uri="{FF2B5EF4-FFF2-40B4-BE49-F238E27FC236}">
                <a16:creationId xmlns:a16="http://schemas.microsoft.com/office/drawing/2014/main" id="{87724278-4644-4B57-8F26-8561F26B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9387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部署与监控</a:t>
            </a:r>
          </a:p>
        </p:txBody>
      </p:sp>
      <p:sp>
        <p:nvSpPr>
          <p:cNvPr id="29" name="bullet-detail-部署与监控">
            <a:extLst xmlns:a="http://schemas.openxmlformats.org/drawingml/2006/main">
              <a:ext uri="{FF2B5EF4-FFF2-40B4-BE49-F238E27FC236}">
                <a16:creationId xmlns:a16="http://schemas.microsoft.com/office/drawing/2014/main" id="{E826D3E2-B10D-43D9-BE0F-2D9C2EAF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2628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完善 ASGI / Redis / Nginx / 日志和告警。</a:t>
            </a:r>
          </a:p>
        </p:txBody>
      </p:sp>
      <p:sp>
        <p:nvSpPr>
          <p:cNvPr id="30" name="bullet-dot-真实指标">
            <a:extLst xmlns:a="http://schemas.openxmlformats.org/drawingml/2006/main">
              <a:ext uri="{FF2B5EF4-FFF2-40B4-BE49-F238E27FC236}">
                <a16:creationId xmlns:a16="http://schemas.microsoft.com/office/drawing/2014/main" id="{F152AE04-0C38-48B7-BBFE-4185CE20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120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bullet-title-真实指标">
            <a:extLst xmlns:a="http://schemas.openxmlformats.org/drawingml/2006/main">
              <a:ext uri="{FF2B5EF4-FFF2-40B4-BE49-F238E27FC236}">
                <a16:creationId xmlns:a16="http://schemas.microsoft.com/office/drawing/2014/main" id="{A5DDC589-ADAF-420C-9E1E-0A4C8A69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203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真实指标</a:t>
            </a:r>
          </a:p>
        </p:txBody>
      </p:sp>
      <p:sp>
        <p:nvSpPr>
          <p:cNvPr id="32" name="bullet-detail-真实指标">
            <a:extLst xmlns:a="http://schemas.openxmlformats.org/drawingml/2006/main">
              <a:ext uri="{FF2B5EF4-FFF2-40B4-BE49-F238E27FC236}">
                <a16:creationId xmlns:a16="http://schemas.microsoft.com/office/drawing/2014/main" id="{579A1C84-EDFC-4336-BB39-E5089F7F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4444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现场前补真实值，不在 PPT 里硬编数字。</a:t>
            </a:r>
          </a:p>
        </p:txBody>
      </p:sp>
      <p:sp>
        <p:nvSpPr>
          <p:cNvPr id="33" name="results-metrics-kicker">
            <a:extLst xmlns:a="http://schemas.openxmlformats.org/drawingml/2006/main">
              <a:ext uri="{FF2B5EF4-FFF2-40B4-BE49-F238E27FC236}">
                <a16:creationId xmlns:a16="http://schemas.microsoft.com/office/drawing/2014/main" id="{CBA93437-42B7-423D-9F68-12D00CC2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00250"/>
            <a:ext cx="6667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预留指标位</a:t>
            </a:r>
          </a:p>
        </p:txBody>
      </p:sp>
      <p:sp>
        <p:nvSpPr>
          <p:cNvPr id="34" name="metric-value-审计任务数">
            <a:extLst xmlns:a="http://schemas.openxmlformats.org/drawingml/2006/main">
              <a:ext uri="{FF2B5EF4-FFF2-40B4-BE49-F238E27FC236}">
                <a16:creationId xmlns:a16="http://schemas.microsoft.com/office/drawing/2014/main" id="{E446CABC-E30F-404C-BB98-69A31CCA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93620"/>
            <a:ext cx="229362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35" name="metric-label-审计任务数">
            <a:extLst xmlns:a="http://schemas.openxmlformats.org/drawingml/2006/main">
              <a:ext uri="{FF2B5EF4-FFF2-40B4-BE49-F238E27FC236}">
                <a16:creationId xmlns:a16="http://schemas.microsoft.com/office/drawing/2014/main" id="{675250D5-FAC3-44D1-9D01-ABE44D58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27020"/>
            <a:ext cx="76200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审计任务数</a:t>
            </a:r>
          </a:p>
        </p:txBody>
      </p:sp>
      <p:sp>
        <p:nvSpPr>
          <p:cNvPr id="36" name="metric-note-审计任务数">
            <a:extLst xmlns:a="http://schemas.openxmlformats.org/drawingml/2006/main">
              <a:ext uri="{FF2B5EF4-FFF2-40B4-BE49-F238E27FC236}">
                <a16:creationId xmlns:a16="http://schemas.microsoft.com/office/drawing/2014/main" id="{42FAA81A-706A-4CF8-BC3B-04511133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86100"/>
            <a:ext cx="619125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37" name="metric-value-有效发现数">
            <a:extLst xmlns:a="http://schemas.openxmlformats.org/drawingml/2006/main">
              <a:ext uri="{FF2B5EF4-FFF2-40B4-BE49-F238E27FC236}">
                <a16:creationId xmlns:a16="http://schemas.microsoft.com/office/drawing/2014/main" id="{D648D33A-1A79-46C6-94AC-70E2363E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93620"/>
            <a:ext cx="229362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38" name="metric-label-有效发现数">
            <a:extLst xmlns:a="http://schemas.openxmlformats.org/drawingml/2006/main">
              <a:ext uri="{FF2B5EF4-FFF2-40B4-BE49-F238E27FC236}">
                <a16:creationId xmlns:a16="http://schemas.microsoft.com/office/drawing/2014/main" id="{D37459F4-A9EC-47EA-BD81-2679164B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27020"/>
            <a:ext cx="76200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有效发现数</a:t>
            </a:r>
          </a:p>
        </p:txBody>
      </p:sp>
      <p:sp>
        <p:nvSpPr>
          <p:cNvPr id="39" name="metric-note-有效发现数">
            <a:extLst xmlns:a="http://schemas.openxmlformats.org/drawingml/2006/main">
              <a:ext uri="{FF2B5EF4-FFF2-40B4-BE49-F238E27FC236}">
                <a16:creationId xmlns:a16="http://schemas.microsoft.com/office/drawing/2014/main" id="{D235C5CF-19C4-4039-8B4B-2692FC9E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86100"/>
            <a:ext cx="619125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40" name="metric-value-报告导出数">
            <a:extLst xmlns:a="http://schemas.openxmlformats.org/drawingml/2006/main">
              <a:ext uri="{FF2B5EF4-FFF2-40B4-BE49-F238E27FC236}">
                <a16:creationId xmlns:a16="http://schemas.microsoft.com/office/drawing/2014/main" id="{38BF0C4C-81F8-4EC2-9EE0-C70B6D88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348990"/>
            <a:ext cx="229362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41" name="metric-label-报告导出数">
            <a:extLst xmlns:a="http://schemas.openxmlformats.org/drawingml/2006/main">
              <a:ext uri="{FF2B5EF4-FFF2-40B4-BE49-F238E27FC236}">
                <a16:creationId xmlns:a16="http://schemas.microsoft.com/office/drawing/2014/main" id="{B0F0363E-8182-414F-901C-9E12485C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82390"/>
            <a:ext cx="76200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报告导出数</a:t>
            </a:r>
          </a:p>
        </p:txBody>
      </p:sp>
      <p:sp>
        <p:nvSpPr>
          <p:cNvPr id="42" name="metric-note-报告导出数">
            <a:extLst xmlns:a="http://schemas.openxmlformats.org/drawingml/2006/main">
              <a:ext uri="{FF2B5EF4-FFF2-40B4-BE49-F238E27FC236}">
                <a16:creationId xmlns:a16="http://schemas.microsoft.com/office/drawing/2014/main" id="{D351FC34-99FF-4755-8593-AEE74BB5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41470"/>
            <a:ext cx="619125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43" name="metric-value-知识库条目数">
            <a:extLst xmlns:a="http://schemas.openxmlformats.org/drawingml/2006/main">
              <a:ext uri="{FF2B5EF4-FFF2-40B4-BE49-F238E27FC236}">
                <a16:creationId xmlns:a16="http://schemas.microsoft.com/office/drawing/2014/main" id="{6CC166C8-664F-422F-92AF-7485550A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48990"/>
            <a:ext cx="229362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44" name="metric-label-知识库条目数">
            <a:extLst xmlns:a="http://schemas.openxmlformats.org/drawingml/2006/main">
              <a:ext uri="{FF2B5EF4-FFF2-40B4-BE49-F238E27FC236}">
                <a16:creationId xmlns:a16="http://schemas.microsoft.com/office/drawing/2014/main" id="{BDCB80FE-CFFB-468F-8C20-01E90934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2390"/>
            <a:ext cx="91440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知识库条目数</a:t>
            </a:r>
          </a:p>
        </p:txBody>
      </p:sp>
      <p:sp>
        <p:nvSpPr>
          <p:cNvPr id="45" name="metric-note-知识库条目数">
            <a:extLst xmlns:a="http://schemas.openxmlformats.org/drawingml/2006/main">
              <a:ext uri="{FF2B5EF4-FFF2-40B4-BE49-F238E27FC236}">
                <a16:creationId xmlns:a16="http://schemas.microsoft.com/office/drawing/2014/main" id="{B96E207F-279C-46B3-A1F9-A8907482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41470"/>
            <a:ext cx="619125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46" name="results-metrics-note">
            <a:extLst xmlns:a="http://schemas.openxmlformats.org/drawingml/2006/main">
              <a:ext uri="{FF2B5EF4-FFF2-40B4-BE49-F238E27FC236}">
                <a16:creationId xmlns:a16="http://schemas.microsoft.com/office/drawing/2014/main" id="{83D53588-DE55-4108-A45B-D889E496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423410"/>
            <a:ext cx="4381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这些位置保留给现场前补充的真实运行数据。</a:t>
            </a:r>
          </a:p>
        </p:txBody>
      </p:sp>
      <p:sp>
        <p:nvSpPr>
          <p:cNvPr id="47" name="results-roadmap-kicker">
            <a:extLst xmlns:a="http://schemas.openxmlformats.org/drawingml/2006/main">
              <a:ext uri="{FF2B5EF4-FFF2-40B4-BE49-F238E27FC236}">
                <a16:creationId xmlns:a16="http://schemas.microsoft.com/office/drawing/2014/main" id="{1B058BE2-55A4-4740-81D3-BDCC205D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28210"/>
            <a:ext cx="9334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推荐的后续路线</a:t>
            </a:r>
          </a:p>
        </p:txBody>
      </p:sp>
      <p:sp>
        <p:nvSpPr>
          <p:cNvPr id="48" name="chip-知识库沉淀">
            <a:extLst xmlns:a="http://schemas.openxmlformats.org/drawingml/2006/main">
              <a:ext uri="{FF2B5EF4-FFF2-40B4-BE49-F238E27FC236}">
                <a16:creationId xmlns:a16="http://schemas.microsoft.com/office/drawing/2014/main" id="{4713C5E2-BEB0-4CC0-902C-69469A35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21580"/>
            <a:ext cx="19621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9" name="chip-text-知识库沉淀">
            <a:extLst xmlns:a="http://schemas.openxmlformats.org/drawingml/2006/main">
              <a:ext uri="{FF2B5EF4-FFF2-40B4-BE49-F238E27FC236}">
                <a16:creationId xmlns:a16="http://schemas.microsoft.com/office/drawing/2014/main" id="{93F6024B-A4FB-4F77-B275-902E91F1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21580"/>
            <a:ext cx="6667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知识库沉淀</a:t>
            </a:r>
          </a:p>
        </p:txBody>
      </p:sp>
      <p:sp>
        <p:nvSpPr>
          <p:cNvPr id="50" name="chip-规则覆盖">
            <a:extLst xmlns:a="http://schemas.openxmlformats.org/drawingml/2006/main">
              <a:ext uri="{FF2B5EF4-FFF2-40B4-BE49-F238E27FC236}">
                <a16:creationId xmlns:a16="http://schemas.microsoft.com/office/drawing/2014/main" id="{5862CE4A-FF8E-48CC-B259-5B1D776B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021580"/>
            <a:ext cx="19621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1" name="chip-text-规则覆盖">
            <a:extLst xmlns:a="http://schemas.openxmlformats.org/drawingml/2006/main">
              <a:ext uri="{FF2B5EF4-FFF2-40B4-BE49-F238E27FC236}">
                <a16:creationId xmlns:a16="http://schemas.microsoft.com/office/drawing/2014/main" id="{E2182311-8707-4816-AE03-B7D8C9CA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02158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规则覆盖</a:t>
            </a:r>
          </a:p>
        </p:txBody>
      </p:sp>
      <p:sp>
        <p:nvSpPr>
          <p:cNvPr id="52" name="chip-部署监控">
            <a:extLst xmlns:a="http://schemas.openxmlformats.org/drawingml/2006/main">
              <a:ext uri="{FF2B5EF4-FFF2-40B4-BE49-F238E27FC236}">
                <a16:creationId xmlns:a16="http://schemas.microsoft.com/office/drawing/2014/main" id="{2605F94A-B6A9-4818-937B-DF764E18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57800"/>
            <a:ext cx="19621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3" name="chip-text-部署监控">
            <a:extLst xmlns:a="http://schemas.openxmlformats.org/drawingml/2006/main">
              <a:ext uri="{FF2B5EF4-FFF2-40B4-BE49-F238E27FC236}">
                <a16:creationId xmlns:a16="http://schemas.microsoft.com/office/drawing/2014/main" id="{C218B7DF-F8A0-4771-BC76-9B0A6058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25780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部署监控</a:t>
            </a:r>
          </a:p>
        </p:txBody>
      </p:sp>
      <p:sp>
        <p:nvSpPr>
          <p:cNvPr id="54" name="chip-指标运营">
            <a:extLst xmlns:a="http://schemas.openxmlformats.org/drawingml/2006/main">
              <a:ext uri="{FF2B5EF4-FFF2-40B4-BE49-F238E27FC236}">
                <a16:creationId xmlns:a16="http://schemas.microsoft.com/office/drawing/2014/main" id="{BBB5B9FF-F7E8-4E31-88D0-B763132D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257800"/>
            <a:ext cx="1962150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5" name="chip-text-指标运营">
            <a:extLst xmlns:a="http://schemas.openxmlformats.org/drawingml/2006/main">
              <a:ext uri="{FF2B5EF4-FFF2-40B4-BE49-F238E27FC236}">
                <a16:creationId xmlns:a16="http://schemas.microsoft.com/office/drawing/2014/main" id="{CAB8FE3A-6E1C-4218-BC43-6F4891B0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25780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指标运营</a:t>
            </a:r>
          </a:p>
        </p:txBody>
      </p:sp>
    </p:spTree>
    <p:extLst>
      <p:ext uri="{BB962C8B-B14F-4D97-AF65-F5344CB8AC3E}">
        <p14:creationId xmlns:p14="http://schemas.microsoft.com/office/powerpoint/2010/main" val="12778905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核心-api-与页面映射">
            <a:extLst xmlns:a="http://schemas.openxmlformats.org/drawingml/2006/main">
              <a:ext uri="{FF2B5EF4-FFF2-40B4-BE49-F238E27FC236}">
                <a16:creationId xmlns:a16="http://schemas.microsoft.com/office/drawing/2014/main" id="{F6961DA9-7E9D-4200-A728-C47D8F2C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688086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APPENDIX</a:t>
            </a:r>
          </a:p>
        </p:txBody>
      </p:sp>
      <p:sp>
        <p:nvSpPr>
          <p:cNvPr id="2" name="header-title-核心-api-与页面映射">
            <a:extLst xmlns:a="http://schemas.openxmlformats.org/drawingml/2006/main">
              <a:ext uri="{FF2B5EF4-FFF2-40B4-BE49-F238E27FC236}">
                <a16:creationId xmlns:a16="http://schemas.microsoft.com/office/drawing/2014/main" id="{07AE6F23-1A3E-45C5-BFE8-830C3722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核心 API 与页面映射</a:t>
            </a:r>
          </a:p>
        </p:txBody>
      </p:sp>
      <p:sp>
        <p:nvSpPr>
          <p:cNvPr id="3" name="header-subtitle-核心-api-与页面映射">
            <a:extLst xmlns:a="http://schemas.openxmlformats.org/drawingml/2006/main">
              <a:ext uri="{FF2B5EF4-FFF2-40B4-BE49-F238E27FC236}">
                <a16:creationId xmlns:a16="http://schemas.microsoft.com/office/drawing/2014/main" id="{01489D32-3538-43CB-A4A6-C6F87673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这页给领导和现场问答做技术备份：页面怎么进，接口怎么挂。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59D58657-6AD7-4488-B7F7-D3CEFC93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appendix-pages-kicker">
            <a:extLst xmlns:a="http://schemas.openxmlformats.org/drawingml/2006/main">
              <a:ext uri="{FF2B5EF4-FFF2-40B4-BE49-F238E27FC236}">
                <a16:creationId xmlns:a16="http://schemas.microsoft.com/office/drawing/2014/main" id="{2F843623-88F8-4B59-9929-B8A8FEAA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前端页面</a:t>
            </a:r>
          </a:p>
        </p:txBody>
      </p:sp>
      <p:sp>
        <p:nvSpPr>
          <p:cNvPr id="6" name="appendix-pages-title">
            <a:extLst xmlns:a="http://schemas.openxmlformats.org/drawingml/2006/main">
              <a:ext uri="{FF2B5EF4-FFF2-40B4-BE49-F238E27FC236}">
                <a16:creationId xmlns:a16="http://schemas.microsoft.com/office/drawing/2014/main" id="{4F3E8A93-BABC-4C26-8257-0048A941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217170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独立路由入口</a:t>
            </a:r>
          </a:p>
        </p:txBody>
      </p:sp>
      <p:sp>
        <p:nvSpPr>
          <p:cNvPr id="7" name="route-path-agent审计">
            <a:extLst xmlns:a="http://schemas.openxmlformats.org/drawingml/2006/main">
              <a:ext uri="{FF2B5EF4-FFF2-40B4-BE49-F238E27FC236}">
                <a16:creationId xmlns:a16="http://schemas.microsoft.com/office/drawing/2014/main" id="{6CC1E17D-D7AE-4E95-B680-76A2E3A0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3210"/>
            <a:ext cx="105984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   Agent审计</a:t>
            </a:r>
          </a:p>
        </p:txBody>
      </p:sp>
      <p:sp>
        <p:nvSpPr>
          <p:cNvPr id="8" name="route-desc-agent审计">
            <a:extLst xmlns:a="http://schemas.openxmlformats.org/drawingml/2006/main">
              <a:ext uri="{FF2B5EF4-FFF2-40B4-BE49-F238E27FC236}">
                <a16:creationId xmlns:a16="http://schemas.microsoft.com/office/drawing/2014/main" id="{669A1B3C-F089-48C0-A275-B90935D2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32760"/>
            <a:ext cx="2318004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核心工作台，创建并观察 Agent 任务。</a:t>
            </a:r>
          </a:p>
        </p:txBody>
      </p:sp>
      <p:sp>
        <p:nvSpPr>
          <p:cNvPr id="9" name="route-path-dashboard-仪表盘">
            <a:extLst xmlns:a="http://schemas.openxmlformats.org/drawingml/2006/main">
              <a:ext uri="{FF2B5EF4-FFF2-40B4-BE49-F238E27FC236}">
                <a16:creationId xmlns:a16="http://schemas.microsoft.com/office/drawing/2014/main" id="{BAE4BA5A-3E81-4BB6-A308-2C5D0142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67100"/>
            <a:ext cx="154676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/dashboard   仪表盘</a:t>
            </a:r>
          </a:p>
        </p:txBody>
      </p:sp>
      <p:sp>
        <p:nvSpPr>
          <p:cNvPr id="10" name="route-desc-dashboard-仪表盘">
            <a:extLst xmlns:a="http://schemas.openxmlformats.org/drawingml/2006/main">
              <a:ext uri="{FF2B5EF4-FFF2-40B4-BE49-F238E27FC236}">
                <a16:creationId xmlns:a16="http://schemas.microsoft.com/office/drawing/2014/main" id="{D23F59BB-E1BE-46E2-BE72-5E3326B1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76650"/>
            <a:ext cx="18669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总览、最近项目、任务与统计。</a:t>
            </a:r>
          </a:p>
        </p:txBody>
      </p:sp>
      <p:sp>
        <p:nvSpPr>
          <p:cNvPr id="11" name="route-path-projects-项目管理">
            <a:extLst xmlns:a="http://schemas.openxmlformats.org/drawingml/2006/main">
              <a:ext uri="{FF2B5EF4-FFF2-40B4-BE49-F238E27FC236}">
                <a16:creationId xmlns:a16="http://schemas.microsoft.com/office/drawing/2014/main" id="{E86E722C-3FC7-425E-A083-85BD53C4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50970"/>
            <a:ext cx="1603629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/projects   项目管理</a:t>
            </a:r>
          </a:p>
        </p:txBody>
      </p:sp>
      <p:sp>
        <p:nvSpPr>
          <p:cNvPr id="12" name="route-desc-projects-项目管理">
            <a:extLst xmlns:a="http://schemas.openxmlformats.org/drawingml/2006/main">
              <a:ext uri="{FF2B5EF4-FFF2-40B4-BE49-F238E27FC236}">
                <a16:creationId xmlns:a16="http://schemas.microsoft.com/office/drawing/2014/main" id="{12CBBCA2-B2B9-48A7-9320-9B74DFB9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60520"/>
            <a:ext cx="1822799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 / ZIP、成员、项目详情。</a:t>
            </a:r>
          </a:p>
        </p:txBody>
      </p:sp>
      <p:sp>
        <p:nvSpPr>
          <p:cNvPr id="13" name="route-path-instant-analysis-即时分析">
            <a:extLst xmlns:a="http://schemas.openxmlformats.org/drawingml/2006/main">
              <a:ext uri="{FF2B5EF4-FFF2-40B4-BE49-F238E27FC236}">
                <a16:creationId xmlns:a16="http://schemas.microsoft.com/office/drawing/2014/main" id="{AD94CF7B-C848-445E-93CC-44D3FA33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94860"/>
            <a:ext cx="229171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/instant-analysis   即时分析</a:t>
            </a:r>
          </a:p>
        </p:txBody>
      </p:sp>
      <p:sp>
        <p:nvSpPr>
          <p:cNvPr id="14" name="route-desc-instant-analysis-即时分析">
            <a:extLst xmlns:a="http://schemas.openxmlformats.org/drawingml/2006/main">
              <a:ext uri="{FF2B5EF4-FFF2-40B4-BE49-F238E27FC236}">
                <a16:creationId xmlns:a16="http://schemas.microsoft.com/office/drawing/2014/main" id="{BF953033-92B6-4A62-B4EE-D95E89F5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4410"/>
            <a:ext cx="17335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快速分析，不走完整任务链。</a:t>
            </a:r>
          </a:p>
        </p:txBody>
      </p:sp>
      <p:sp>
        <p:nvSpPr>
          <p:cNvPr id="15" name="route-path-audit-tasks-传统任务">
            <a:extLst xmlns:a="http://schemas.openxmlformats.org/drawingml/2006/main">
              <a:ext uri="{FF2B5EF4-FFF2-40B4-BE49-F238E27FC236}">
                <a16:creationId xmlns:a16="http://schemas.microsoft.com/office/drawing/2014/main" id="{E3622E45-0D9C-4DC7-A96C-BB0EABBF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78730"/>
            <a:ext cx="186166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/audit-tasks   传统任务</a:t>
            </a:r>
          </a:p>
        </p:txBody>
      </p:sp>
      <p:sp>
        <p:nvSpPr>
          <p:cNvPr id="16" name="route-desc-audit-tasks-传统任务">
            <a:extLst xmlns:a="http://schemas.openxmlformats.org/drawingml/2006/main">
              <a:ext uri="{FF2B5EF4-FFF2-40B4-BE49-F238E27FC236}">
                <a16:creationId xmlns:a16="http://schemas.microsoft.com/office/drawing/2014/main" id="{F05CDFB0-F4A9-4B44-97AD-2EF0368C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88280"/>
            <a:ext cx="1978438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仓库扫描、ZIP 扫描、任务详情。</a:t>
            </a:r>
          </a:p>
        </p:txBody>
      </p:sp>
      <p:sp>
        <p:nvSpPr>
          <p:cNvPr id="17" name="route-path-audit-rules-prompts-admin-recycle-bin">
            <a:extLst xmlns:a="http://schemas.openxmlformats.org/drawingml/2006/main">
              <a:ext uri="{FF2B5EF4-FFF2-40B4-BE49-F238E27FC236}">
                <a16:creationId xmlns:a16="http://schemas.microsoft.com/office/drawing/2014/main" id="{FE278F34-A6EA-4106-9C2C-9F90435C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3784473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/audit-rules / prompts / admin / recycle-bin</a:t>
            </a:r>
          </a:p>
        </p:txBody>
      </p:sp>
      <p:sp>
        <p:nvSpPr>
          <p:cNvPr id="18" name="route-desc-audit-rules-prompts-admin-recycle-bin">
            <a:extLst xmlns:a="http://schemas.openxmlformats.org/drawingml/2006/main">
              <a:ext uri="{FF2B5EF4-FFF2-40B4-BE49-F238E27FC236}">
                <a16:creationId xmlns:a16="http://schemas.microsoft.com/office/drawing/2014/main" id="{A3946B93-0554-4C4E-8AE9-2EF0EBF6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72150"/>
            <a:ext cx="12001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策略治理与回收站。</a:t>
            </a:r>
          </a:p>
        </p:txBody>
      </p:sp>
      <p:sp>
        <p:nvSpPr>
          <p:cNvPr id="19" name="appendix-apis-kicker">
            <a:extLst xmlns:a="http://schemas.openxmlformats.org/drawingml/2006/main">
              <a:ext uri="{FF2B5EF4-FFF2-40B4-BE49-F238E27FC236}">
                <a16:creationId xmlns:a16="http://schemas.microsoft.com/office/drawing/2014/main" id="{19BD93B7-F1E1-4484-9C7D-4BDA3AE8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0025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后端接口</a:t>
            </a:r>
          </a:p>
        </p:txBody>
      </p:sp>
      <p:sp>
        <p:nvSpPr>
          <p:cNvPr id="20" name="appendix-apis-title">
            <a:extLst xmlns:a="http://schemas.openxmlformats.org/drawingml/2006/main">
              <a:ext uri="{FF2B5EF4-FFF2-40B4-BE49-F238E27FC236}">
                <a16:creationId xmlns:a16="http://schemas.microsoft.com/office/drawing/2014/main" id="{2FECF439-5789-4A30-BE44-9EC66095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74570"/>
            <a:ext cx="54292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按业务域拆分，不是单一大接口。</a:t>
            </a:r>
          </a:p>
        </p:txBody>
      </p:sp>
      <p:sp>
        <p:nvSpPr>
          <p:cNvPr id="21" name="api-path-api-deepaudit-projects-members">
            <a:extLst xmlns:a="http://schemas.openxmlformats.org/drawingml/2006/main">
              <a:ext uri="{FF2B5EF4-FFF2-40B4-BE49-F238E27FC236}">
                <a16:creationId xmlns:a16="http://schemas.microsoft.com/office/drawing/2014/main" id="{D5EED9B2-AF4A-48C2-A5B6-A1757FAC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23210"/>
            <a:ext cx="283835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/api/deepaudit/projects / members</a:t>
            </a:r>
          </a:p>
        </p:txBody>
      </p:sp>
      <p:sp>
        <p:nvSpPr>
          <p:cNvPr id="22" name="api-desc-api-deepaudit-projects-members">
            <a:extLst xmlns:a="http://schemas.openxmlformats.org/drawingml/2006/main">
              <a:ext uri="{FF2B5EF4-FFF2-40B4-BE49-F238E27FC236}">
                <a16:creationId xmlns:a16="http://schemas.microsoft.com/office/drawing/2014/main" id="{EA703E3C-4EF4-488F-813B-E1E36D3E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32760"/>
            <a:ext cx="184289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项目、成员、owner、回收站。</a:t>
            </a:r>
          </a:p>
        </p:txBody>
      </p:sp>
      <p:sp>
        <p:nvSpPr>
          <p:cNvPr id="23" name="api-path-api-deepaudit-scan">
            <a:extLst xmlns:a="http://schemas.openxmlformats.org/drawingml/2006/main">
              <a:ext uri="{FF2B5EF4-FFF2-40B4-BE49-F238E27FC236}">
                <a16:creationId xmlns:a16="http://schemas.microsoft.com/office/drawing/2014/main" id="{92898DE4-20E8-4BD8-A2F0-C4F57D4C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07080"/>
            <a:ext cx="1806226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/api/deepaudit/scan/*</a:t>
            </a:r>
          </a:p>
        </p:txBody>
      </p:sp>
      <p:sp>
        <p:nvSpPr>
          <p:cNvPr id="24" name="api-desc-api-deepaudit-scan">
            <a:extLst xmlns:a="http://schemas.openxmlformats.org/drawingml/2006/main">
              <a:ext uri="{FF2B5EF4-FFF2-40B4-BE49-F238E27FC236}">
                <a16:creationId xmlns:a16="http://schemas.microsoft.com/office/drawing/2014/main" id="{17F21C6E-9435-428C-AB35-F9393CF4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16630"/>
            <a:ext cx="1978438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仓库扫描、ZIP 扫描、即时分析。</a:t>
            </a:r>
          </a:p>
        </p:txBody>
      </p:sp>
      <p:sp>
        <p:nvSpPr>
          <p:cNvPr id="25" name="api-path-api-deepaudit-agent-tasks">
            <a:extLst xmlns:a="http://schemas.openxmlformats.org/drawingml/2006/main">
              <a:ext uri="{FF2B5EF4-FFF2-40B4-BE49-F238E27FC236}">
                <a16:creationId xmlns:a16="http://schemas.microsoft.com/office/drawing/2014/main" id="{20DA8624-798C-466B-A951-7A27339C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90950"/>
            <a:ext cx="2236279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/api/deepaudit/agent-tasks</a:t>
            </a:r>
          </a:p>
        </p:txBody>
      </p:sp>
      <p:sp>
        <p:nvSpPr>
          <p:cNvPr id="26" name="api-desc-api-deepaudit-agent-tasks">
            <a:extLst xmlns:a="http://schemas.openxmlformats.org/drawingml/2006/main">
              <a:ext uri="{FF2B5EF4-FFF2-40B4-BE49-F238E27FC236}">
                <a16:creationId xmlns:a16="http://schemas.microsoft.com/office/drawing/2014/main" id="{88C5E1F1-423D-49B4-B177-6EE87D94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0500"/>
            <a:ext cx="2625947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Agent 任务、Finding、Checkpoint、摘要。</a:t>
            </a:r>
          </a:p>
        </p:txBody>
      </p:sp>
      <p:sp>
        <p:nvSpPr>
          <p:cNvPr id="27" name="api-path-api-deepaudit-rules-prompts-settings-ssh-keys-rag-data-tools">
            <a:extLst xmlns:a="http://schemas.openxmlformats.org/drawingml/2006/main">
              <a:ext uri="{FF2B5EF4-FFF2-40B4-BE49-F238E27FC236}">
                <a16:creationId xmlns:a16="http://schemas.microsoft.com/office/drawing/2014/main" id="{E663770D-8C43-44ED-8E2A-F2E6B1CD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34840"/>
            <a:ext cx="6106763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/api/deepaudit/rules / prompts / settings / ssh-keys / rag / data-tools</a:t>
            </a:r>
          </a:p>
        </p:txBody>
      </p:sp>
      <p:sp>
        <p:nvSpPr>
          <p:cNvPr id="28" name="api-desc-api-deepaudit-rules-prompts-settings-ssh-keys-rag-data-tools">
            <a:extLst xmlns:a="http://schemas.openxmlformats.org/drawingml/2006/main">
              <a:ext uri="{FF2B5EF4-FFF2-40B4-BE49-F238E27FC236}">
                <a16:creationId xmlns:a16="http://schemas.microsoft.com/office/drawing/2014/main" id="{5741787D-0C63-40BB-9D3E-55B597A6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44390"/>
            <a:ext cx="26670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规则、提示词、配置、知识检索与数据导出。</a:t>
            </a:r>
          </a:p>
        </p:txBody>
      </p:sp>
      <p:sp>
        <p:nvSpPr>
          <p:cNvPr id="29" name="api-path-api-deepaudit-dashboard-reports">
            <a:extLst xmlns:a="http://schemas.openxmlformats.org/drawingml/2006/main">
              <a:ext uri="{FF2B5EF4-FFF2-40B4-BE49-F238E27FC236}">
                <a16:creationId xmlns:a16="http://schemas.microsoft.com/office/drawing/2014/main" id="{BC5E4759-78F5-4676-AA18-004F3A93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18710"/>
            <a:ext cx="3096387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/api/deepaudit/dashboard / reports/*</a:t>
            </a:r>
          </a:p>
        </p:txBody>
      </p:sp>
      <p:sp>
        <p:nvSpPr>
          <p:cNvPr id="30" name="api-desc-api-deepaudit-dashboard-reports">
            <a:extLst xmlns:a="http://schemas.openxmlformats.org/drawingml/2006/main">
              <a:ext uri="{FF2B5EF4-FFF2-40B4-BE49-F238E27FC236}">
                <a16:creationId xmlns:a16="http://schemas.microsoft.com/office/drawing/2014/main" id="{7E4A5BD9-29AC-4CFE-A350-5A8912DA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128260"/>
            <a:ext cx="191909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看板摘要与 JSON / PDF 导出。</a:t>
            </a:r>
          </a:p>
        </p:txBody>
      </p:sp>
      <p:sp>
        <p:nvSpPr>
          <p:cNvPr id="31" name="appendix-api-stream-note">
            <a:extLst xmlns:a="http://schemas.openxmlformats.org/drawingml/2006/main">
              <a:ext uri="{FF2B5EF4-FFF2-40B4-BE49-F238E27FC236}">
                <a16:creationId xmlns:a16="http://schemas.microsoft.com/office/drawing/2014/main" id="{C1ED3A49-0725-47DD-A9D3-60853709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02580"/>
            <a:ext cx="7239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前端实现：agentStream.ts / useResilientStream.ts / focusAdapter.ts；实时链路：SSE + WebSocket。</a:t>
            </a:r>
          </a:p>
        </p:txBody>
      </p:sp>
    </p:spTree>
    <p:extLst>
      <p:ext uri="{BB962C8B-B14F-4D97-AF65-F5344CB8AC3E}">
        <p14:creationId xmlns:p14="http://schemas.microsoft.com/office/powerpoint/2010/main" val="15463745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演示兜底与部署">
            <a:extLst xmlns:a="http://schemas.openxmlformats.org/drawingml/2006/main">
              <a:ext uri="{FF2B5EF4-FFF2-40B4-BE49-F238E27FC236}">
                <a16:creationId xmlns:a16="http://schemas.microsoft.com/office/drawing/2014/main" id="{DD9D842F-C39B-4924-B322-DDFF9D7B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688086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APPENDIX</a:t>
            </a:r>
          </a:p>
        </p:txBody>
      </p:sp>
      <p:sp>
        <p:nvSpPr>
          <p:cNvPr id="2" name="header-title-演示兜底与部署">
            <a:extLst xmlns:a="http://schemas.openxmlformats.org/drawingml/2006/main">
              <a:ext uri="{FF2B5EF4-FFF2-40B4-BE49-F238E27FC236}">
                <a16:creationId xmlns:a16="http://schemas.microsoft.com/office/drawing/2014/main" id="{8E2E0501-D407-467C-9139-7A6F6D24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525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演示兜底与部署</a:t>
            </a:r>
          </a:p>
        </p:txBody>
      </p:sp>
      <p:sp>
        <p:nvSpPr>
          <p:cNvPr id="3" name="header-subtitle-演示兜底与部署">
            <a:extLst xmlns:a="http://schemas.openxmlformats.org/drawingml/2006/main">
              <a:ext uri="{FF2B5EF4-FFF2-40B4-BE49-F238E27FC236}">
                <a16:creationId xmlns:a16="http://schemas.microsoft.com/office/drawing/2014/main" id="{4D2ACE6A-1F5A-4C13-9411-41B6F61D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1130"/>
            <a:ext cx="11125200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现场如果实时流不稳，先保主线，再切截图兜底。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6BCD87DC-38B2-4B2A-9EAB-80F400B1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ops-left-kicker">
            <a:extLst xmlns:a="http://schemas.openxmlformats.org/drawingml/2006/main">
              <a:ext uri="{FF2B5EF4-FFF2-40B4-BE49-F238E27FC236}">
                <a16:creationId xmlns:a16="http://schemas.microsoft.com/office/drawing/2014/main" id="{3F0E1664-1437-41AC-95E8-9E5C06D8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演示兜底</a:t>
            </a:r>
          </a:p>
        </p:txBody>
      </p:sp>
      <p:sp>
        <p:nvSpPr>
          <p:cNvPr id="6" name="ops-left-title">
            <a:extLst xmlns:a="http://schemas.openxmlformats.org/drawingml/2006/main">
              <a:ext uri="{FF2B5EF4-FFF2-40B4-BE49-F238E27FC236}">
                <a16:creationId xmlns:a16="http://schemas.microsoft.com/office/drawing/2014/main" id="{84828532-849F-45D8-AFA1-218AFBD4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4570"/>
            <a:ext cx="33337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先保主线</a:t>
            </a:r>
          </a:p>
        </p:txBody>
      </p:sp>
      <p:sp>
        <p:nvSpPr>
          <p:cNvPr id="7" name="bullet-dot-优先路径">
            <a:extLst xmlns:a="http://schemas.openxmlformats.org/drawingml/2006/main">
              <a:ext uri="{FF2B5EF4-FFF2-40B4-BE49-F238E27FC236}">
                <a16:creationId xmlns:a16="http://schemas.microsoft.com/office/drawing/2014/main" id="{35EAAF46-6C69-40ED-A341-F8A8D390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优先路径">
            <a:extLst xmlns:a="http://schemas.openxmlformats.org/drawingml/2006/main">
              <a:ext uri="{FF2B5EF4-FFF2-40B4-BE49-F238E27FC236}">
                <a16:creationId xmlns:a16="http://schemas.microsoft.com/office/drawing/2014/main" id="{FF90219B-9910-406B-97AE-DA45A338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321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优先路径</a:t>
            </a:r>
          </a:p>
        </p:txBody>
      </p:sp>
      <p:sp>
        <p:nvSpPr>
          <p:cNvPr id="9" name="bullet-detail-优先路径">
            <a:extLst xmlns:a="http://schemas.openxmlformats.org/drawingml/2006/main">
              <a:ext uri="{FF2B5EF4-FFF2-40B4-BE49-F238E27FC236}">
                <a16:creationId xmlns:a16="http://schemas.microsoft.com/office/drawing/2014/main" id="{F5446D65-F47D-4874-8723-3D705730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5620"/>
            <a:ext cx="3143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Dashboard → 项目管理 → Agent 审计 → 报告页。</a:t>
            </a:r>
          </a:p>
        </p:txBody>
      </p:sp>
      <p:sp>
        <p:nvSpPr>
          <p:cNvPr id="10" name="bullet-dot-备用素材">
            <a:extLst xmlns:a="http://schemas.openxmlformats.org/drawingml/2006/main">
              <a:ext uri="{FF2B5EF4-FFF2-40B4-BE49-F238E27FC236}">
                <a16:creationId xmlns:a16="http://schemas.microsoft.com/office/drawing/2014/main" id="{8887A4B4-D945-47F0-B54E-83511438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28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备用素材">
            <a:extLst xmlns:a="http://schemas.openxmlformats.org/drawingml/2006/main">
              <a:ext uri="{FF2B5EF4-FFF2-40B4-BE49-F238E27FC236}">
                <a16:creationId xmlns:a16="http://schemas.microsoft.com/office/drawing/2014/main" id="{763C8574-60DA-424D-8C2C-904D2648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1282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备用素材</a:t>
            </a:r>
          </a:p>
        </p:txBody>
      </p:sp>
      <p:sp>
        <p:nvSpPr>
          <p:cNvPr id="12" name="bullet-detail-备用素材">
            <a:extLst xmlns:a="http://schemas.openxmlformats.org/drawingml/2006/main">
              <a:ext uri="{FF2B5EF4-FFF2-40B4-BE49-F238E27FC236}">
                <a16:creationId xmlns:a16="http://schemas.microsoft.com/office/drawing/2014/main" id="{D789A6C6-A51E-4161-83C9-1A9C6E87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4523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home / report 两张截图已准备好。</a:t>
            </a:r>
          </a:p>
        </p:txBody>
      </p:sp>
      <p:sp>
        <p:nvSpPr>
          <p:cNvPr id="13" name="bullet-dot-节奏控制">
            <a:extLst xmlns:a="http://schemas.openxmlformats.org/drawingml/2006/main">
              <a:ext uri="{FF2B5EF4-FFF2-40B4-BE49-F238E27FC236}">
                <a16:creationId xmlns:a16="http://schemas.microsoft.com/office/drawing/2014/main" id="{C6900D57-24D3-4C97-A846-D2A92B36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09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节奏控制">
            <a:extLst xmlns:a="http://schemas.openxmlformats.org/drawingml/2006/main">
              <a:ext uri="{FF2B5EF4-FFF2-40B4-BE49-F238E27FC236}">
                <a16:creationId xmlns:a16="http://schemas.microsoft.com/office/drawing/2014/main" id="{E16E146D-35AD-4854-BA7F-EDCA9411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0980"/>
            <a:ext cx="31432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节奏控制</a:t>
            </a:r>
          </a:p>
        </p:txBody>
      </p:sp>
      <p:sp>
        <p:nvSpPr>
          <p:cNvPr id="15" name="bullet-detail-节奏控制">
            <a:extLst xmlns:a="http://schemas.openxmlformats.org/drawingml/2006/main">
              <a:ext uri="{FF2B5EF4-FFF2-40B4-BE49-F238E27FC236}">
                <a16:creationId xmlns:a16="http://schemas.microsoft.com/office/drawing/2014/main" id="{7495423C-7CFE-4BD9-A339-D036EE9A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3390"/>
            <a:ext cx="3143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流卡住就切报告页，主结论不受影响。</a:t>
            </a:r>
          </a:p>
        </p:txBody>
      </p:sp>
      <p:sp>
        <p:nvSpPr>
          <p:cNvPr id="16" name="ops-callout">
            <a:extLst xmlns:a="http://schemas.openxmlformats.org/drawingml/2006/main">
              <a:ext uri="{FF2B5EF4-FFF2-40B4-BE49-F238E27FC236}">
                <a16:creationId xmlns:a16="http://schemas.microsoft.com/office/drawing/2014/main" id="{3636EDA4-3C49-4C4E-ABD0-BDBF33E0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9140"/>
            <a:ext cx="3333750" cy="849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10000"/>
            </a:srgbClr>
          </a:solidFill>
          <a:ln xmlns:a="http://schemas.openxmlformats.org/drawingml/2006/main" w="9525">
            <a:solidFill>
              <a:srgbClr val="FF6A2A">
                <a:alpha val="30000"/>
              </a:srgbClr>
            </a:solidFill>
            <a:prstDash val="solid"/>
          </a:ln>
        </p:spPr>
      </p:sp>
      <p:sp>
        <p:nvSpPr>
          <p:cNvPr id="17" name="ops-callout-kicker">
            <a:extLst xmlns:a="http://schemas.openxmlformats.org/drawingml/2006/main">
              <a:ext uri="{FF2B5EF4-FFF2-40B4-BE49-F238E27FC236}">
                <a16:creationId xmlns:a16="http://schemas.microsoft.com/office/drawing/2014/main" id="{BAE3B676-C12D-4998-BFC8-D274AC48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9140"/>
            <a:ext cx="6667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一句话原则</a:t>
            </a:r>
          </a:p>
        </p:txBody>
      </p:sp>
      <p:sp>
        <p:nvSpPr>
          <p:cNvPr id="18" name="ops-callout-title">
            <a:extLst xmlns:a="http://schemas.openxmlformats.org/drawingml/2006/main">
              <a:ext uri="{FF2B5EF4-FFF2-40B4-BE49-F238E27FC236}">
                <a16:creationId xmlns:a16="http://schemas.microsoft.com/office/drawing/2014/main" id="{ADABFFE7-9B47-4C9E-98D9-89C58B7F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56785"/>
            <a:ext cx="3619500" cy="4114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只要“项目接入 + 分析 + 报告”能跑通，主线就成立。</a:t>
            </a:r>
          </a:p>
        </p:txBody>
      </p:sp>
      <p:sp>
        <p:nvSpPr>
          <p:cNvPr id="19" name="ops-callout-subtitle">
            <a:extLst xmlns:a="http://schemas.openxmlformats.org/drawingml/2006/main">
              <a:ext uri="{FF2B5EF4-FFF2-40B4-BE49-F238E27FC236}">
                <a16:creationId xmlns:a16="http://schemas.microsoft.com/office/drawing/2014/main" id="{B797EBAC-9323-457A-A8A2-9CBADEC1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5890"/>
            <a:ext cx="361950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实时链路是加分项；不稳时，用截图保住理解路径。</a:t>
            </a:r>
          </a:p>
        </p:txBody>
      </p:sp>
      <p:sp>
        <p:nvSpPr>
          <p:cNvPr id="20" name="ops-middle-kicker">
            <a:extLst xmlns:a="http://schemas.openxmlformats.org/drawingml/2006/main">
              <a:ext uri="{FF2B5EF4-FFF2-40B4-BE49-F238E27FC236}">
                <a16:creationId xmlns:a16="http://schemas.microsoft.com/office/drawing/2014/main" id="{08387C01-6DA4-43FE-83C6-9B0596F1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00250"/>
            <a:ext cx="5334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运行前提</a:t>
            </a:r>
          </a:p>
        </p:txBody>
      </p:sp>
      <p:sp>
        <p:nvSpPr>
          <p:cNvPr id="21" name="ops-middle-title">
            <a:extLst xmlns:a="http://schemas.openxmlformats.org/drawingml/2006/main">
              <a:ext uri="{FF2B5EF4-FFF2-40B4-BE49-F238E27FC236}">
                <a16:creationId xmlns:a16="http://schemas.microsoft.com/office/drawing/2014/main" id="{B33ECA76-DC5C-4B52-B2DF-6E15DAD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74570"/>
            <a:ext cx="381000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先看依赖</a:t>
            </a:r>
          </a:p>
        </p:txBody>
      </p:sp>
      <p:sp>
        <p:nvSpPr>
          <p:cNvPr id="22" name="bullet-dot-asgi-celery">
            <a:extLst xmlns:a="http://schemas.openxmlformats.org/drawingml/2006/main">
              <a:ext uri="{FF2B5EF4-FFF2-40B4-BE49-F238E27FC236}">
                <a16:creationId xmlns:a16="http://schemas.microsoft.com/office/drawing/2014/main" id="{39A148D4-8ECA-45B3-A04B-290C8EB6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3" name="bullet-title-asgi-celery">
            <a:extLst xmlns:a="http://schemas.openxmlformats.org/drawingml/2006/main">
              <a:ext uri="{FF2B5EF4-FFF2-40B4-BE49-F238E27FC236}">
                <a16:creationId xmlns:a16="http://schemas.microsoft.com/office/drawing/2014/main" id="{5BFA8CBB-1745-4632-98ED-A5382850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23210"/>
            <a:ext cx="3619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ASGI / Celery</a:t>
            </a:r>
          </a:p>
        </p:txBody>
      </p:sp>
      <p:sp>
        <p:nvSpPr>
          <p:cNvPr id="24" name="bullet-detail-asgi-celery">
            <a:extLst xmlns:a="http://schemas.openxmlformats.org/drawingml/2006/main">
              <a:ext uri="{FF2B5EF4-FFF2-40B4-BE49-F238E27FC236}">
                <a16:creationId xmlns:a16="http://schemas.microsoft.com/office/drawing/2014/main" id="{9DC0A652-FEF2-44DA-BA64-45030603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55620"/>
            <a:ext cx="361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长任务、SSE 和 WebSocket 都依赖异步执行。</a:t>
            </a:r>
          </a:p>
        </p:txBody>
      </p:sp>
      <p:sp>
        <p:nvSpPr>
          <p:cNvPr id="25" name="bullet-dot-redis-channels">
            <a:extLst xmlns:a="http://schemas.openxmlformats.org/drawingml/2006/main">
              <a:ext uri="{FF2B5EF4-FFF2-40B4-BE49-F238E27FC236}">
                <a16:creationId xmlns:a16="http://schemas.microsoft.com/office/drawing/2014/main" id="{2DE7F100-9B41-4898-8502-268B1FF7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413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26" name="bullet-title-redis-channels">
            <a:extLst xmlns:a="http://schemas.openxmlformats.org/drawingml/2006/main">
              <a:ext uri="{FF2B5EF4-FFF2-40B4-BE49-F238E27FC236}">
                <a16:creationId xmlns:a16="http://schemas.microsoft.com/office/drawing/2014/main" id="{2D2C009D-863F-49C1-96E8-E5FD4097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41370"/>
            <a:ext cx="3619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Redis + Channels</a:t>
            </a:r>
          </a:p>
        </p:txBody>
      </p:sp>
      <p:sp>
        <p:nvSpPr>
          <p:cNvPr id="27" name="bullet-detail-redis-channels">
            <a:extLst xmlns:a="http://schemas.openxmlformats.org/drawingml/2006/main">
              <a:ext uri="{FF2B5EF4-FFF2-40B4-BE49-F238E27FC236}">
                <a16:creationId xmlns:a16="http://schemas.microsoft.com/office/drawing/2014/main" id="{8FF9FC30-991A-42BF-A6CE-1F1F1241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73780"/>
            <a:ext cx="361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group 状态、队列和推送都靠它。</a:t>
            </a:r>
          </a:p>
        </p:txBody>
      </p:sp>
      <p:sp>
        <p:nvSpPr>
          <p:cNvPr id="28" name="bullet-dot-nginx-代理">
            <a:extLst xmlns:a="http://schemas.openxmlformats.org/drawingml/2006/main">
              <a:ext uri="{FF2B5EF4-FFF2-40B4-BE49-F238E27FC236}">
                <a16:creationId xmlns:a16="http://schemas.microsoft.com/office/drawing/2014/main" id="{7BD1C1C9-9430-409A-8CFF-F0F77D88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595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29" name="bullet-title-nginx-代理">
            <a:extLst xmlns:a="http://schemas.openxmlformats.org/drawingml/2006/main">
              <a:ext uri="{FF2B5EF4-FFF2-40B4-BE49-F238E27FC236}">
                <a16:creationId xmlns:a16="http://schemas.microsoft.com/office/drawing/2014/main" id="{652BB09F-7B99-4CF9-81ED-8253F893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59530"/>
            <a:ext cx="3619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Nginx 代理</a:t>
            </a:r>
          </a:p>
        </p:txBody>
      </p:sp>
      <p:sp>
        <p:nvSpPr>
          <p:cNvPr id="30" name="bullet-detail-nginx-代理">
            <a:extLst xmlns:a="http://schemas.openxmlformats.org/drawingml/2006/main">
              <a:ext uri="{FF2B5EF4-FFF2-40B4-BE49-F238E27FC236}">
                <a16:creationId xmlns:a16="http://schemas.microsoft.com/office/drawing/2014/main" id="{B33D8ADE-7884-43D9-A76B-185BACF3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1940"/>
            <a:ext cx="3619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/basic-api/api、/ws/、stream 要转发且 stream 不能缓冲。</a:t>
            </a:r>
          </a:p>
        </p:txBody>
      </p:sp>
      <p:sp>
        <p:nvSpPr>
          <p:cNvPr id="31" name="bullet-dot-tiktoken-llm">
            <a:extLst xmlns:a="http://schemas.openxmlformats.org/drawingml/2006/main">
              <a:ext uri="{FF2B5EF4-FFF2-40B4-BE49-F238E27FC236}">
                <a16:creationId xmlns:a16="http://schemas.microsoft.com/office/drawing/2014/main" id="{8C59FC4B-984A-44B1-98B6-85DE045C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491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32" name="bullet-title-tiktoken-llm">
            <a:extLst xmlns:a="http://schemas.openxmlformats.org/drawingml/2006/main">
              <a:ext uri="{FF2B5EF4-FFF2-40B4-BE49-F238E27FC236}">
                <a16:creationId xmlns:a16="http://schemas.microsoft.com/office/drawing/2014/main" id="{BD79E0F2-1BEA-4CDC-A725-FFEE80A2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49140"/>
            <a:ext cx="36195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tiktoken / LLM</a:t>
            </a:r>
          </a:p>
        </p:txBody>
      </p:sp>
      <p:sp>
        <p:nvSpPr>
          <p:cNvPr id="33" name="bullet-detail-tiktoken-llm">
            <a:extLst xmlns:a="http://schemas.openxmlformats.org/drawingml/2006/main">
              <a:ext uri="{FF2B5EF4-FFF2-40B4-BE49-F238E27FC236}">
                <a16:creationId xmlns:a16="http://schemas.microsoft.com/office/drawing/2014/main" id="{12630C7D-2E5E-44D8-916F-24D3070C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81550"/>
            <a:ext cx="361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内网网关、离线缓存和首包超时都要预先处理。</a:t>
            </a:r>
          </a:p>
        </p:txBody>
      </p:sp>
      <p:sp>
        <p:nvSpPr>
          <p:cNvPr id="34" name="ops-right-kicker">
            <a:extLst xmlns:a="http://schemas.openxmlformats.org/drawingml/2006/main">
              <a:ext uri="{FF2B5EF4-FFF2-40B4-BE49-F238E27FC236}">
                <a16:creationId xmlns:a16="http://schemas.microsoft.com/office/drawing/2014/main" id="{B3867FBB-275C-4E46-A1C4-A4D73D3E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00250"/>
            <a:ext cx="8001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常见故障信号</a:t>
            </a:r>
          </a:p>
        </p:txBody>
      </p:sp>
      <p:sp>
        <p:nvSpPr>
          <p:cNvPr id="35" name="ops-right-title">
            <a:extLst xmlns:a="http://schemas.openxmlformats.org/drawingml/2006/main">
              <a:ext uri="{FF2B5EF4-FFF2-40B4-BE49-F238E27FC236}">
                <a16:creationId xmlns:a16="http://schemas.microsoft.com/office/drawing/2014/main" id="{913EE53E-D274-4661-8CD8-CCCD08D2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74570"/>
            <a:ext cx="35242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先查代理和 worker</a:t>
            </a:r>
          </a:p>
        </p:txBody>
      </p:sp>
      <p:sp>
        <p:nvSpPr>
          <p:cNvPr id="36" name="bullet-dot-页面能打开-但流不刷新">
            <a:extLst xmlns:a="http://schemas.openxmlformats.org/drawingml/2006/main">
              <a:ext uri="{FF2B5EF4-FFF2-40B4-BE49-F238E27FC236}">
                <a16:creationId xmlns:a16="http://schemas.microsoft.com/office/drawing/2014/main" id="{81E84674-AA28-4A5E-B21A-A9760E0B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8232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7" name="bullet-title-页面能打开-但流不刷新">
            <a:extLst xmlns:a="http://schemas.openxmlformats.org/drawingml/2006/main">
              <a:ext uri="{FF2B5EF4-FFF2-40B4-BE49-F238E27FC236}">
                <a16:creationId xmlns:a16="http://schemas.microsoft.com/office/drawing/2014/main" id="{123CA3D2-9E78-47BB-8956-3C29C228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23210"/>
            <a:ext cx="3333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页面能打开，但流不刷新</a:t>
            </a:r>
          </a:p>
        </p:txBody>
      </p:sp>
      <p:sp>
        <p:nvSpPr>
          <p:cNvPr id="38" name="bullet-detail-页面能打开-但流不刷新">
            <a:extLst xmlns:a="http://schemas.openxmlformats.org/drawingml/2006/main">
              <a:ext uri="{FF2B5EF4-FFF2-40B4-BE49-F238E27FC236}">
                <a16:creationId xmlns:a16="http://schemas.microsoft.com/office/drawing/2014/main" id="{A9663899-B736-4A6B-9F5B-7D882FD4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55620"/>
            <a:ext cx="3333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优先查 SSE / WS / buffering 与 Nginx 配置。</a:t>
            </a:r>
          </a:p>
        </p:txBody>
      </p:sp>
      <p:sp>
        <p:nvSpPr>
          <p:cNvPr id="39" name="bullet-dot-接口-401-404">
            <a:extLst xmlns:a="http://schemas.openxmlformats.org/drawingml/2006/main">
              <a:ext uri="{FF2B5EF4-FFF2-40B4-BE49-F238E27FC236}">
                <a16:creationId xmlns:a16="http://schemas.microsoft.com/office/drawing/2014/main" id="{ACE50252-5C46-4AC2-ADF8-1BA0AD79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413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40" name="bullet-title-接口-401-404">
            <a:extLst xmlns:a="http://schemas.openxmlformats.org/drawingml/2006/main">
              <a:ext uri="{FF2B5EF4-FFF2-40B4-BE49-F238E27FC236}">
                <a16:creationId xmlns:a16="http://schemas.microsoft.com/office/drawing/2014/main" id="{D42F84C4-E7D9-46C8-B41A-49373C86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41370"/>
            <a:ext cx="3333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接口 401 / 404</a:t>
            </a:r>
          </a:p>
        </p:txBody>
      </p:sp>
      <p:sp>
        <p:nvSpPr>
          <p:cNvPr id="41" name="bullet-detail-接口-401-404">
            <a:extLst xmlns:a="http://schemas.openxmlformats.org/drawingml/2006/main">
              <a:ext uri="{FF2B5EF4-FFF2-40B4-BE49-F238E27FC236}">
                <a16:creationId xmlns:a16="http://schemas.microsoft.com/office/drawing/2014/main" id="{3DDB1936-A126-4234-BCB1-FAD14B67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73780"/>
            <a:ext cx="3333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先看 token、baseURL、/basic-api/api 是否对齐。</a:t>
            </a:r>
          </a:p>
        </p:txBody>
      </p:sp>
      <p:sp>
        <p:nvSpPr>
          <p:cNvPr id="42" name="bullet-dot-日志有任务-ui-没事件">
            <a:extLst xmlns:a="http://schemas.openxmlformats.org/drawingml/2006/main">
              <a:ext uri="{FF2B5EF4-FFF2-40B4-BE49-F238E27FC236}">
                <a16:creationId xmlns:a16="http://schemas.microsoft.com/office/drawing/2014/main" id="{9C275E0A-1070-42CD-ACBA-13E56417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595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43" name="bullet-title-日志有任务-ui-没事件">
            <a:extLst xmlns:a="http://schemas.openxmlformats.org/drawingml/2006/main">
              <a:ext uri="{FF2B5EF4-FFF2-40B4-BE49-F238E27FC236}">
                <a16:creationId xmlns:a16="http://schemas.microsoft.com/office/drawing/2014/main" id="{030C2A7A-3822-4FC1-8FD3-09202DF5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59530"/>
            <a:ext cx="333375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日志有任务，UI 没事件</a:t>
            </a:r>
          </a:p>
        </p:txBody>
      </p:sp>
      <p:sp>
        <p:nvSpPr>
          <p:cNvPr id="44" name="bullet-detail-日志有任务-ui-没事件">
            <a:extLst xmlns:a="http://schemas.openxmlformats.org/drawingml/2006/main">
              <a:ext uri="{FF2B5EF4-FFF2-40B4-BE49-F238E27FC236}">
                <a16:creationId xmlns:a16="http://schemas.microsoft.com/office/drawing/2014/main" id="{867F4A2D-2DFC-4481-87A4-183AAC77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91940"/>
            <a:ext cx="3333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常见是 Redis、Channels 或 DeepAudit worker 未就绪。</a:t>
            </a:r>
          </a:p>
        </p:txBody>
      </p:sp>
      <p:sp>
        <p:nvSpPr>
          <p:cNvPr id="45" name="chip-enable-scheduler-false">
            <a:extLst xmlns:a="http://schemas.openxmlformats.org/drawingml/2006/main">
              <a:ext uri="{FF2B5EF4-FFF2-40B4-BE49-F238E27FC236}">
                <a16:creationId xmlns:a16="http://schemas.microsoft.com/office/drawing/2014/main" id="{673C25A7-1CBA-4EF1-8594-5AB6623D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49140"/>
            <a:ext cx="1724025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6" name="chip-text-enable-scheduler-false">
            <a:extLst xmlns:a="http://schemas.openxmlformats.org/drawingml/2006/main">
              <a:ext uri="{FF2B5EF4-FFF2-40B4-BE49-F238E27FC236}">
                <a16:creationId xmlns:a16="http://schemas.microsoft.com/office/drawing/2014/main" id="{ED215104-147B-4FCD-8E98-6C3B006C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3109" y="4549140"/>
            <a:ext cx="176650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ENABLE_SCHEDULER=false</a:t>
            </a:r>
          </a:p>
        </p:txBody>
      </p:sp>
      <p:sp>
        <p:nvSpPr>
          <p:cNvPr id="47" name="chip-redis-db-隔离">
            <a:extLst xmlns:a="http://schemas.openxmlformats.org/drawingml/2006/main">
              <a:ext uri="{FF2B5EF4-FFF2-40B4-BE49-F238E27FC236}">
                <a16:creationId xmlns:a16="http://schemas.microsoft.com/office/drawing/2014/main" id="{AE0115BC-0CCD-4B93-A648-B76FE8A6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549140"/>
            <a:ext cx="1724025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8" name="chip-text-redis-db-隔离">
            <a:extLst xmlns:a="http://schemas.openxmlformats.org/drawingml/2006/main">
              <a:ext uri="{FF2B5EF4-FFF2-40B4-BE49-F238E27FC236}">
                <a16:creationId xmlns:a16="http://schemas.microsoft.com/office/drawing/2014/main" id="{C589E560-27F2-42E3-8A93-B5FEE378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907" y="4549140"/>
            <a:ext cx="989362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REDIS DB 隔离</a:t>
            </a:r>
          </a:p>
        </p:txBody>
      </p:sp>
      <p:sp>
        <p:nvSpPr>
          <p:cNvPr id="49" name="chip-deepaudit-local-sh">
            <a:extLst xmlns:a="http://schemas.openxmlformats.org/drawingml/2006/main">
              <a:ext uri="{FF2B5EF4-FFF2-40B4-BE49-F238E27FC236}">
                <a16:creationId xmlns:a16="http://schemas.microsoft.com/office/drawing/2014/main" id="{15A87624-AC87-47AE-87BB-4BAC4FCC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85360"/>
            <a:ext cx="1724025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0" name="chip-text-deepaudit-local-sh">
            <a:extLst xmlns:a="http://schemas.openxmlformats.org/drawingml/2006/main">
              <a:ext uri="{FF2B5EF4-FFF2-40B4-BE49-F238E27FC236}">
                <a16:creationId xmlns:a16="http://schemas.microsoft.com/office/drawing/2014/main" id="{842B84E8-CAAB-4645-B63A-48D0130B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701" y="4785360"/>
            <a:ext cx="1445324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deepaudit-local.sh</a:t>
            </a:r>
          </a:p>
        </p:txBody>
      </p:sp>
      <p:sp>
        <p:nvSpPr>
          <p:cNvPr id="51" name="chip-warm-tiktoken-cache-py">
            <a:extLst xmlns:a="http://schemas.openxmlformats.org/drawingml/2006/main">
              <a:ext uri="{FF2B5EF4-FFF2-40B4-BE49-F238E27FC236}">
                <a16:creationId xmlns:a16="http://schemas.microsoft.com/office/drawing/2014/main" id="{EC541991-99BE-4F87-B4F8-D36B6D939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785360"/>
            <a:ext cx="1724025" cy="160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2" name="chip-text-warm-tiktoken-cache-py">
            <a:extLst xmlns:a="http://schemas.openxmlformats.org/drawingml/2006/main">
              <a:ext uri="{FF2B5EF4-FFF2-40B4-BE49-F238E27FC236}">
                <a16:creationId xmlns:a16="http://schemas.microsoft.com/office/drawing/2014/main" id="{A099A7A1-D46B-4976-A563-98F00F0C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3334" y="4785360"/>
            <a:ext cx="1766507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warm_tiktoken_cache.py</a:t>
            </a:r>
          </a:p>
        </p:txBody>
      </p:sp>
    </p:spTree>
    <p:extLst>
      <p:ext uri="{BB962C8B-B14F-4D97-AF65-F5344CB8AC3E}">
        <p14:creationId xmlns:p14="http://schemas.microsoft.com/office/powerpoint/2010/main" val="13162700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2026-04-28T16:03:11.9140000Z</dcterms:created>
  <dcterms:modified xsi:type="dcterms:W3CDTF">2026-04-28T16:03:11.9140000Z</dcterms:modified>
</coreProperties>
</file>