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f3386d0e77471f" /><Relationship Type="http://schemas.openxmlformats.org/officeDocument/2006/relationships/extended-properties" Target="/docProps/app.xml" Id="Rc67e44df1a0c48a0" /><Relationship Type="http://schemas.openxmlformats.org/officeDocument/2006/relationships/officeDocument" Target="/ppt/presentation.xml" Id="Rf88255c711c04d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ea0148401774637"/>
  </p:sldMasterIdLst>
  <p:notesMasterIdLst>
    <p:notesMasterId xmlns:r="http://schemas.openxmlformats.org/officeDocument/2006/relationships" r:id="R8b96a8435c814b35"/>
  </p:notesMasterIdLst>
  <p:sldIdLst>
    <p:sldId xmlns:r="http://schemas.openxmlformats.org/officeDocument/2006/relationships" id="256" r:id="Rad24fc1ee3b54ec7"/>
    <p:sldId xmlns:r="http://schemas.openxmlformats.org/officeDocument/2006/relationships" id="257" r:id="Rd1039c39d75842fc"/>
    <p:sldId xmlns:r="http://schemas.openxmlformats.org/officeDocument/2006/relationships" id="258" r:id="Rf64dbb6b7b1949de"/>
    <p:sldId xmlns:r="http://schemas.openxmlformats.org/officeDocument/2006/relationships" id="259" r:id="Rca24592dc24544d7"/>
    <p:sldId xmlns:r="http://schemas.openxmlformats.org/officeDocument/2006/relationships" id="260" r:id="R4ef194e878da42aa"/>
    <p:sldId xmlns:r="http://schemas.openxmlformats.org/officeDocument/2006/relationships" id="261" r:id="Rddb2989df37040b7"/>
    <p:sldId xmlns:r="http://schemas.openxmlformats.org/officeDocument/2006/relationships" id="262" r:id="R20fe1daed6a04214"/>
    <p:sldId xmlns:r="http://schemas.openxmlformats.org/officeDocument/2006/relationships" id="263" r:id="R4da6aeed602b4ab8"/>
    <p:sldId xmlns:r="http://schemas.openxmlformats.org/officeDocument/2006/relationships" id="264" r:id="Rcbe51622c1504c1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a0148401774637" /><Relationship Type="http://schemas.openxmlformats.org/officeDocument/2006/relationships/theme" Target="/ppt/theme/theme1.xml" Id="R7d6e7f4feb914607" /><Relationship Type="http://schemas.openxmlformats.org/officeDocument/2006/relationships/notesMaster" Target="/ppt/notesMasters/notesMaster1.xml" Id="R8b96a8435c814b35" /><Relationship Type="http://schemas.openxmlformats.org/officeDocument/2006/relationships/presProps" Target="/ppt/presProps.xml" Id="Ra19676e32df1495a" /><Relationship Type="http://schemas.openxmlformats.org/officeDocument/2006/relationships/viewProps" Target="/ppt/viewProps.xml" Id="Ra76b3768befc4393" /><Relationship Type="http://schemas.openxmlformats.org/officeDocument/2006/relationships/tableStyles" Target="/ppt/tableStyles.xml" Id="Rdb383e3807bc480b" /><Relationship Type="http://schemas.openxmlformats.org/officeDocument/2006/relationships/slide" Target="/ppt/slides/slide1.xml" Id="Rad24fc1ee3b54ec7" /><Relationship Type="http://schemas.openxmlformats.org/officeDocument/2006/relationships/slide" Target="/ppt/slides/slide2.xml" Id="Rd1039c39d75842fc" /><Relationship Type="http://schemas.openxmlformats.org/officeDocument/2006/relationships/slide" Target="/ppt/slides/slide3.xml" Id="Rf64dbb6b7b1949de" /><Relationship Type="http://schemas.openxmlformats.org/officeDocument/2006/relationships/slide" Target="/ppt/slides/slide4.xml" Id="Rca24592dc24544d7" /><Relationship Type="http://schemas.openxmlformats.org/officeDocument/2006/relationships/slide" Target="/ppt/slides/slide5.xml" Id="R4ef194e878da42aa" /><Relationship Type="http://schemas.openxmlformats.org/officeDocument/2006/relationships/slide" Target="/ppt/slides/slide6.xml" Id="Rddb2989df37040b7" /><Relationship Type="http://schemas.openxmlformats.org/officeDocument/2006/relationships/slide" Target="/ppt/slides/slide7.xml" Id="R20fe1daed6a04214" /><Relationship Type="http://schemas.openxmlformats.org/officeDocument/2006/relationships/slide" Target="/ppt/slides/slide8.xml" Id="R4da6aeed602b4ab8" /><Relationship Type="http://schemas.openxmlformats.org/officeDocument/2006/relationships/slide" Target="/ppt/slides/slide9.xml" Id="Rcbe51622c1504c1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b83b349a22d4c2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1b9c1048df44747" /><Relationship Type="http://schemas.openxmlformats.org/officeDocument/2006/relationships/notesMaster" Target="/ppt/notesMasters/notesMaster1.xml" Id="R30eb26265de744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7d9832efad416d" /><Relationship Type="http://schemas.openxmlformats.org/officeDocument/2006/relationships/notesMaster" Target="/ppt/notesMasters/notesMaster1.xml" Id="R41ca2d568cc44bf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481b80853f54b59" /><Relationship Type="http://schemas.openxmlformats.org/officeDocument/2006/relationships/notesMaster" Target="/ppt/notesMasters/notesMaster1.xml" Id="R5b2abeb0bb9b40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fe20667e96e4ddf" /><Relationship Type="http://schemas.openxmlformats.org/officeDocument/2006/relationships/notesMaster" Target="/ppt/notesMasters/notesMaster1.xml" Id="R1a7370fec0d543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ac07c18d014c07" /><Relationship Type="http://schemas.openxmlformats.org/officeDocument/2006/relationships/notesMaster" Target="/ppt/notesMasters/notesMaster1.xml" Id="R50339ab5703c46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b18543862fd42aa" /><Relationship Type="http://schemas.openxmlformats.org/officeDocument/2006/relationships/notesMaster" Target="/ppt/notesMasters/notesMaster1.xml" Id="R577fa0dfb26b4d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f60df9f4a3f462e" /><Relationship Type="http://schemas.openxmlformats.org/officeDocument/2006/relationships/notesMaster" Target="/ppt/notesMasters/notesMaster1.xml" Id="Rf2d317e1091945c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4ab05c59544d80" /><Relationship Type="http://schemas.openxmlformats.org/officeDocument/2006/relationships/notesMaster" Target="/ppt/notesMasters/notesMaster1.xml" Id="R6b013766ebda4fc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851ebe6f7564671" /><Relationship Type="http://schemas.openxmlformats.org/officeDocument/2006/relationships/notesMaster" Target="/ppt/notesMasters/notesMaster1.xml" Id="R257542c1d2b3436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开场先给结论：DeepAudit 已经从单点功能变成完整平台。本次汇报按价值、架构、实现、演示四个层次展开。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这一页先让领导理解：DeepAudit 解决的不是单次扫描，而是审计闭环。强调价值点：解释、验证、交付。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这一页强调功能全景，不展开代码细节。重点收束到四段链路：接入、分析、治理、交付。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这一页把系统拆成一条清晰链路：前端、API、worker、实时回传，再加上运行支撑层。强调它不是普通 CRUD。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这一页讲实现方法：先工具，再编排，再实时回传。强调 Orchestrator、三阶段 Agent、事件流与恢复。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现场演示先 Dashboard，再项目管理，再 Agent 审计，最后回到报告页。若实时流不稳定，就直接使用报告页截图兜底。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这一页先说结论：闭环已跑通。再说下一步：知识库、规则覆盖、监控和真实指标。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这页放技术备份：页面入口、API 分域、实时链路。领导若追问，直接切到这页。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这页是现场保护网。它告诉大家：真正要保的是闭环主线，实时链路和截图是兜底。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1d4ae62bfa4e2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126b5975b364e10" /><Relationship Type="http://schemas.openxmlformats.org/officeDocument/2006/relationships/slideLayout" Target="/ppt/slideLayouts/slideLayout2.xml" Id="R8b296ca443d740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296ca443d740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1704865373740f3" /><Relationship Type="http://schemas.openxmlformats.org/officeDocument/2006/relationships/image" Target="/ppt/media/image.png" Id="R9b09024533bc44f4" /><Relationship Type="http://schemas.openxmlformats.org/officeDocument/2006/relationships/notesSlide" Target="/ppt/notesSlides/notesSlide1.xml" Id="R5f3655f40c1a48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eadb8704e64535" /><Relationship Type="http://schemas.openxmlformats.org/officeDocument/2006/relationships/notesSlide" Target="/ppt/notesSlides/notesSlide2.xml" Id="R6a3f552f81804b9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257d18cca5428d" /><Relationship Type="http://schemas.openxmlformats.org/officeDocument/2006/relationships/notesSlide" Target="/ppt/notesSlides/notesSlide3.xml" Id="Rc74fd3b724de41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7ad78f65f446ed" /><Relationship Type="http://schemas.openxmlformats.org/officeDocument/2006/relationships/notesSlide" Target="/ppt/notesSlides/notesSlide4.xml" Id="R24024866dc26484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3985344ce54069" /><Relationship Type="http://schemas.openxmlformats.org/officeDocument/2006/relationships/notesSlide" Target="/ppt/notesSlides/notesSlide5.xml" Id="Rc4003e94814246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19ba84906244e3" /><Relationship Type="http://schemas.openxmlformats.org/officeDocument/2006/relationships/image" Target="/ppt/media/image2.png" Id="R511d961e87914643" /><Relationship Type="http://schemas.openxmlformats.org/officeDocument/2006/relationships/notesSlide" Target="/ppt/notesSlides/notesSlide6.xml" Id="R55adf23b6d894e4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3051a242ca44c1" /><Relationship Type="http://schemas.openxmlformats.org/officeDocument/2006/relationships/notesSlide" Target="/ppt/notesSlides/notesSlide7.xml" Id="R0ac45ad7225843f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f3692a31404dca" /><Relationship Type="http://schemas.openxmlformats.org/officeDocument/2006/relationships/notesSlide" Target="/ppt/notesSlides/notesSlide8.xml" Id="R09c59b200912402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0a33c0a6e54f86" /><Relationship Type="http://schemas.openxmlformats.org/officeDocument/2006/relationships/notesSlide" Target="/ppt/notesSlides/notesSlide9.xml" Id="Re99e7ccf7898457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09024533bc44f4"/>
          <a:srcRect xmlns:a="http://schemas.openxmlformats.org/drawingml/2006/main" l="1914" t="0" r="191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scrim">
            <a:extLst xmlns:a="http://schemas.openxmlformats.org/drawingml/2006/main">
              <a:ext uri="{FF2B5EF4-FFF2-40B4-BE49-F238E27FC236}">
                <a16:creationId xmlns:a16="http://schemas.microsoft.com/office/drawing/2014/main" id="{5AA8A053-3A8D-434C-958E-DD7140021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90E">
              <a:alpha val="80000"/>
            </a:srgbClr>
          </a:solidFill>
          <a:ln xmlns:a="http://schemas.openxmlformats.org/drawingml/2006/main">
            <a:noFill/>
            <a:prstDash val="solid"/>
          </a:ln>
        </p:spPr>
      </p:sp>
      <p:sp>
        <p:nvSpPr>
          <p:cNvPr id="3" name="cover-glow">
            <a:extLst xmlns:a="http://schemas.openxmlformats.org/drawingml/2006/main">
              <a:ext uri="{FF2B5EF4-FFF2-40B4-BE49-F238E27FC236}">
                <a16:creationId xmlns:a16="http://schemas.microsoft.com/office/drawing/2014/main" id="{309D4696-76EB-4D21-B9E5-F78C8AE41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0" cy="3238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>
              <a:alpha val="18000"/>
            </a:srgbClr>
          </a:solidFill>
          <a:ln xmlns:a="http://schemas.openxmlformats.org/drawingml/2006/main">
            <a:noFill/>
            <a:prstDash val="solid"/>
          </a:ln>
        </p:spPr>
      </p:sp>
      <p:sp>
        <p:nvSpPr>
          <p:cNvPr id="4" name="cover-lead">
            <a:extLst xmlns:a="http://schemas.openxmlformats.org/drawingml/2006/main">
              <a:ext uri="{FF2B5EF4-FFF2-40B4-BE49-F238E27FC236}">
                <a16:creationId xmlns:a16="http://schemas.microsoft.com/office/drawing/2014/main" id="{1D7485E0-0410-418D-9B7B-63FCEC8A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4839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20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部门汇报 · 15 分钟</a:t>
            </a:r>
          </a:p>
        </p:txBody>
      </p:sp>
      <p:sp>
        <p:nvSpPr>
          <p:cNvPr id="5" name="cover-title-a">
            <a:extLst xmlns:a="http://schemas.openxmlformats.org/drawingml/2006/main">
              <a:ext uri="{FF2B5EF4-FFF2-40B4-BE49-F238E27FC236}">
                <a16:creationId xmlns:a16="http://schemas.microsoft.com/office/drawing/2014/main" id="{34306401-F126-4D0B-A4F5-EDE0576F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3405949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49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DeepAudit</a:t>
            </a:r>
          </a:p>
        </p:txBody>
      </p:sp>
      <p:sp>
        <p:nvSpPr>
          <p:cNvPr id="6" name="cover-title-b">
            <a:extLst xmlns:a="http://schemas.openxmlformats.org/drawingml/2006/main">
              <a:ext uri="{FF2B5EF4-FFF2-40B4-BE49-F238E27FC236}">
                <a16:creationId xmlns:a16="http://schemas.microsoft.com/office/drawing/2014/main" id="{4A5C488F-DE5F-4BBF-A1D8-6AD8BFFF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23950"/>
            <a:ext cx="3150679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40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智能审计平台</a:t>
            </a:r>
          </a:p>
        </p:txBody>
      </p:sp>
      <p:sp>
        <p:nvSpPr>
          <p:cNvPr id="7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EFC6990-8C06-4938-8585-9AC43D3D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09750"/>
            <a:ext cx="4000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LLM + RAG + 多智能体，把“项目接入 → 分析 → 验证 → 报告”做成闭环</a:t>
            </a:r>
          </a:p>
        </p:txBody>
      </p:sp>
      <p:sp>
        <p:nvSpPr>
          <p:cNvPr id="8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2A41B212-B397-4392-82E6-C73C5F343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00300"/>
            <a:ext cx="171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9" name="chip-项目演示">
            <a:extLst xmlns:a="http://schemas.openxmlformats.org/drawingml/2006/main">
              <a:ext uri="{FF2B5EF4-FFF2-40B4-BE49-F238E27FC236}">
                <a16:creationId xmlns:a16="http://schemas.microsoft.com/office/drawing/2014/main" id="{1B3C717D-A14C-4DAA-8C80-DD39E47F8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90800"/>
            <a:ext cx="1397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A2A">
              <a:alpha val="14000"/>
            </a:srgbClr>
          </a:solidFill>
          <a:ln xmlns:a="http://schemas.openxmlformats.org/drawingml/2006/main" w="9525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10" name="chip-text-项目演示">
            <a:extLst xmlns:a="http://schemas.openxmlformats.org/drawingml/2006/main">
              <a:ext uri="{FF2B5EF4-FFF2-40B4-BE49-F238E27FC236}">
                <a16:creationId xmlns:a16="http://schemas.microsoft.com/office/drawing/2014/main" id="{F65A3E66-5410-433D-A501-2CA6FF27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133" y="2590800"/>
            <a:ext cx="544735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项目演示</a:t>
            </a:r>
          </a:p>
        </p:txBody>
      </p:sp>
      <p:sp>
        <p:nvSpPr>
          <p:cNvPr id="11" name="chip-架构设计">
            <a:extLst xmlns:a="http://schemas.openxmlformats.org/drawingml/2006/main">
              <a:ext uri="{FF2B5EF4-FFF2-40B4-BE49-F238E27FC236}">
                <a16:creationId xmlns:a16="http://schemas.microsoft.com/office/drawing/2014/main" id="{DCE2C92E-08B3-4629-9F6F-9D33573F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2250" y="2590800"/>
            <a:ext cx="1397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2" name="chip-text-架构设计">
            <a:extLst xmlns:a="http://schemas.openxmlformats.org/drawingml/2006/main">
              <a:ext uri="{FF2B5EF4-FFF2-40B4-BE49-F238E27FC236}">
                <a16:creationId xmlns:a16="http://schemas.microsoft.com/office/drawing/2014/main" id="{14E8F350-CB0F-45DF-9C33-07E560A9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8383" y="2590800"/>
            <a:ext cx="544735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架构设计</a:t>
            </a:r>
          </a:p>
        </p:txBody>
      </p:sp>
      <p:sp>
        <p:nvSpPr>
          <p:cNvPr id="13" name="chip-实现方法">
            <a:extLst xmlns:a="http://schemas.openxmlformats.org/drawingml/2006/main">
              <a:ext uri="{FF2B5EF4-FFF2-40B4-BE49-F238E27FC236}">
                <a16:creationId xmlns:a16="http://schemas.microsoft.com/office/drawing/2014/main" id="{0415042A-7DBA-4987-8945-904D1E08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4500" y="2590800"/>
            <a:ext cx="13970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4" name="chip-text-实现方法">
            <a:extLst xmlns:a="http://schemas.openxmlformats.org/drawingml/2006/main">
              <a:ext uri="{FF2B5EF4-FFF2-40B4-BE49-F238E27FC236}">
                <a16:creationId xmlns:a16="http://schemas.microsoft.com/office/drawing/2014/main" id="{9F588C95-22BF-4B6E-A827-D3B4D790F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0633" y="2590800"/>
            <a:ext cx="544735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实现方法</a:t>
            </a:r>
          </a:p>
        </p:txBody>
      </p:sp>
      <p:sp>
        <p:nvSpPr>
          <p:cNvPr id="15" name="cover-meta">
            <a:extLst xmlns:a="http://schemas.openxmlformats.org/drawingml/2006/main">
              <a:ext uri="{FF2B5EF4-FFF2-40B4-BE49-F238E27FC236}">
                <a16:creationId xmlns:a16="http://schemas.microsoft.com/office/drawing/2014/main" id="{151B40E7-6392-42A7-BB6A-B414F323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241192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A0A9BA"/>
                </a:solidFill>
                <a:latin typeface="Menlo"/>
                <a:ea typeface="Menlo"/>
                <a:cs typeface="Menlo"/>
              </a:rPr>
              <a:t>Focus 平台内的独立智能审计子系统</a:t>
            </a:r>
          </a:p>
        </p:txBody>
      </p:sp>
    </p:spTree>
    <p:extLst>
      <p:ext uri="{BB962C8B-B14F-4D97-AF65-F5344CB8AC3E}">
        <p14:creationId xmlns:p14="http://schemas.microsoft.com/office/powerpoint/2010/main" val="7908722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为什么要做-deepaudit">
            <a:extLst xmlns:a="http://schemas.openxmlformats.org/drawingml/2006/main">
              <a:ext uri="{FF2B5EF4-FFF2-40B4-BE49-F238E27FC236}">
                <a16:creationId xmlns:a16="http://schemas.microsoft.com/office/drawing/2014/main" id="{EFE9B8B5-F7F8-43A3-909B-3796442C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1814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WHY DEEPAUDIT</a:t>
            </a:r>
          </a:p>
        </p:txBody>
      </p:sp>
      <p:sp>
        <p:nvSpPr>
          <p:cNvPr id="2" name="header-title-为什么要做-deepaudit">
            <a:extLst xmlns:a="http://schemas.openxmlformats.org/drawingml/2006/main">
              <a:ext uri="{FF2B5EF4-FFF2-40B4-BE49-F238E27FC236}">
                <a16:creationId xmlns:a16="http://schemas.microsoft.com/office/drawing/2014/main" id="{18397FB6-6E20-46E3-8D94-8D5322D39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8125"/>
            <a:ext cx="12192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为什么要做 DeepAudit</a:t>
            </a:r>
          </a:p>
        </p:txBody>
      </p:sp>
      <p:sp>
        <p:nvSpPr>
          <p:cNvPr id="3" name="header-subtitle-为什么要做-deepaudit">
            <a:extLst xmlns:a="http://schemas.openxmlformats.org/drawingml/2006/main">
              <a:ext uri="{FF2B5EF4-FFF2-40B4-BE49-F238E27FC236}">
                <a16:creationId xmlns:a16="http://schemas.microsoft.com/office/drawing/2014/main" id="{628AA878-713B-4C4B-93BE-728CEF1A7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传统扫描能找问题，但很难解释、很难验证、也很难形成可复用的交付。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7EBDB023-4332-42E2-9FB1-59EB1972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5" name="why-statement">
            <a:extLst xmlns:a="http://schemas.openxmlformats.org/drawingml/2006/main">
              <a:ext uri="{FF2B5EF4-FFF2-40B4-BE49-F238E27FC236}">
                <a16:creationId xmlns:a16="http://schemas.microsoft.com/office/drawing/2014/main" id="{CD9325EE-55BC-40DA-B304-E6F69BA8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52550"/>
            <a:ext cx="3429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定位不是“再做一个扫描器”，而是把审计变成一套可运行的工作台。</a:t>
            </a:r>
          </a:p>
        </p:txBody>
      </p:sp>
      <p:sp>
        <p:nvSpPr>
          <p:cNvPr id="6" name="why-rule">
            <a:extLst xmlns:a="http://schemas.openxmlformats.org/drawingml/2006/main">
              <a:ext uri="{FF2B5EF4-FFF2-40B4-BE49-F238E27FC236}">
                <a16:creationId xmlns:a16="http://schemas.microsoft.com/office/drawing/2014/main" id="{E0D799E8-F014-4D89-8BB2-34DB9813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4785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7" name="bullet-dot-规则固定">
            <a:extLst xmlns:a="http://schemas.openxmlformats.org/drawingml/2006/main">
              <a:ext uri="{FF2B5EF4-FFF2-40B4-BE49-F238E27FC236}">
                <a16:creationId xmlns:a16="http://schemas.microsoft.com/office/drawing/2014/main" id="{1E779036-2B1E-4326-BE3F-A3478C11E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38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8" name="bullet-title-规则固定">
            <a:extLst xmlns:a="http://schemas.openxmlformats.org/drawingml/2006/main">
              <a:ext uri="{FF2B5EF4-FFF2-40B4-BE49-F238E27FC236}">
                <a16:creationId xmlns:a16="http://schemas.microsoft.com/office/drawing/2014/main" id="{40755018-B91C-4CD5-8FBB-1E324A3E3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038350"/>
            <a:ext cx="34290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规则固定</a:t>
            </a:r>
          </a:p>
        </p:txBody>
      </p:sp>
      <p:sp>
        <p:nvSpPr>
          <p:cNvPr id="9" name="bullet-detail-规则固定">
            <a:extLst xmlns:a="http://schemas.openxmlformats.org/drawingml/2006/main">
              <a:ext uri="{FF2B5EF4-FFF2-40B4-BE49-F238E27FC236}">
                <a16:creationId xmlns:a16="http://schemas.microsoft.com/office/drawing/2014/main" id="{E349F3DE-63C4-4DB0-9BCF-DD206A96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238375"/>
            <a:ext cx="3429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只能覆盖已知模式，面对复杂业务和组合风险时容易失焦。</a:t>
            </a:r>
          </a:p>
        </p:txBody>
      </p:sp>
      <p:sp>
        <p:nvSpPr>
          <p:cNvPr id="10" name="bullet-dot-解释弱">
            <a:extLst xmlns:a="http://schemas.openxmlformats.org/drawingml/2006/main">
              <a:ext uri="{FF2B5EF4-FFF2-40B4-BE49-F238E27FC236}">
                <a16:creationId xmlns:a16="http://schemas.microsoft.com/office/drawing/2014/main" id="{BB02C754-F9CA-4595-B898-FEE54181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95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bullet-title-解释弱">
            <a:extLst xmlns:a="http://schemas.openxmlformats.org/drawingml/2006/main">
              <a:ext uri="{FF2B5EF4-FFF2-40B4-BE49-F238E27FC236}">
                <a16:creationId xmlns:a16="http://schemas.microsoft.com/office/drawing/2014/main" id="{05CE3CA5-61AE-49AB-9ACF-EEC5B4AF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695575"/>
            <a:ext cx="34290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解释弱</a:t>
            </a:r>
          </a:p>
        </p:txBody>
      </p:sp>
      <p:sp>
        <p:nvSpPr>
          <p:cNvPr id="12" name="bullet-detail-解释弱">
            <a:extLst xmlns:a="http://schemas.openxmlformats.org/drawingml/2006/main">
              <a:ext uri="{FF2B5EF4-FFF2-40B4-BE49-F238E27FC236}">
                <a16:creationId xmlns:a16="http://schemas.microsoft.com/office/drawing/2014/main" id="{6108CB0F-2787-41AA-B86C-8CA7B3894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895600"/>
            <a:ext cx="3429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发现结果碎片化，难以让领导和研发快速判断优先级。</a:t>
            </a:r>
          </a:p>
        </p:txBody>
      </p:sp>
      <p:sp>
        <p:nvSpPr>
          <p:cNvPr id="13" name="bullet-dot-验证弱">
            <a:extLst xmlns:a="http://schemas.openxmlformats.org/drawingml/2006/main">
              <a:ext uri="{FF2B5EF4-FFF2-40B4-BE49-F238E27FC236}">
                <a16:creationId xmlns:a16="http://schemas.microsoft.com/office/drawing/2014/main" id="{0004AD83-D2D7-4C40-8F28-163862B5C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352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14" name="bullet-title-验证弱">
            <a:extLst xmlns:a="http://schemas.openxmlformats.org/drawingml/2006/main">
              <a:ext uri="{FF2B5EF4-FFF2-40B4-BE49-F238E27FC236}">
                <a16:creationId xmlns:a16="http://schemas.microsoft.com/office/drawing/2014/main" id="{4EFB03F7-2020-4544-9134-E24F3F0F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352800"/>
            <a:ext cx="34290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验证弱</a:t>
            </a:r>
          </a:p>
        </p:txBody>
      </p:sp>
      <p:sp>
        <p:nvSpPr>
          <p:cNvPr id="15" name="bullet-detail-验证弱">
            <a:extLst xmlns:a="http://schemas.openxmlformats.org/drawingml/2006/main">
              <a:ext uri="{FF2B5EF4-FFF2-40B4-BE49-F238E27FC236}">
                <a16:creationId xmlns:a16="http://schemas.microsoft.com/office/drawing/2014/main" id="{9547F23B-BD11-4517-BB7F-B5975F7EE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552825"/>
            <a:ext cx="3429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缺少动态验证、PoC 和回放，结论往往停留在“发现”而不是“落地”。</a:t>
            </a:r>
          </a:p>
        </p:txBody>
      </p:sp>
      <p:sp>
        <p:nvSpPr>
          <p:cNvPr id="16" name="why-target-kicker">
            <a:extLst xmlns:a="http://schemas.openxmlformats.org/drawingml/2006/main">
              <a:ext uri="{FF2B5EF4-FFF2-40B4-BE49-F238E27FC236}">
                <a16:creationId xmlns:a16="http://schemas.microsoft.com/office/drawing/2014/main" id="{45F939B4-F68D-49EF-A7B1-22A632DC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52550"/>
            <a:ext cx="1211485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DeepAudit 的目标</a:t>
            </a:r>
          </a:p>
        </p:txBody>
      </p:sp>
      <p:sp>
        <p:nvSpPr>
          <p:cNvPr id="17" name="why-target-title">
            <a:extLst xmlns:a="http://schemas.openxmlformats.org/drawingml/2006/main">
              <a:ext uri="{FF2B5EF4-FFF2-40B4-BE49-F238E27FC236}">
                <a16:creationId xmlns:a16="http://schemas.microsoft.com/office/drawing/2014/main" id="{5EC8CDED-4275-4C50-9390-307BFA239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657350"/>
            <a:ext cx="6096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把“项目接入 → 分析 → 验证 → 报告”串成闭环。</a:t>
            </a:r>
          </a:p>
        </p:txBody>
      </p:sp>
      <p:sp>
        <p:nvSpPr>
          <p:cNvPr id="18" name="why-target-subtitle">
            <a:extLst xmlns:a="http://schemas.openxmlformats.org/drawingml/2006/main">
              <a:ext uri="{FF2B5EF4-FFF2-40B4-BE49-F238E27FC236}">
                <a16:creationId xmlns:a16="http://schemas.microsoft.com/office/drawing/2014/main" id="{9293266C-8847-453E-BF0E-3E8674B0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552700"/>
            <a:ext cx="609600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它不是单点工具，而是面向部门内部审计流程的智能审计工作台。</a:t>
            </a:r>
          </a:p>
        </p:txBody>
      </p:sp>
      <p:sp>
        <p:nvSpPr>
          <p:cNvPr id="19" name="why-trad">
            <a:extLst xmlns:a="http://schemas.openxmlformats.org/drawingml/2006/main">
              <a:ext uri="{FF2B5EF4-FFF2-40B4-BE49-F238E27FC236}">
                <a16:creationId xmlns:a16="http://schemas.microsoft.com/office/drawing/2014/main" id="{F07B3640-E53E-4361-B1E0-FFBF4B663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905125"/>
            <a:ext cx="583406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A0A9BA"/>
                </a:solidFill>
                <a:latin typeface="Menlo"/>
                <a:ea typeface="Menlo"/>
                <a:cs typeface="Menlo"/>
              </a:rPr>
              <a:t>传统方式</a:t>
            </a:r>
          </a:p>
        </p:txBody>
      </p:sp>
      <p:sp>
        <p:nvSpPr>
          <p:cNvPr id="20" name="bullet-dot-扫描结果多">
            <a:extLst xmlns:a="http://schemas.openxmlformats.org/drawingml/2006/main">
              <a:ext uri="{FF2B5EF4-FFF2-40B4-BE49-F238E27FC236}">
                <a16:creationId xmlns:a16="http://schemas.microsoft.com/office/drawing/2014/main" id="{F2EF2B74-BBA0-4C58-A956-C79FD63B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143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21" name="bullet-title-扫描结果多">
            <a:extLst xmlns:a="http://schemas.openxmlformats.org/drawingml/2006/main">
              <a:ext uri="{FF2B5EF4-FFF2-40B4-BE49-F238E27FC236}">
                <a16:creationId xmlns:a16="http://schemas.microsoft.com/office/drawing/2014/main" id="{2FDBADB2-DCFE-4623-B5B6-D790B019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143250"/>
            <a:ext cx="24955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扫描结果多</a:t>
            </a:r>
          </a:p>
        </p:txBody>
      </p:sp>
      <p:sp>
        <p:nvSpPr>
          <p:cNvPr id="22" name="bullet-detail-扫描结果多">
            <a:extLst xmlns:a="http://schemas.openxmlformats.org/drawingml/2006/main">
              <a:ext uri="{FF2B5EF4-FFF2-40B4-BE49-F238E27FC236}">
                <a16:creationId xmlns:a16="http://schemas.microsoft.com/office/drawing/2014/main" id="{259EDA2C-723A-4B4B-98E9-78FE2DE2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343275"/>
            <a:ext cx="249555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但上下文弱。</a:t>
            </a:r>
          </a:p>
        </p:txBody>
      </p:sp>
      <p:sp>
        <p:nvSpPr>
          <p:cNvPr id="23" name="bullet-dot-问题能发现">
            <a:extLst xmlns:a="http://schemas.openxmlformats.org/drawingml/2006/main">
              <a:ext uri="{FF2B5EF4-FFF2-40B4-BE49-F238E27FC236}">
                <a16:creationId xmlns:a16="http://schemas.microsoft.com/office/drawing/2014/main" id="{FE841A00-9203-476C-B484-1B02E183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5814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24" name="bullet-title-问题能发现">
            <a:extLst xmlns:a="http://schemas.openxmlformats.org/drawingml/2006/main">
              <a:ext uri="{FF2B5EF4-FFF2-40B4-BE49-F238E27FC236}">
                <a16:creationId xmlns:a16="http://schemas.microsoft.com/office/drawing/2014/main" id="{CF7A1463-EC16-4659-91F6-A3974DB50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81400"/>
            <a:ext cx="24955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问题能发现</a:t>
            </a:r>
          </a:p>
        </p:txBody>
      </p:sp>
      <p:sp>
        <p:nvSpPr>
          <p:cNvPr id="25" name="bullet-detail-问题能发现">
            <a:extLst xmlns:a="http://schemas.openxmlformats.org/drawingml/2006/main">
              <a:ext uri="{FF2B5EF4-FFF2-40B4-BE49-F238E27FC236}">
                <a16:creationId xmlns:a16="http://schemas.microsoft.com/office/drawing/2014/main" id="{EF0A9B81-409E-4631-90A8-5DE85568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781425"/>
            <a:ext cx="249555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但无法统一解释。</a:t>
            </a:r>
          </a:p>
        </p:txBody>
      </p:sp>
      <p:sp>
        <p:nvSpPr>
          <p:cNvPr id="26" name="bullet-dot-报告能导出">
            <a:extLst xmlns:a="http://schemas.openxmlformats.org/drawingml/2006/main">
              <a:ext uri="{FF2B5EF4-FFF2-40B4-BE49-F238E27FC236}">
                <a16:creationId xmlns:a16="http://schemas.microsoft.com/office/drawing/2014/main" id="{927E0A74-8115-4480-BACE-B3705A84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019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27" name="bullet-title-报告能导出">
            <a:extLst xmlns:a="http://schemas.openxmlformats.org/drawingml/2006/main">
              <a:ext uri="{FF2B5EF4-FFF2-40B4-BE49-F238E27FC236}">
                <a16:creationId xmlns:a16="http://schemas.microsoft.com/office/drawing/2014/main" id="{E47213EB-CA3E-40B9-8DA6-5680D666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019550"/>
            <a:ext cx="24955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报告能导出</a:t>
            </a:r>
          </a:p>
        </p:txBody>
      </p:sp>
      <p:sp>
        <p:nvSpPr>
          <p:cNvPr id="28" name="bullet-detail-报告能导出">
            <a:extLst xmlns:a="http://schemas.openxmlformats.org/drawingml/2006/main">
              <a:ext uri="{FF2B5EF4-FFF2-40B4-BE49-F238E27FC236}">
                <a16:creationId xmlns:a16="http://schemas.microsoft.com/office/drawing/2014/main" id="{8FE5B5CF-6CC0-4970-A2FB-B6509804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219575"/>
            <a:ext cx="249555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但不能形成审计闭环。</a:t>
            </a:r>
          </a:p>
        </p:txBody>
      </p:sp>
      <p:sp>
        <p:nvSpPr>
          <p:cNvPr id="29" name="why-deepaudit">
            <a:extLst xmlns:a="http://schemas.openxmlformats.org/drawingml/2006/main">
              <a:ext uri="{FF2B5EF4-FFF2-40B4-BE49-F238E27FC236}">
                <a16:creationId xmlns:a16="http://schemas.microsoft.com/office/drawing/2014/main" id="{89C32C05-4769-4669-8951-22EC1727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905125"/>
            <a:ext cx="774097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A0A9BA"/>
                </a:solidFill>
                <a:latin typeface="Menlo"/>
                <a:ea typeface="Menlo"/>
                <a:cs typeface="Menlo"/>
              </a:rPr>
              <a:t>DeepAudit</a:t>
            </a:r>
          </a:p>
        </p:txBody>
      </p:sp>
      <p:sp>
        <p:nvSpPr>
          <p:cNvPr id="30" name="bullet-dot-接入与权限统一">
            <a:extLst xmlns:a="http://schemas.openxmlformats.org/drawingml/2006/main">
              <a:ext uri="{FF2B5EF4-FFF2-40B4-BE49-F238E27FC236}">
                <a16:creationId xmlns:a16="http://schemas.microsoft.com/office/drawing/2014/main" id="{2D745079-228D-459C-8062-CDC21306C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43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1" name="bullet-title-接入与权限统一">
            <a:extLst xmlns:a="http://schemas.openxmlformats.org/drawingml/2006/main">
              <a:ext uri="{FF2B5EF4-FFF2-40B4-BE49-F238E27FC236}">
                <a16:creationId xmlns:a16="http://schemas.microsoft.com/office/drawing/2014/main" id="{A571EC82-E868-4879-9C46-2D9589DD2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43250"/>
            <a:ext cx="24955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接入与权限统一</a:t>
            </a:r>
          </a:p>
        </p:txBody>
      </p:sp>
      <p:sp>
        <p:nvSpPr>
          <p:cNvPr id="32" name="bullet-detail-接入与权限统一">
            <a:extLst xmlns:a="http://schemas.openxmlformats.org/drawingml/2006/main">
              <a:ext uri="{FF2B5EF4-FFF2-40B4-BE49-F238E27FC236}">
                <a16:creationId xmlns:a16="http://schemas.microsoft.com/office/drawing/2014/main" id="{65D981A2-7E7B-47C2-813A-252A2E8D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343275"/>
            <a:ext cx="24955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仓库 / ZIP / 成员 / 回收站 / 角色一体化。</a:t>
            </a:r>
          </a:p>
        </p:txBody>
      </p:sp>
      <p:sp>
        <p:nvSpPr>
          <p:cNvPr id="33" name="bullet-dot-分析过程可观测">
            <a:extLst xmlns:a="http://schemas.openxmlformats.org/drawingml/2006/main">
              <a:ext uri="{FF2B5EF4-FFF2-40B4-BE49-F238E27FC236}">
                <a16:creationId xmlns:a16="http://schemas.microsoft.com/office/drawing/2014/main" id="{E1DD5849-C81A-4F97-BA09-47BD8AF6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24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34" name="bullet-title-分析过程可观测">
            <a:extLst xmlns:a="http://schemas.openxmlformats.org/drawingml/2006/main">
              <a:ext uri="{FF2B5EF4-FFF2-40B4-BE49-F238E27FC236}">
                <a16:creationId xmlns:a16="http://schemas.microsoft.com/office/drawing/2014/main" id="{E1724695-6D3B-44F7-82A7-B055FCD8C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724275"/>
            <a:ext cx="24955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分析过程可观测</a:t>
            </a:r>
          </a:p>
        </p:txBody>
      </p:sp>
      <p:sp>
        <p:nvSpPr>
          <p:cNvPr id="35" name="bullet-detail-分析过程可观测">
            <a:extLst xmlns:a="http://schemas.openxmlformats.org/drawingml/2006/main">
              <a:ext uri="{FF2B5EF4-FFF2-40B4-BE49-F238E27FC236}">
                <a16:creationId xmlns:a16="http://schemas.microsoft.com/office/drawing/2014/main" id="{650402E4-4E9D-4843-A34E-D683779D4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924300"/>
            <a:ext cx="24955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thinking、tool、finding、checkpoint 全程回传。</a:t>
            </a:r>
          </a:p>
        </p:txBody>
      </p:sp>
      <p:sp>
        <p:nvSpPr>
          <p:cNvPr id="36" name="bullet-dot-结果可交付">
            <a:extLst xmlns:a="http://schemas.openxmlformats.org/drawingml/2006/main">
              <a:ext uri="{FF2B5EF4-FFF2-40B4-BE49-F238E27FC236}">
                <a16:creationId xmlns:a16="http://schemas.microsoft.com/office/drawing/2014/main" id="{A662B710-DB2C-45D9-8F25-161AF57E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05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37" name="bullet-title-结果可交付">
            <a:extLst xmlns:a="http://schemas.openxmlformats.org/drawingml/2006/main">
              <a:ext uri="{FF2B5EF4-FFF2-40B4-BE49-F238E27FC236}">
                <a16:creationId xmlns:a16="http://schemas.microsoft.com/office/drawing/2014/main" id="{DE03AC01-9AD0-48C6-A418-FEF9F2F8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305300"/>
            <a:ext cx="24955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结果可交付</a:t>
            </a:r>
          </a:p>
        </p:txBody>
      </p:sp>
      <p:sp>
        <p:nvSpPr>
          <p:cNvPr id="38" name="bullet-detail-结果可交付">
            <a:extLst xmlns:a="http://schemas.openxmlformats.org/drawingml/2006/main">
              <a:ext uri="{FF2B5EF4-FFF2-40B4-BE49-F238E27FC236}">
                <a16:creationId xmlns:a16="http://schemas.microsoft.com/office/drawing/2014/main" id="{70AB3B6C-A534-4E5E-833E-2433B67CF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505325"/>
            <a:ext cx="24955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报告页、PDF / JSON 导出、Dashboard 可直接演示。</a:t>
            </a:r>
          </a:p>
        </p:txBody>
      </p:sp>
    </p:spTree>
    <p:extLst>
      <p:ext uri="{BB962C8B-B14F-4D97-AF65-F5344CB8AC3E}">
        <p14:creationId xmlns:p14="http://schemas.microsoft.com/office/powerpoint/2010/main" val="16848341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现有功能全景">
            <a:extLst xmlns:a="http://schemas.openxmlformats.org/drawingml/2006/main">
              <a:ext uri="{FF2B5EF4-FFF2-40B4-BE49-F238E27FC236}">
                <a16:creationId xmlns:a16="http://schemas.microsoft.com/office/drawing/2014/main" id="{70871696-C0F5-445E-83B9-94D982B8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76172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FEATURE PANORAMA</a:t>
            </a:r>
          </a:p>
        </p:txBody>
      </p:sp>
      <p:sp>
        <p:nvSpPr>
          <p:cNvPr id="2" name="header-title-现有功能全景">
            <a:extLst xmlns:a="http://schemas.openxmlformats.org/drawingml/2006/main">
              <a:ext uri="{FF2B5EF4-FFF2-40B4-BE49-F238E27FC236}">
                <a16:creationId xmlns:a16="http://schemas.microsoft.com/office/drawing/2014/main" id="{0565BC64-0ABE-420D-AEAE-72409FB6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8125"/>
            <a:ext cx="12192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现有功能全景</a:t>
            </a:r>
          </a:p>
        </p:txBody>
      </p:sp>
      <p:sp>
        <p:nvSpPr>
          <p:cNvPr id="3" name="header-subtitle-现有功能全景">
            <a:extLst xmlns:a="http://schemas.openxmlformats.org/drawingml/2006/main">
              <a:ext uri="{FF2B5EF4-FFF2-40B4-BE49-F238E27FC236}">
                <a16:creationId xmlns:a16="http://schemas.microsoft.com/office/drawing/2014/main" id="{65BD6063-0E1B-47AB-A484-621C0ADE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已经形成“接入—分析—治理—交付”的完整链路。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F0C64D1A-5DD8-43DE-8DA2-44A10315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23950"/>
            <a:ext cx="200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5" name="stage-num-01">
            <a:extLst xmlns:a="http://schemas.openxmlformats.org/drawingml/2006/main">
              <a:ext uri="{FF2B5EF4-FFF2-40B4-BE49-F238E27FC236}">
                <a16:creationId xmlns:a16="http://schemas.microsoft.com/office/drawing/2014/main" id="{0C2EC7D3-7F5C-415B-869F-0FBCC6FFD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14450"/>
            <a:ext cx="366998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6" name="stage-title-项目接入">
            <a:extLst xmlns:a="http://schemas.openxmlformats.org/drawingml/2006/main">
              <a:ext uri="{FF2B5EF4-FFF2-40B4-BE49-F238E27FC236}">
                <a16:creationId xmlns:a16="http://schemas.microsoft.com/office/drawing/2014/main" id="{C44213AD-9B93-4570-B31B-AAF6D9B0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01155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项目接入</a:t>
            </a:r>
          </a:p>
        </p:txBody>
      </p:sp>
      <p:sp>
        <p:nvSpPr>
          <p:cNvPr id="7" name="stage-rule-项目接入">
            <a:extLst xmlns:a="http://schemas.openxmlformats.org/drawingml/2006/main">
              <a:ext uri="{FF2B5EF4-FFF2-40B4-BE49-F238E27FC236}">
                <a16:creationId xmlns:a16="http://schemas.microsoft.com/office/drawing/2014/main" id="{7A6DAF45-66C1-408E-9519-F006C301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574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8" name="bullet-dot-仓库-zip">
            <a:extLst xmlns:a="http://schemas.openxmlformats.org/drawingml/2006/main">
              <a:ext uri="{FF2B5EF4-FFF2-40B4-BE49-F238E27FC236}">
                <a16:creationId xmlns:a16="http://schemas.microsoft.com/office/drawing/2014/main" id="{48DB2ADC-6D3E-454C-AF84-51205C386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71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9" name="bullet-title-仓库-zip">
            <a:extLst xmlns:a="http://schemas.openxmlformats.org/drawingml/2006/main">
              <a:ext uri="{FF2B5EF4-FFF2-40B4-BE49-F238E27FC236}">
                <a16:creationId xmlns:a16="http://schemas.microsoft.com/office/drawing/2014/main" id="{8A366D94-F11C-43AE-A823-262607E4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171700"/>
            <a:ext cx="23050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仓库 / ZIP</a:t>
            </a:r>
          </a:p>
        </p:txBody>
      </p:sp>
      <p:sp>
        <p:nvSpPr>
          <p:cNvPr id="10" name="bullet-detail-仓库-zip">
            <a:extLst xmlns:a="http://schemas.openxmlformats.org/drawingml/2006/main">
              <a:ext uri="{FF2B5EF4-FFF2-40B4-BE49-F238E27FC236}">
                <a16:creationId xmlns:a16="http://schemas.microsoft.com/office/drawing/2014/main" id="{2AC0F866-586C-4850-96DF-8A93A9CE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71725"/>
            <a:ext cx="2305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支持两种接入方式，兼容已有代码库和离线包。</a:t>
            </a:r>
          </a:p>
        </p:txBody>
      </p:sp>
      <p:sp>
        <p:nvSpPr>
          <p:cNvPr id="11" name="bullet-dot-分支-成员">
            <a:extLst xmlns:a="http://schemas.openxmlformats.org/drawingml/2006/main">
              <a:ext uri="{FF2B5EF4-FFF2-40B4-BE49-F238E27FC236}">
                <a16:creationId xmlns:a16="http://schemas.microsoft.com/office/drawing/2014/main" id="{D0DE596D-DBCB-405E-8B8C-DC0031A7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52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12" name="bullet-title-分支-成员">
            <a:extLst xmlns:a="http://schemas.openxmlformats.org/drawingml/2006/main">
              <a:ext uri="{FF2B5EF4-FFF2-40B4-BE49-F238E27FC236}">
                <a16:creationId xmlns:a16="http://schemas.microsoft.com/office/drawing/2014/main" id="{DAA80904-5456-421B-847F-E9DB9DED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752725"/>
            <a:ext cx="23050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分支 / 成员</a:t>
            </a:r>
          </a:p>
        </p:txBody>
      </p:sp>
      <p:sp>
        <p:nvSpPr>
          <p:cNvPr id="13" name="bullet-detail-分支-成员">
            <a:extLst xmlns:a="http://schemas.openxmlformats.org/drawingml/2006/main">
              <a:ext uri="{FF2B5EF4-FFF2-40B4-BE49-F238E27FC236}">
                <a16:creationId xmlns:a16="http://schemas.microsoft.com/office/drawing/2014/main" id="{7A9AB9D7-932A-44E3-8B9E-9BE33E22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952750"/>
            <a:ext cx="2305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项目上下文与成员角色绑定，便于协作审计。</a:t>
            </a:r>
          </a:p>
        </p:txBody>
      </p:sp>
      <p:sp>
        <p:nvSpPr>
          <p:cNvPr id="14" name="bullet-dot-回收站-权限">
            <a:extLst xmlns:a="http://schemas.openxmlformats.org/drawingml/2006/main">
              <a:ext uri="{FF2B5EF4-FFF2-40B4-BE49-F238E27FC236}">
                <a16:creationId xmlns:a16="http://schemas.microsoft.com/office/drawing/2014/main" id="{92199F13-1C90-4F90-AD2D-3D56E40AB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15" name="bullet-title-回收站-权限">
            <a:extLst xmlns:a="http://schemas.openxmlformats.org/drawingml/2006/main">
              <a:ext uri="{FF2B5EF4-FFF2-40B4-BE49-F238E27FC236}">
                <a16:creationId xmlns:a16="http://schemas.microsoft.com/office/drawing/2014/main" id="{6158EE14-A5AA-4091-9868-388E85E26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333750"/>
            <a:ext cx="23050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回收站 / 权限</a:t>
            </a:r>
          </a:p>
        </p:txBody>
      </p:sp>
      <p:sp>
        <p:nvSpPr>
          <p:cNvPr id="16" name="bullet-detail-回收站-权限">
            <a:extLst xmlns:a="http://schemas.openxmlformats.org/drawingml/2006/main">
              <a:ext uri="{FF2B5EF4-FFF2-40B4-BE49-F238E27FC236}">
                <a16:creationId xmlns:a16="http://schemas.microsoft.com/office/drawing/2014/main" id="{CAC55719-D059-407D-92EA-EFC63447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533775"/>
            <a:ext cx="2305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有恢复路径，也有页面级访问码控制。</a:t>
            </a:r>
          </a:p>
        </p:txBody>
      </p:sp>
      <p:sp>
        <p:nvSpPr>
          <p:cNvPr id="17" name="stage-num-02">
            <a:extLst xmlns:a="http://schemas.openxmlformats.org/drawingml/2006/main">
              <a:ext uri="{FF2B5EF4-FFF2-40B4-BE49-F238E27FC236}">
                <a16:creationId xmlns:a16="http://schemas.microsoft.com/office/drawing/2014/main" id="{EF1735F0-B0D5-4C11-BCDA-B8BDFDA4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314450"/>
            <a:ext cx="366998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8" name="stage-title-审计能力">
            <a:extLst xmlns:a="http://schemas.openxmlformats.org/drawingml/2006/main">
              <a:ext uri="{FF2B5EF4-FFF2-40B4-BE49-F238E27FC236}">
                <a16:creationId xmlns:a16="http://schemas.microsoft.com/office/drawing/2014/main" id="{1924738E-E51C-47D1-8AF0-25C14DE74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14500"/>
            <a:ext cx="101155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审计能力</a:t>
            </a:r>
          </a:p>
        </p:txBody>
      </p:sp>
      <p:sp>
        <p:nvSpPr>
          <p:cNvPr id="19" name="stage-rule-审计能力">
            <a:extLst xmlns:a="http://schemas.openxmlformats.org/drawingml/2006/main">
              <a:ext uri="{FF2B5EF4-FFF2-40B4-BE49-F238E27FC236}">
                <a16:creationId xmlns:a16="http://schemas.microsoft.com/office/drawing/2014/main" id="{D84BFFF8-B97B-4C93-BAD1-E7F08844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0574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20" name="bullet-dot-传统扫描">
            <a:extLst xmlns:a="http://schemas.openxmlformats.org/drawingml/2006/main">
              <a:ext uri="{FF2B5EF4-FFF2-40B4-BE49-F238E27FC236}">
                <a16:creationId xmlns:a16="http://schemas.microsoft.com/office/drawing/2014/main" id="{13DD5595-A54B-47BB-8D9C-3EF33BC7D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171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21" name="bullet-title-传统扫描">
            <a:extLst xmlns:a="http://schemas.openxmlformats.org/drawingml/2006/main">
              <a:ext uri="{FF2B5EF4-FFF2-40B4-BE49-F238E27FC236}">
                <a16:creationId xmlns:a16="http://schemas.microsoft.com/office/drawing/2014/main" id="{50C26715-8B74-4527-AA62-2935C81BB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71700"/>
            <a:ext cx="23050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传统扫描</a:t>
            </a:r>
          </a:p>
        </p:txBody>
      </p:sp>
      <p:sp>
        <p:nvSpPr>
          <p:cNvPr id="22" name="bullet-detail-传统扫描">
            <a:extLst xmlns:a="http://schemas.openxmlformats.org/drawingml/2006/main">
              <a:ext uri="{FF2B5EF4-FFF2-40B4-BE49-F238E27FC236}">
                <a16:creationId xmlns:a16="http://schemas.microsoft.com/office/drawing/2014/main" id="{ECA08DE0-DB51-4DCC-8A5F-AE1FD433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71725"/>
            <a:ext cx="230505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仓库扫描、ZIP 扫描、即时分析。</a:t>
            </a:r>
          </a:p>
        </p:txBody>
      </p:sp>
      <p:sp>
        <p:nvSpPr>
          <p:cNvPr id="23" name="bullet-dot-agent-审计">
            <a:extLst xmlns:a="http://schemas.openxmlformats.org/drawingml/2006/main">
              <a:ext uri="{FF2B5EF4-FFF2-40B4-BE49-F238E27FC236}">
                <a16:creationId xmlns:a16="http://schemas.microsoft.com/office/drawing/2014/main" id="{69CA75A6-5B10-44DF-A24D-D8751CA4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609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24" name="bullet-title-agent-审计">
            <a:extLst xmlns:a="http://schemas.openxmlformats.org/drawingml/2006/main">
              <a:ext uri="{FF2B5EF4-FFF2-40B4-BE49-F238E27FC236}">
                <a16:creationId xmlns:a16="http://schemas.microsoft.com/office/drawing/2014/main" id="{EFC393CF-250E-4481-B119-3D3193595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09850"/>
            <a:ext cx="23050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Agent 审计</a:t>
            </a:r>
          </a:p>
        </p:txBody>
      </p:sp>
      <p:sp>
        <p:nvSpPr>
          <p:cNvPr id="25" name="bullet-detail-agent-审计">
            <a:extLst xmlns:a="http://schemas.openxmlformats.org/drawingml/2006/main">
              <a:ext uri="{FF2B5EF4-FFF2-40B4-BE49-F238E27FC236}">
                <a16:creationId xmlns:a16="http://schemas.microsoft.com/office/drawing/2014/main" id="{83C5DF7C-A769-4ACC-9FC2-AD230F8F0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9875"/>
            <a:ext cx="2305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多智能体推理、事件流、检查点和恢复。</a:t>
            </a:r>
          </a:p>
        </p:txBody>
      </p:sp>
      <p:sp>
        <p:nvSpPr>
          <p:cNvPr id="26" name="bullet-dot-结果聚合">
            <a:extLst xmlns:a="http://schemas.openxmlformats.org/drawingml/2006/main">
              <a:ext uri="{FF2B5EF4-FFF2-40B4-BE49-F238E27FC236}">
                <a16:creationId xmlns:a16="http://schemas.microsoft.com/office/drawing/2014/main" id="{7D278C5A-825E-4F07-8CF2-571C89CCB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90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27" name="bullet-title-结果聚合">
            <a:extLst xmlns:a="http://schemas.openxmlformats.org/drawingml/2006/main">
              <a:ext uri="{FF2B5EF4-FFF2-40B4-BE49-F238E27FC236}">
                <a16:creationId xmlns:a16="http://schemas.microsoft.com/office/drawing/2014/main" id="{290CBC7F-EE44-4698-A064-6F4B4A00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190875"/>
            <a:ext cx="23050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结果聚合</a:t>
            </a:r>
          </a:p>
        </p:txBody>
      </p:sp>
      <p:sp>
        <p:nvSpPr>
          <p:cNvPr id="28" name="bullet-detail-结果聚合">
            <a:extLst xmlns:a="http://schemas.openxmlformats.org/drawingml/2006/main">
              <a:ext uri="{FF2B5EF4-FFF2-40B4-BE49-F238E27FC236}">
                <a16:creationId xmlns:a16="http://schemas.microsoft.com/office/drawing/2014/main" id="{DA11AAC5-C31F-406B-A08D-B0A3FCDE6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390900"/>
            <a:ext cx="230505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问题、Finding、摘要统一呈现。</a:t>
            </a:r>
          </a:p>
        </p:txBody>
      </p:sp>
      <p:sp>
        <p:nvSpPr>
          <p:cNvPr id="29" name="stage-num-03">
            <a:extLst xmlns:a="http://schemas.openxmlformats.org/drawingml/2006/main">
              <a:ext uri="{FF2B5EF4-FFF2-40B4-BE49-F238E27FC236}">
                <a16:creationId xmlns:a16="http://schemas.microsoft.com/office/drawing/2014/main" id="{7E688291-10D7-40A8-BA81-E56ACDAB6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14450"/>
            <a:ext cx="366998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30" name="stage-title-策略治理">
            <a:extLst xmlns:a="http://schemas.openxmlformats.org/drawingml/2006/main">
              <a:ext uri="{FF2B5EF4-FFF2-40B4-BE49-F238E27FC236}">
                <a16:creationId xmlns:a16="http://schemas.microsoft.com/office/drawing/2014/main" id="{F099A723-923A-4984-8010-875DDF92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714500"/>
            <a:ext cx="101155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策略治理</a:t>
            </a:r>
          </a:p>
        </p:txBody>
      </p:sp>
      <p:sp>
        <p:nvSpPr>
          <p:cNvPr id="31" name="stage-rule-策略治理">
            <a:extLst xmlns:a="http://schemas.openxmlformats.org/drawingml/2006/main">
              <a:ext uri="{FF2B5EF4-FFF2-40B4-BE49-F238E27FC236}">
                <a16:creationId xmlns:a16="http://schemas.microsoft.com/office/drawing/2014/main" id="{61DAB751-6CB9-4C89-9FFA-2D081AE4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0574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32" name="bullet-dot-规则集-规则">
            <a:extLst xmlns:a="http://schemas.openxmlformats.org/drawingml/2006/main">
              <a:ext uri="{FF2B5EF4-FFF2-40B4-BE49-F238E27FC236}">
                <a16:creationId xmlns:a16="http://schemas.microsoft.com/office/drawing/2014/main" id="{62BA9CBB-8338-491F-AD5E-271D20999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171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3" name="bullet-title-规则集-规则">
            <a:extLst xmlns:a="http://schemas.openxmlformats.org/drawingml/2006/main">
              <a:ext uri="{FF2B5EF4-FFF2-40B4-BE49-F238E27FC236}">
                <a16:creationId xmlns:a16="http://schemas.microsoft.com/office/drawing/2014/main" id="{68330E8B-6CCF-4B6A-86CE-2C04FD83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171700"/>
            <a:ext cx="23050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规则集 / 规则</a:t>
            </a:r>
          </a:p>
        </p:txBody>
      </p:sp>
      <p:sp>
        <p:nvSpPr>
          <p:cNvPr id="34" name="bullet-detail-规则集-规则">
            <a:extLst xmlns:a="http://schemas.openxmlformats.org/drawingml/2006/main">
              <a:ext uri="{FF2B5EF4-FFF2-40B4-BE49-F238E27FC236}">
                <a16:creationId xmlns:a16="http://schemas.microsoft.com/office/drawing/2014/main" id="{408AA898-6DCC-4D96-80CE-91DBDA9B1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371725"/>
            <a:ext cx="230505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管理审计策略和检测粒度。</a:t>
            </a:r>
          </a:p>
        </p:txBody>
      </p:sp>
      <p:sp>
        <p:nvSpPr>
          <p:cNvPr id="35" name="bullet-dot-提示词模板">
            <a:extLst xmlns:a="http://schemas.openxmlformats.org/drawingml/2006/main">
              <a:ext uri="{FF2B5EF4-FFF2-40B4-BE49-F238E27FC236}">
                <a16:creationId xmlns:a16="http://schemas.microsoft.com/office/drawing/2014/main" id="{D9145214-123A-441F-B03C-AACB1CB3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09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36" name="bullet-title-提示词模板">
            <a:extLst xmlns:a="http://schemas.openxmlformats.org/drawingml/2006/main">
              <a:ext uri="{FF2B5EF4-FFF2-40B4-BE49-F238E27FC236}">
                <a16:creationId xmlns:a16="http://schemas.microsoft.com/office/drawing/2014/main" id="{6608B66D-0A2F-4B66-A66C-28F6CC81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609850"/>
            <a:ext cx="23050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提示词模板</a:t>
            </a:r>
          </a:p>
        </p:txBody>
      </p:sp>
      <p:sp>
        <p:nvSpPr>
          <p:cNvPr id="37" name="bullet-detail-提示词模板">
            <a:extLst xmlns:a="http://schemas.openxmlformats.org/drawingml/2006/main">
              <a:ext uri="{FF2B5EF4-FFF2-40B4-BE49-F238E27FC236}">
                <a16:creationId xmlns:a16="http://schemas.microsoft.com/office/drawing/2014/main" id="{B91F9DEB-8E4F-4482-8327-4C0CB5EA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809875"/>
            <a:ext cx="2305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统一模型交互方式，沉淀可复用模板。</a:t>
            </a:r>
          </a:p>
        </p:txBody>
      </p:sp>
      <p:sp>
        <p:nvSpPr>
          <p:cNvPr id="38" name="bullet-dot-rag-系统配置">
            <a:extLst xmlns:a="http://schemas.openxmlformats.org/drawingml/2006/main">
              <a:ext uri="{FF2B5EF4-FFF2-40B4-BE49-F238E27FC236}">
                <a16:creationId xmlns:a16="http://schemas.microsoft.com/office/drawing/2014/main" id="{D6C08F7A-A84A-4AF7-A41B-1BFA76E2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190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39" name="bullet-title-rag-系统配置">
            <a:extLst xmlns:a="http://schemas.openxmlformats.org/drawingml/2006/main">
              <a:ext uri="{FF2B5EF4-FFF2-40B4-BE49-F238E27FC236}">
                <a16:creationId xmlns:a16="http://schemas.microsoft.com/office/drawing/2014/main" id="{E17D631C-0E6E-4652-A280-6B119F1D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190875"/>
            <a:ext cx="23050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RAG / 系统配置</a:t>
            </a:r>
          </a:p>
        </p:txBody>
      </p:sp>
      <p:sp>
        <p:nvSpPr>
          <p:cNvPr id="40" name="bullet-detail-rag-系统配置">
            <a:extLst xmlns:a="http://schemas.openxmlformats.org/drawingml/2006/main">
              <a:ext uri="{FF2B5EF4-FFF2-40B4-BE49-F238E27FC236}">
                <a16:creationId xmlns:a16="http://schemas.microsoft.com/office/drawing/2014/main" id="{D16EC16D-681B-42B2-AC7C-798BA86B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390900"/>
            <a:ext cx="2305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知识库、LLM、Embedding、SSH 配置都可治理。</a:t>
            </a:r>
          </a:p>
        </p:txBody>
      </p:sp>
      <p:sp>
        <p:nvSpPr>
          <p:cNvPr id="41" name="stage-num-04">
            <a:extLst xmlns:a="http://schemas.openxmlformats.org/drawingml/2006/main">
              <a:ext uri="{FF2B5EF4-FFF2-40B4-BE49-F238E27FC236}">
                <a16:creationId xmlns:a16="http://schemas.microsoft.com/office/drawing/2014/main" id="{3E1FD241-5E44-43AA-A395-D2562358B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314450"/>
            <a:ext cx="366998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240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42" name="stage-title-结果交付">
            <a:extLst xmlns:a="http://schemas.openxmlformats.org/drawingml/2006/main">
              <a:ext uri="{FF2B5EF4-FFF2-40B4-BE49-F238E27FC236}">
                <a16:creationId xmlns:a16="http://schemas.microsoft.com/office/drawing/2014/main" id="{1DA91839-B4A8-4BFF-A639-0B332DB83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14500"/>
            <a:ext cx="1011555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结果交付</a:t>
            </a:r>
          </a:p>
        </p:txBody>
      </p:sp>
      <p:sp>
        <p:nvSpPr>
          <p:cNvPr id="43" name="stage-rule-结果交付">
            <a:extLst xmlns:a="http://schemas.openxmlformats.org/drawingml/2006/main">
              <a:ext uri="{FF2B5EF4-FFF2-40B4-BE49-F238E27FC236}">
                <a16:creationId xmlns:a16="http://schemas.microsoft.com/office/drawing/2014/main" id="{C57B180F-65CD-465B-AF0A-00D639A8E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57400"/>
            <a:ext cx="1524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44" name="bullet-dot-dashboard">
            <a:extLst xmlns:a="http://schemas.openxmlformats.org/drawingml/2006/main">
              <a:ext uri="{FF2B5EF4-FFF2-40B4-BE49-F238E27FC236}">
                <a16:creationId xmlns:a16="http://schemas.microsoft.com/office/drawing/2014/main" id="{ABD9A5A4-8A64-42EF-8D6B-C8E2A74F7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71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45" name="bullet-title-dashboard">
            <a:extLst xmlns:a="http://schemas.openxmlformats.org/drawingml/2006/main">
              <a:ext uri="{FF2B5EF4-FFF2-40B4-BE49-F238E27FC236}">
                <a16:creationId xmlns:a16="http://schemas.microsoft.com/office/drawing/2014/main" id="{A9F80645-D473-43A8-84EF-373F8026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71700"/>
            <a:ext cx="23050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Dashboard</a:t>
            </a:r>
          </a:p>
        </p:txBody>
      </p:sp>
      <p:sp>
        <p:nvSpPr>
          <p:cNvPr id="46" name="bullet-detail-dashboard">
            <a:extLst xmlns:a="http://schemas.openxmlformats.org/drawingml/2006/main">
              <a:ext uri="{FF2B5EF4-FFF2-40B4-BE49-F238E27FC236}">
                <a16:creationId xmlns:a16="http://schemas.microsoft.com/office/drawing/2014/main" id="{52A22FD1-15B6-49E8-94D0-BCBF54BCE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71725"/>
            <a:ext cx="2305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看总览、最近项目、任务统计与运行状态。</a:t>
            </a:r>
          </a:p>
        </p:txBody>
      </p:sp>
      <p:sp>
        <p:nvSpPr>
          <p:cNvPr id="47" name="bullet-dot-任务详情">
            <a:extLst xmlns:a="http://schemas.openxmlformats.org/drawingml/2006/main">
              <a:ext uri="{FF2B5EF4-FFF2-40B4-BE49-F238E27FC236}">
                <a16:creationId xmlns:a16="http://schemas.microsoft.com/office/drawing/2014/main" id="{E70CD1BC-7E6D-4847-8A11-F7123E59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752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48" name="bullet-title-任务详情">
            <a:extLst xmlns:a="http://schemas.openxmlformats.org/drawingml/2006/main">
              <a:ext uri="{FF2B5EF4-FFF2-40B4-BE49-F238E27FC236}">
                <a16:creationId xmlns:a16="http://schemas.microsoft.com/office/drawing/2014/main" id="{0A9BDF00-434D-4C3A-AD6C-DBECDDA8C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52725"/>
            <a:ext cx="23050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任务详情</a:t>
            </a:r>
          </a:p>
        </p:txBody>
      </p:sp>
      <p:sp>
        <p:nvSpPr>
          <p:cNvPr id="49" name="bullet-detail-任务详情">
            <a:extLst xmlns:a="http://schemas.openxmlformats.org/drawingml/2006/main">
              <a:ext uri="{FF2B5EF4-FFF2-40B4-BE49-F238E27FC236}">
                <a16:creationId xmlns:a16="http://schemas.microsoft.com/office/drawing/2014/main" id="{F9DC5AFB-75A8-45EA-9985-6C33FEB5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52750"/>
            <a:ext cx="2305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问题定位、过程回放、阶段结果统一查看。</a:t>
            </a:r>
          </a:p>
        </p:txBody>
      </p:sp>
      <p:sp>
        <p:nvSpPr>
          <p:cNvPr id="50" name="bullet-dot-pdf-json">
            <a:extLst xmlns:a="http://schemas.openxmlformats.org/drawingml/2006/main">
              <a:ext uri="{FF2B5EF4-FFF2-40B4-BE49-F238E27FC236}">
                <a16:creationId xmlns:a16="http://schemas.microsoft.com/office/drawing/2014/main" id="{BA303D91-7FB5-457B-B2CF-8C2779A18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33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51" name="bullet-title-pdf-json">
            <a:extLst xmlns:a="http://schemas.openxmlformats.org/drawingml/2006/main">
              <a:ext uri="{FF2B5EF4-FFF2-40B4-BE49-F238E27FC236}">
                <a16:creationId xmlns:a16="http://schemas.microsoft.com/office/drawing/2014/main" id="{F4CC0C16-8802-4D5C-B4EE-06A0FFEC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23050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PDF / JSON</a:t>
            </a:r>
          </a:p>
        </p:txBody>
      </p:sp>
      <p:sp>
        <p:nvSpPr>
          <p:cNvPr id="52" name="bullet-detail-pdf-json">
            <a:extLst xmlns:a="http://schemas.openxmlformats.org/drawingml/2006/main">
              <a:ext uri="{FF2B5EF4-FFF2-40B4-BE49-F238E27FC236}">
                <a16:creationId xmlns:a16="http://schemas.microsoft.com/office/drawing/2014/main" id="{B16EDBF5-A593-4EE5-98A3-8E4668D24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533775"/>
            <a:ext cx="2305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导出标准化报告，适合对内汇报和留档。</a:t>
            </a:r>
          </a:p>
        </p:txBody>
      </p:sp>
      <p:sp>
        <p:nvSpPr>
          <p:cNvPr id="53" name="chip-接入">
            <a:extLst xmlns:a="http://schemas.openxmlformats.org/drawingml/2006/main">
              <a:ext uri="{FF2B5EF4-FFF2-40B4-BE49-F238E27FC236}">
                <a16:creationId xmlns:a16="http://schemas.microsoft.com/office/drawing/2014/main" id="{65509167-F31C-4F23-92C8-0E60E3CDE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90975"/>
            <a:ext cx="23622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4" name="chip-text-接入">
            <a:extLst xmlns:a="http://schemas.openxmlformats.org/drawingml/2006/main">
              <a:ext uri="{FF2B5EF4-FFF2-40B4-BE49-F238E27FC236}">
                <a16:creationId xmlns:a16="http://schemas.microsoft.com/office/drawing/2014/main" id="{2CF53F34-940F-42F6-B01B-06829BAD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940" y="3990975"/>
            <a:ext cx="27232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接入</a:t>
            </a:r>
          </a:p>
        </p:txBody>
      </p:sp>
      <p:sp>
        <p:nvSpPr>
          <p:cNvPr id="55" name="chip-分析">
            <a:extLst xmlns:a="http://schemas.openxmlformats.org/drawingml/2006/main">
              <a:ext uri="{FF2B5EF4-FFF2-40B4-BE49-F238E27FC236}">
                <a16:creationId xmlns:a16="http://schemas.microsoft.com/office/drawing/2014/main" id="{6F505378-2442-4624-8462-89BF61FA9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990975"/>
            <a:ext cx="23622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6" name="chip-text-分析">
            <a:extLst xmlns:a="http://schemas.openxmlformats.org/drawingml/2006/main">
              <a:ext uri="{FF2B5EF4-FFF2-40B4-BE49-F238E27FC236}">
                <a16:creationId xmlns:a16="http://schemas.microsoft.com/office/drawing/2014/main" id="{FA1AD47C-3A1C-46C4-B5F2-839A4E88B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2390" y="3990975"/>
            <a:ext cx="27232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分析</a:t>
            </a:r>
          </a:p>
        </p:txBody>
      </p:sp>
      <p:sp>
        <p:nvSpPr>
          <p:cNvPr id="57" name="chip-治理">
            <a:extLst xmlns:a="http://schemas.openxmlformats.org/drawingml/2006/main">
              <a:ext uri="{FF2B5EF4-FFF2-40B4-BE49-F238E27FC236}">
                <a16:creationId xmlns:a16="http://schemas.microsoft.com/office/drawing/2014/main" id="{FBDD832C-07F2-4F9C-B126-94FAF345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990975"/>
            <a:ext cx="23622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8" name="chip-text-治理">
            <a:extLst xmlns:a="http://schemas.openxmlformats.org/drawingml/2006/main">
              <a:ext uri="{FF2B5EF4-FFF2-40B4-BE49-F238E27FC236}">
                <a16:creationId xmlns:a16="http://schemas.microsoft.com/office/drawing/2014/main" id="{49A3DFDF-E251-4DBE-98B1-FE839072E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9840" y="3990975"/>
            <a:ext cx="27232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治理</a:t>
            </a:r>
          </a:p>
        </p:txBody>
      </p:sp>
      <p:sp>
        <p:nvSpPr>
          <p:cNvPr id="59" name="chip-交付">
            <a:extLst xmlns:a="http://schemas.openxmlformats.org/drawingml/2006/main">
              <a:ext uri="{FF2B5EF4-FFF2-40B4-BE49-F238E27FC236}">
                <a16:creationId xmlns:a16="http://schemas.microsoft.com/office/drawing/2014/main" id="{717A5258-022E-483B-BA6D-BBE0468EF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90975"/>
            <a:ext cx="23622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60" name="chip-text-交付">
            <a:extLst xmlns:a="http://schemas.openxmlformats.org/drawingml/2006/main">
              <a:ext uri="{FF2B5EF4-FFF2-40B4-BE49-F238E27FC236}">
                <a16:creationId xmlns:a16="http://schemas.microsoft.com/office/drawing/2014/main" id="{3A7DE289-483E-4AF4-8D4B-C577A78C1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7290" y="3990975"/>
            <a:ext cx="27232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交付</a:t>
            </a:r>
          </a:p>
        </p:txBody>
      </p:sp>
      <p:sp>
        <p:nvSpPr>
          <p:cNvPr id="61" name="chip-闭环">
            <a:extLst xmlns:a="http://schemas.openxmlformats.org/drawingml/2006/main">
              <a:ext uri="{FF2B5EF4-FFF2-40B4-BE49-F238E27FC236}">
                <a16:creationId xmlns:a16="http://schemas.microsoft.com/office/drawing/2014/main" id="{8C3B81FF-EA01-42A7-8B47-028AF14B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990975"/>
            <a:ext cx="23622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A2A">
              <a:alpha val="14000"/>
            </a:srgbClr>
          </a:solidFill>
          <a:ln xmlns:a="http://schemas.openxmlformats.org/drawingml/2006/main" w="9525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62" name="chip-text-闭环">
            <a:extLst xmlns:a="http://schemas.openxmlformats.org/drawingml/2006/main">
              <a:ext uri="{FF2B5EF4-FFF2-40B4-BE49-F238E27FC236}">
                <a16:creationId xmlns:a16="http://schemas.microsoft.com/office/drawing/2014/main" id="{09CFCB3A-CC6F-4310-AD14-3F7CB9DA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4740" y="3990975"/>
            <a:ext cx="27232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闭环</a:t>
            </a:r>
          </a:p>
        </p:txBody>
      </p:sp>
    </p:spTree>
    <p:extLst>
      <p:ext uri="{BB962C8B-B14F-4D97-AF65-F5344CB8AC3E}">
        <p14:creationId xmlns:p14="http://schemas.microsoft.com/office/powerpoint/2010/main" val="1156084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架构设计">
            <a:extLst xmlns:a="http://schemas.openxmlformats.org/drawingml/2006/main">
              <a:ext uri="{FF2B5EF4-FFF2-40B4-BE49-F238E27FC236}">
                <a16:creationId xmlns:a16="http://schemas.microsoft.com/office/drawing/2014/main" id="{E9C5BEFD-5559-412E-869B-09E1B5C34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32129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ARCHITECTURE</a:t>
            </a:r>
          </a:p>
        </p:txBody>
      </p:sp>
      <p:sp>
        <p:nvSpPr>
          <p:cNvPr id="2" name="header-title-架构设计">
            <a:extLst xmlns:a="http://schemas.openxmlformats.org/drawingml/2006/main">
              <a:ext uri="{FF2B5EF4-FFF2-40B4-BE49-F238E27FC236}">
                <a16:creationId xmlns:a16="http://schemas.microsoft.com/office/drawing/2014/main" id="{53DB65A5-41A9-494F-ABBE-6EA3CBC6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8125"/>
            <a:ext cx="12192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架构设计</a:t>
            </a:r>
          </a:p>
        </p:txBody>
      </p:sp>
      <p:sp>
        <p:nvSpPr>
          <p:cNvPr id="3" name="header-subtitle-架构设计">
            <a:extLst xmlns:a="http://schemas.openxmlformats.org/drawingml/2006/main">
              <a:ext uri="{FF2B5EF4-FFF2-40B4-BE49-F238E27FC236}">
                <a16:creationId xmlns:a16="http://schemas.microsoft.com/office/drawing/2014/main" id="{B77A2CFD-CD1C-4A04-A1FD-310941C3D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独立前端 + Django Ninja 后端聚合 + Celery / Redis / Channels 实时链路。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58D56161-1A3F-4D68-B7BB-204BB2E18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43000"/>
            <a:ext cx="180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5" name="flow-node-用户-领导">
            <a:extLst xmlns:a="http://schemas.openxmlformats.org/drawingml/2006/main">
              <a:ext uri="{FF2B5EF4-FFF2-40B4-BE49-F238E27FC236}">
                <a16:creationId xmlns:a16="http://schemas.microsoft.com/office/drawing/2014/main" id="{A2203101-A202-40BD-B480-39BC1DC35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52550"/>
            <a:ext cx="16764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>
              <a:alpha val="3000"/>
            </a:srgbClr>
          </a:solidFill>
          <a:ln xmlns:a="http://schemas.openxmlformats.org/drawingml/2006/main"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flow-node-label-用户-领导">
            <a:extLst xmlns:a="http://schemas.openxmlformats.org/drawingml/2006/main">
              <a:ext uri="{FF2B5EF4-FFF2-40B4-BE49-F238E27FC236}">
                <a16:creationId xmlns:a16="http://schemas.microsoft.com/office/drawing/2014/main" id="{845C4217-1F70-4877-A0C2-AEA55585A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52550"/>
            <a:ext cx="74581" cy="123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A0A9BA"/>
                </a:solidFill>
                <a:latin typeface="Menlo"/>
                <a:ea typeface="Menlo"/>
                <a:cs typeface="Menlo"/>
              </a:rPr>
              <a:t>1</a:t>
            </a:r>
          </a:p>
        </p:txBody>
      </p:sp>
      <p:sp>
        <p:nvSpPr>
          <p:cNvPr id="7" name="flow-node-title-用户-领导">
            <a:extLst xmlns:a="http://schemas.openxmlformats.org/drawingml/2006/main">
              <a:ext uri="{FF2B5EF4-FFF2-40B4-BE49-F238E27FC236}">
                <a16:creationId xmlns:a16="http://schemas.microsoft.com/office/drawing/2014/main" id="{3DCD2737-CE8C-42C4-9EAE-7D53E439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33525"/>
            <a:ext cx="1165765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用户 / 领导</a:t>
            </a:r>
          </a:p>
        </p:txBody>
      </p:sp>
      <p:sp>
        <p:nvSpPr>
          <p:cNvPr id="8" name="flow-node-subtitle-用户-领导">
            <a:extLst xmlns:a="http://schemas.openxmlformats.org/drawingml/2006/main">
              <a:ext uri="{FF2B5EF4-FFF2-40B4-BE49-F238E27FC236}">
                <a16:creationId xmlns:a16="http://schemas.microsoft.com/office/drawing/2014/main" id="{4F9D816E-13D2-459B-AA0F-A0E51E07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809750"/>
            <a:ext cx="1770602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查看任务、报告、演示结果。</a:t>
            </a:r>
          </a:p>
        </p:txBody>
      </p:sp>
      <p:sp>
        <p:nvSpPr>
          <p:cNvPr id="9" name="arch-arrow-1">
            <a:extLst xmlns:a="http://schemas.openxmlformats.org/drawingml/2006/main">
              <a:ext uri="{FF2B5EF4-FFF2-40B4-BE49-F238E27FC236}">
                <a16:creationId xmlns:a16="http://schemas.microsoft.com/office/drawing/2014/main" id="{EFDCE38C-F842-4A3A-A333-C85A54225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352550"/>
            <a:ext cx="266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0" name="flow-node-独立前端">
            <a:extLst xmlns:a="http://schemas.openxmlformats.org/drawingml/2006/main">
              <a:ext uri="{FF2B5EF4-FFF2-40B4-BE49-F238E27FC236}">
                <a16:creationId xmlns:a16="http://schemas.microsoft.com/office/drawing/2014/main" id="{AD3AE57C-3D5C-46E7-ABBC-A9878006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352550"/>
            <a:ext cx="16764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6A2A">
              <a:alpha val="10000"/>
            </a:srgbClr>
          </a:solidFill>
          <a:ln xmlns:a="http://schemas.openxmlformats.org/drawingml/2006/main" w="9525">
            <a:solidFill>
              <a:srgbClr val="FF6A2A">
                <a:alpha val="35000"/>
              </a:srgbClr>
            </a:solidFill>
            <a:prstDash val="solid"/>
          </a:ln>
        </p:spPr>
      </p:sp>
      <p:sp>
        <p:nvSpPr>
          <p:cNvPr id="11" name="flow-node-label-独立前端">
            <a:extLst xmlns:a="http://schemas.openxmlformats.org/drawingml/2006/main">
              <a:ext uri="{FF2B5EF4-FFF2-40B4-BE49-F238E27FC236}">
                <a16:creationId xmlns:a16="http://schemas.microsoft.com/office/drawing/2014/main" id="{2F7AF3E1-D781-419C-8393-870EB097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352550"/>
            <a:ext cx="74581" cy="123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2</a:t>
            </a:r>
          </a:p>
        </p:txBody>
      </p:sp>
      <p:sp>
        <p:nvSpPr>
          <p:cNvPr id="12" name="flow-node-title-独立前端">
            <a:extLst xmlns:a="http://schemas.openxmlformats.org/drawingml/2006/main">
              <a:ext uri="{FF2B5EF4-FFF2-40B4-BE49-F238E27FC236}">
                <a16:creationId xmlns:a16="http://schemas.microsoft.com/office/drawing/2014/main" id="{66AD5C79-57E6-4035-9B43-A03A2B8F9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533525"/>
            <a:ext cx="894874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独立前端</a:t>
            </a:r>
          </a:p>
        </p:txBody>
      </p:sp>
      <p:sp>
        <p:nvSpPr>
          <p:cNvPr id="13" name="flow-node-subtitle-独立前端">
            <a:extLst xmlns:a="http://schemas.openxmlformats.org/drawingml/2006/main">
              <a:ext uri="{FF2B5EF4-FFF2-40B4-BE49-F238E27FC236}">
                <a16:creationId xmlns:a16="http://schemas.microsoft.com/office/drawing/2014/main" id="{7C1283B5-574E-40E5-841D-3B316F2DE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809750"/>
            <a:ext cx="2061019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/deepaudit-app/，React 应用。</a:t>
            </a:r>
          </a:p>
        </p:txBody>
      </p:sp>
      <p:sp>
        <p:nvSpPr>
          <p:cNvPr id="14" name="arch-arrow-2">
            <a:extLst xmlns:a="http://schemas.openxmlformats.org/drawingml/2006/main">
              <a:ext uri="{FF2B5EF4-FFF2-40B4-BE49-F238E27FC236}">
                <a16:creationId xmlns:a16="http://schemas.microsoft.com/office/drawing/2014/main" id="{264469EE-5A4D-4568-8FA6-46B9E8DE7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352550"/>
            <a:ext cx="266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15" name="flow-node-api-聚合">
            <a:extLst xmlns:a="http://schemas.openxmlformats.org/drawingml/2006/main">
              <a:ext uri="{FF2B5EF4-FFF2-40B4-BE49-F238E27FC236}">
                <a16:creationId xmlns:a16="http://schemas.microsoft.com/office/drawing/2014/main" id="{9182D69A-5580-41BB-8E4E-5FB83C32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352550"/>
            <a:ext cx="1676400" cy="942975"/>
          </a:xfrm>
          <a:prstGeom xmlns:a="http://schemas.openxmlformats.org/drawingml/2006/main" prst="roundRect">
            <a:avLst>
              <a:gd name="adj" fmla="val 8081"/>
            </a:avLst>
          </a:prstGeom>
          <a:solidFill xmlns:a="http://schemas.openxmlformats.org/drawingml/2006/main">
            <a:srgbClr val="FFFFFF">
              <a:alpha val="3000"/>
            </a:srgbClr>
          </a:solidFill>
          <a:ln xmlns:a="http://schemas.openxmlformats.org/drawingml/2006/main"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flow-node-label-api-聚合">
            <a:extLst xmlns:a="http://schemas.openxmlformats.org/drawingml/2006/main">
              <a:ext uri="{FF2B5EF4-FFF2-40B4-BE49-F238E27FC236}">
                <a16:creationId xmlns:a16="http://schemas.microsoft.com/office/drawing/2014/main" id="{316EADFD-C795-4E36-9D4F-A89B25F3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352550"/>
            <a:ext cx="74581" cy="123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A0A9BA"/>
                </a:solidFill>
                <a:latin typeface="Menlo"/>
                <a:ea typeface="Menlo"/>
                <a:cs typeface="Menlo"/>
              </a:rPr>
              <a:t>3</a:t>
            </a:r>
          </a:p>
        </p:txBody>
      </p:sp>
      <p:sp>
        <p:nvSpPr>
          <p:cNvPr id="17" name="flow-node-title-api-聚合">
            <a:extLst xmlns:a="http://schemas.openxmlformats.org/drawingml/2006/main">
              <a:ext uri="{FF2B5EF4-FFF2-40B4-BE49-F238E27FC236}">
                <a16:creationId xmlns:a16="http://schemas.microsoft.com/office/drawing/2014/main" id="{7EDE8300-0D69-4BE6-A15F-95E896AD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33525"/>
            <a:ext cx="895921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API 聚合</a:t>
            </a:r>
          </a:p>
        </p:txBody>
      </p:sp>
      <p:sp>
        <p:nvSpPr>
          <p:cNvPr id="18" name="flow-node-subtitle-api-聚合">
            <a:extLst xmlns:a="http://schemas.openxmlformats.org/drawingml/2006/main">
              <a:ext uri="{FF2B5EF4-FFF2-40B4-BE49-F238E27FC236}">
                <a16:creationId xmlns:a16="http://schemas.microsoft.com/office/drawing/2014/main" id="{5F8704CB-7AC2-4F18-A04F-8A272B5C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028825"/>
            <a:ext cx="2193988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/api/deepaudit/*，统一路由入口。</a:t>
            </a:r>
          </a:p>
        </p:txBody>
      </p:sp>
      <p:sp>
        <p:nvSpPr>
          <p:cNvPr id="19" name="arch-arrow-3">
            <a:extLst xmlns:a="http://schemas.openxmlformats.org/drawingml/2006/main">
              <a:ext uri="{FF2B5EF4-FFF2-40B4-BE49-F238E27FC236}">
                <a16:creationId xmlns:a16="http://schemas.microsoft.com/office/drawing/2014/main" id="{ECA28D9A-1C1B-48C4-AAFE-776D194E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352550"/>
            <a:ext cx="266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0" name="flow-node-worker">
            <a:extLst xmlns:a="http://schemas.openxmlformats.org/drawingml/2006/main">
              <a:ext uri="{FF2B5EF4-FFF2-40B4-BE49-F238E27FC236}">
                <a16:creationId xmlns:a16="http://schemas.microsoft.com/office/drawing/2014/main" id="{F0867EFE-60D5-48CE-B3EC-6D5B4C01C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352550"/>
            <a:ext cx="16764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>
              <a:alpha val="3000"/>
            </a:srgbClr>
          </a:solidFill>
          <a:ln xmlns:a="http://schemas.openxmlformats.org/drawingml/2006/main"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flow-node-label-worker">
            <a:extLst xmlns:a="http://schemas.openxmlformats.org/drawingml/2006/main">
              <a:ext uri="{FF2B5EF4-FFF2-40B4-BE49-F238E27FC236}">
                <a16:creationId xmlns:a16="http://schemas.microsoft.com/office/drawing/2014/main" id="{78115755-A179-4BC8-B1FA-4B12CE224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352550"/>
            <a:ext cx="74581" cy="123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A0A9BA"/>
                </a:solidFill>
                <a:latin typeface="Menlo"/>
                <a:ea typeface="Menlo"/>
                <a:cs typeface="Menlo"/>
              </a:rPr>
              <a:t>4</a:t>
            </a:r>
          </a:p>
        </p:txBody>
      </p:sp>
      <p:sp>
        <p:nvSpPr>
          <p:cNvPr id="22" name="flow-node-title-worker">
            <a:extLst xmlns:a="http://schemas.openxmlformats.org/drawingml/2006/main">
              <a:ext uri="{FF2B5EF4-FFF2-40B4-BE49-F238E27FC236}">
                <a16:creationId xmlns:a16="http://schemas.microsoft.com/office/drawing/2014/main" id="{C5866D52-0A29-450A-A38B-30A1107D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533525"/>
            <a:ext cx="792861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Worker</a:t>
            </a:r>
          </a:p>
        </p:txBody>
      </p:sp>
      <p:sp>
        <p:nvSpPr>
          <p:cNvPr id="23" name="flow-node-subtitle-worker">
            <a:extLst xmlns:a="http://schemas.openxmlformats.org/drawingml/2006/main">
              <a:ext uri="{FF2B5EF4-FFF2-40B4-BE49-F238E27FC236}">
                <a16:creationId xmlns:a16="http://schemas.microsoft.com/office/drawing/2014/main" id="{1AF2F0C0-5376-48BD-9CDA-C58D5E96A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809750"/>
            <a:ext cx="2416112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Celery + AgentRunner 执行分析任务。</a:t>
            </a:r>
          </a:p>
        </p:txBody>
      </p:sp>
      <p:sp>
        <p:nvSpPr>
          <p:cNvPr id="24" name="arch-arrow-4">
            <a:extLst xmlns:a="http://schemas.openxmlformats.org/drawingml/2006/main">
              <a:ext uri="{FF2B5EF4-FFF2-40B4-BE49-F238E27FC236}">
                <a16:creationId xmlns:a16="http://schemas.microsoft.com/office/drawing/2014/main" id="{32A2BF5F-C8C7-42D3-9710-86435EFD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352550"/>
            <a:ext cx="266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→</a:t>
            </a:r>
          </a:p>
        </p:txBody>
      </p:sp>
      <p:sp>
        <p:nvSpPr>
          <p:cNvPr id="25" name="flow-node-sse-ws">
            <a:extLst xmlns:a="http://schemas.openxmlformats.org/drawingml/2006/main">
              <a:ext uri="{FF2B5EF4-FFF2-40B4-BE49-F238E27FC236}">
                <a16:creationId xmlns:a16="http://schemas.microsoft.com/office/drawing/2014/main" id="{59842314-1865-4F0C-8202-C27BC150A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352550"/>
            <a:ext cx="16764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6A2A">
              <a:alpha val="10000"/>
            </a:srgbClr>
          </a:solidFill>
          <a:ln xmlns:a="http://schemas.openxmlformats.org/drawingml/2006/main" w="9525">
            <a:solidFill>
              <a:srgbClr val="FF6A2A">
                <a:alpha val="35000"/>
              </a:srgbClr>
            </a:solidFill>
            <a:prstDash val="solid"/>
          </a:ln>
        </p:spPr>
      </p:sp>
      <p:sp>
        <p:nvSpPr>
          <p:cNvPr id="26" name="flow-node-label-sse-ws">
            <a:extLst xmlns:a="http://schemas.openxmlformats.org/drawingml/2006/main">
              <a:ext uri="{FF2B5EF4-FFF2-40B4-BE49-F238E27FC236}">
                <a16:creationId xmlns:a16="http://schemas.microsoft.com/office/drawing/2014/main" id="{A0991B28-A788-44C5-A83B-E422D9E9E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352550"/>
            <a:ext cx="74581" cy="123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5</a:t>
            </a:r>
          </a:p>
        </p:txBody>
      </p:sp>
      <p:sp>
        <p:nvSpPr>
          <p:cNvPr id="27" name="flow-node-title-sse-ws">
            <a:extLst xmlns:a="http://schemas.openxmlformats.org/drawingml/2006/main">
              <a:ext uri="{FF2B5EF4-FFF2-40B4-BE49-F238E27FC236}">
                <a16:creationId xmlns:a16="http://schemas.microsoft.com/office/drawing/2014/main" id="{6DDF33A8-CD61-45DE-81F8-89D5B657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533525"/>
            <a:ext cx="1081088" cy="2190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SSE / WS</a:t>
            </a:r>
          </a:p>
        </p:txBody>
      </p:sp>
      <p:sp>
        <p:nvSpPr>
          <p:cNvPr id="28" name="flow-node-subtitle-sse-ws">
            <a:extLst xmlns:a="http://schemas.openxmlformats.org/drawingml/2006/main">
              <a:ext uri="{FF2B5EF4-FFF2-40B4-BE49-F238E27FC236}">
                <a16:creationId xmlns:a16="http://schemas.microsoft.com/office/drawing/2014/main" id="{4E41B2FC-7B25-4653-8CC5-C117A9EB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809750"/>
            <a:ext cx="1770602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事件流回传到前端实时渲染。</a:t>
            </a:r>
          </a:p>
        </p:txBody>
      </p:sp>
      <p:sp>
        <p:nvSpPr>
          <p:cNvPr id="29" name="arch-support-kicker">
            <a:extLst xmlns:a="http://schemas.openxmlformats.org/drawingml/2006/main">
              <a:ext uri="{FF2B5EF4-FFF2-40B4-BE49-F238E27FC236}">
                <a16:creationId xmlns:a16="http://schemas.microsoft.com/office/drawing/2014/main" id="{AE18EB6C-943F-4CF4-9FB2-EE949F5D8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86025"/>
            <a:ext cx="680942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运行支撑层</a:t>
            </a:r>
          </a:p>
        </p:txBody>
      </p:sp>
      <p:sp>
        <p:nvSpPr>
          <p:cNvPr id="30" name="chip-asgi">
            <a:extLst xmlns:a="http://schemas.openxmlformats.org/drawingml/2006/main">
              <a:ext uri="{FF2B5EF4-FFF2-40B4-BE49-F238E27FC236}">
                <a16:creationId xmlns:a16="http://schemas.microsoft.com/office/drawing/2014/main" id="{C8E38FA1-56F4-439B-8172-C853262F1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14625"/>
            <a:ext cx="29908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1" name="chip-text-asgi">
            <a:extLst xmlns:a="http://schemas.openxmlformats.org/drawingml/2006/main">
              <a:ext uri="{FF2B5EF4-FFF2-40B4-BE49-F238E27FC236}">
                <a16:creationId xmlns:a16="http://schemas.microsoft.com/office/drawing/2014/main" id="{AF6CC349-00F8-452F-8F95-119AAD1A8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833" y="2714625"/>
            <a:ext cx="321183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ASGI</a:t>
            </a:r>
          </a:p>
        </p:txBody>
      </p:sp>
      <p:sp>
        <p:nvSpPr>
          <p:cNvPr id="32" name="chip-celery">
            <a:extLst xmlns:a="http://schemas.openxmlformats.org/drawingml/2006/main">
              <a:ext uri="{FF2B5EF4-FFF2-40B4-BE49-F238E27FC236}">
                <a16:creationId xmlns:a16="http://schemas.microsoft.com/office/drawing/2014/main" id="{397E3FC6-29A2-4E9D-8899-2B145EE9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714625"/>
            <a:ext cx="29908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3" name="chip-text-celery">
            <a:extLst xmlns:a="http://schemas.openxmlformats.org/drawingml/2006/main">
              <a:ext uri="{FF2B5EF4-FFF2-40B4-BE49-F238E27FC236}">
                <a16:creationId xmlns:a16="http://schemas.microsoft.com/office/drawing/2014/main" id="{5CB5136A-73B7-4BBF-9933-B9CDC81A9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1588" y="2714625"/>
            <a:ext cx="481775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Celery</a:t>
            </a:r>
          </a:p>
        </p:txBody>
      </p:sp>
      <p:sp>
        <p:nvSpPr>
          <p:cNvPr id="34" name="chip-redis">
            <a:extLst xmlns:a="http://schemas.openxmlformats.org/drawingml/2006/main">
              <a:ext uri="{FF2B5EF4-FFF2-40B4-BE49-F238E27FC236}">
                <a16:creationId xmlns:a16="http://schemas.microsoft.com/office/drawing/2014/main" id="{6FF88330-0CA7-4F53-9AB9-A4657DBAD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14625"/>
            <a:ext cx="29908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5" name="chip-text-redis">
            <a:extLst xmlns:a="http://schemas.openxmlformats.org/drawingml/2006/main">
              <a:ext uri="{FF2B5EF4-FFF2-40B4-BE49-F238E27FC236}">
                <a16:creationId xmlns:a16="http://schemas.microsoft.com/office/drawing/2014/main" id="{1B504682-5145-4631-AA6B-955AB0233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8786" y="2714625"/>
            <a:ext cx="401479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Redis</a:t>
            </a:r>
          </a:p>
        </p:txBody>
      </p:sp>
      <p:sp>
        <p:nvSpPr>
          <p:cNvPr id="36" name="chip-channels">
            <a:extLst xmlns:a="http://schemas.openxmlformats.org/drawingml/2006/main">
              <a:ext uri="{FF2B5EF4-FFF2-40B4-BE49-F238E27FC236}">
                <a16:creationId xmlns:a16="http://schemas.microsoft.com/office/drawing/2014/main" id="{E5FEE4CA-5817-49DE-A0E7-98564139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714625"/>
            <a:ext cx="29908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7" name="chip-text-channels">
            <a:extLst xmlns:a="http://schemas.openxmlformats.org/drawingml/2006/main">
              <a:ext uri="{FF2B5EF4-FFF2-40B4-BE49-F238E27FC236}">
                <a16:creationId xmlns:a16="http://schemas.microsoft.com/office/drawing/2014/main" id="{6D772168-656F-4D4F-ACF6-5B723208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5392" y="2714625"/>
            <a:ext cx="642366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Channels</a:t>
            </a:r>
          </a:p>
        </p:txBody>
      </p:sp>
      <p:sp>
        <p:nvSpPr>
          <p:cNvPr id="38" name="chip-nginx">
            <a:extLst xmlns:a="http://schemas.openxmlformats.org/drawingml/2006/main">
              <a:ext uri="{FF2B5EF4-FFF2-40B4-BE49-F238E27FC236}">
                <a16:creationId xmlns:a16="http://schemas.microsoft.com/office/drawing/2014/main" id="{394AE6D6-FFFB-4776-8BEF-54220A61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4175"/>
            <a:ext cx="29908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9" name="chip-text-nginx">
            <a:extLst xmlns:a="http://schemas.openxmlformats.org/drawingml/2006/main">
              <a:ext uri="{FF2B5EF4-FFF2-40B4-BE49-F238E27FC236}">
                <a16:creationId xmlns:a16="http://schemas.microsoft.com/office/drawing/2014/main" id="{C5DFEB6F-22DB-49F1-B2A0-F41F79AE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686" y="2924175"/>
            <a:ext cx="401479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Nginx</a:t>
            </a:r>
          </a:p>
        </p:txBody>
      </p:sp>
      <p:sp>
        <p:nvSpPr>
          <p:cNvPr id="40" name="chip-workspace">
            <a:extLst xmlns:a="http://schemas.openxmlformats.org/drawingml/2006/main">
              <a:ext uri="{FF2B5EF4-FFF2-40B4-BE49-F238E27FC236}">
                <a16:creationId xmlns:a16="http://schemas.microsoft.com/office/drawing/2014/main" id="{F9902D3C-267D-43F4-BC0E-98968A64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924175"/>
            <a:ext cx="29908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1" name="chip-text-workspace">
            <a:extLst xmlns:a="http://schemas.openxmlformats.org/drawingml/2006/main">
              <a:ext uri="{FF2B5EF4-FFF2-40B4-BE49-F238E27FC236}">
                <a16:creationId xmlns:a16="http://schemas.microsoft.com/office/drawing/2014/main" id="{0142EE6E-4D58-4946-8AC3-E2EF7022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1144" y="2924175"/>
            <a:ext cx="722662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Workspace</a:t>
            </a:r>
          </a:p>
        </p:txBody>
      </p:sp>
      <p:sp>
        <p:nvSpPr>
          <p:cNvPr id="42" name="chip-rag">
            <a:extLst xmlns:a="http://schemas.openxmlformats.org/drawingml/2006/main">
              <a:ext uri="{FF2B5EF4-FFF2-40B4-BE49-F238E27FC236}">
                <a16:creationId xmlns:a16="http://schemas.microsoft.com/office/drawing/2014/main" id="{230AB15A-6096-4E4E-9535-352766B96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924175"/>
            <a:ext cx="29908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3" name="chip-text-rag">
            <a:extLst xmlns:a="http://schemas.openxmlformats.org/drawingml/2006/main">
              <a:ext uri="{FF2B5EF4-FFF2-40B4-BE49-F238E27FC236}">
                <a16:creationId xmlns:a16="http://schemas.microsoft.com/office/drawing/2014/main" id="{91EDCC19-A633-4E66-9BA1-B0505D29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081" y="2924175"/>
            <a:ext cx="240887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RAG</a:t>
            </a:r>
          </a:p>
        </p:txBody>
      </p:sp>
      <p:sp>
        <p:nvSpPr>
          <p:cNvPr id="44" name="chip-reports">
            <a:extLst xmlns:a="http://schemas.openxmlformats.org/drawingml/2006/main">
              <a:ext uri="{FF2B5EF4-FFF2-40B4-BE49-F238E27FC236}">
                <a16:creationId xmlns:a16="http://schemas.microsoft.com/office/drawing/2014/main" id="{04D65021-4AC2-465D-9C53-55836909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24175"/>
            <a:ext cx="29908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5" name="chip-text-reports">
            <a:extLst xmlns:a="http://schemas.openxmlformats.org/drawingml/2006/main">
              <a:ext uri="{FF2B5EF4-FFF2-40B4-BE49-F238E27FC236}">
                <a16:creationId xmlns:a16="http://schemas.microsoft.com/office/drawing/2014/main" id="{7F972D38-A4F3-424B-8A88-F9872BCBE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5540" y="2924175"/>
            <a:ext cx="56207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Reports</a:t>
            </a:r>
          </a:p>
        </p:txBody>
      </p:sp>
      <p:sp>
        <p:nvSpPr>
          <p:cNvPr id="46" name="arch-summary">
            <a:extLst xmlns:a="http://schemas.openxmlformats.org/drawingml/2006/main">
              <a:ext uri="{FF2B5EF4-FFF2-40B4-BE49-F238E27FC236}">
                <a16:creationId xmlns:a16="http://schemas.microsoft.com/office/drawing/2014/main" id="{0E42D3FC-A08D-4637-BB9D-C814387B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152775"/>
            <a:ext cx="102870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前端只关心事件流；后端把“执行”和“回传”拆开，保证长任务能持续可观测。</a:t>
            </a:r>
          </a:p>
        </p:txBody>
      </p:sp>
      <p:sp>
        <p:nvSpPr>
          <p:cNvPr id="47" name="arch-fe-kicker">
            <a:extLst xmlns:a="http://schemas.openxmlformats.org/drawingml/2006/main">
              <a:ext uri="{FF2B5EF4-FFF2-40B4-BE49-F238E27FC236}">
                <a16:creationId xmlns:a16="http://schemas.microsoft.com/office/drawing/2014/main" id="{AE10F132-8E85-4B11-B5E9-BB1B7AB00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505200"/>
            <a:ext cx="544735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前端入口</a:t>
            </a:r>
          </a:p>
        </p:txBody>
      </p:sp>
      <p:sp>
        <p:nvSpPr>
          <p:cNvPr id="48" name="arch-fe-path">
            <a:extLst xmlns:a="http://schemas.openxmlformats.org/drawingml/2006/main">
              <a:ext uri="{FF2B5EF4-FFF2-40B4-BE49-F238E27FC236}">
                <a16:creationId xmlns:a16="http://schemas.microsoft.com/office/drawing/2014/main" id="{6C58F01F-5AE3-4BA6-A0C8-D665A8C3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714750"/>
            <a:ext cx="1290161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F5F7FB"/>
                </a:solidFill>
                <a:latin typeface="Menlo"/>
                <a:ea typeface="Menlo"/>
                <a:cs typeface="Menlo"/>
              </a:rPr>
              <a:t>/deepaudit-app/</a:t>
            </a:r>
          </a:p>
        </p:txBody>
      </p:sp>
      <p:sp>
        <p:nvSpPr>
          <p:cNvPr id="49" name="arch-fe-note">
            <a:extLst xmlns:a="http://schemas.openxmlformats.org/drawingml/2006/main">
              <a:ext uri="{FF2B5EF4-FFF2-40B4-BE49-F238E27FC236}">
                <a16:creationId xmlns:a16="http://schemas.microsoft.com/office/drawing/2014/main" id="{71A71660-980B-4948-A888-6B1FD2FB9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33825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页面级权限码控制，接入 Focus 主平台 token。</a:t>
            </a:r>
          </a:p>
        </p:txBody>
      </p:sp>
      <p:sp>
        <p:nvSpPr>
          <p:cNvPr id="50" name="arch-api-kicker">
            <a:extLst xmlns:a="http://schemas.openxmlformats.org/drawingml/2006/main">
              <a:ext uri="{FF2B5EF4-FFF2-40B4-BE49-F238E27FC236}">
                <a16:creationId xmlns:a16="http://schemas.microsoft.com/office/drawing/2014/main" id="{90126AEA-6728-47D1-9ACC-AC6837623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505200"/>
            <a:ext cx="544735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实时接口</a:t>
            </a:r>
          </a:p>
        </p:txBody>
      </p:sp>
      <p:sp>
        <p:nvSpPr>
          <p:cNvPr id="51" name="arch-api-path">
            <a:extLst xmlns:a="http://schemas.openxmlformats.org/drawingml/2006/main">
              <a:ext uri="{FF2B5EF4-FFF2-40B4-BE49-F238E27FC236}">
                <a16:creationId xmlns:a16="http://schemas.microsoft.com/office/drawing/2014/main" id="{F518CF48-3B7B-45D5-AC4F-5351C6A04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714750"/>
            <a:ext cx="400050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A0A9BA"/>
                </a:solidFill>
                <a:latin typeface="Menlo"/>
                <a:ea typeface="Menlo"/>
                <a:cs typeface="Menlo"/>
              </a:rPr>
              <a:t>/api/deepaudit/agent-tasks/{id}/stream  +  /ws/deepaudit/tasks/{id}/</a:t>
            </a:r>
          </a:p>
        </p:txBody>
      </p:sp>
      <p:sp>
        <p:nvSpPr>
          <p:cNvPr id="52" name="arch-api-note">
            <a:extLst xmlns:a="http://schemas.openxmlformats.org/drawingml/2006/main">
              <a:ext uri="{FF2B5EF4-FFF2-40B4-BE49-F238E27FC236}">
                <a16:creationId xmlns:a16="http://schemas.microsoft.com/office/drawing/2014/main" id="{E101F24B-3C71-4244-8A58-D6446A58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933825"/>
            <a:ext cx="400050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SSE 用于连续流式输出，WebSocket 用于任务事件推送。</a:t>
            </a:r>
          </a:p>
        </p:txBody>
      </p:sp>
    </p:spTree>
    <p:extLst>
      <p:ext uri="{BB962C8B-B14F-4D97-AF65-F5344CB8AC3E}">
        <p14:creationId xmlns:p14="http://schemas.microsoft.com/office/powerpoint/2010/main" val="17845954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实现方法与关键技术">
            <a:extLst xmlns:a="http://schemas.openxmlformats.org/drawingml/2006/main">
              <a:ext uri="{FF2B5EF4-FFF2-40B4-BE49-F238E27FC236}">
                <a16:creationId xmlns:a16="http://schemas.microsoft.com/office/drawing/2014/main" id="{D00AC3C8-62BF-4FEC-8F46-E734359DB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0415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IMPLEMENTATION</a:t>
            </a:r>
          </a:p>
        </p:txBody>
      </p:sp>
      <p:sp>
        <p:nvSpPr>
          <p:cNvPr id="2" name="header-title-实现方法与关键技术">
            <a:extLst xmlns:a="http://schemas.openxmlformats.org/drawingml/2006/main">
              <a:ext uri="{FF2B5EF4-FFF2-40B4-BE49-F238E27FC236}">
                <a16:creationId xmlns:a16="http://schemas.microsoft.com/office/drawing/2014/main" id="{E7131B48-C7DB-432C-8FFE-6F4123B36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8125"/>
            <a:ext cx="12192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实现方法与关键技术</a:t>
            </a:r>
          </a:p>
        </p:txBody>
      </p:sp>
      <p:sp>
        <p:nvSpPr>
          <p:cNvPr id="3" name="header-subtitle-实现方法与关键技术">
            <a:extLst xmlns:a="http://schemas.openxmlformats.org/drawingml/2006/main">
              <a:ext uri="{FF2B5EF4-FFF2-40B4-BE49-F238E27FC236}">
                <a16:creationId xmlns:a16="http://schemas.microsoft.com/office/drawing/2014/main" id="{032CC581-0513-420B-9D40-B82FA982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先工具、再推理；先收敛、再验证；先回传、再报告。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27C5369B-65B7-4B66-8672-591E803C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23950"/>
            <a:ext cx="209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5" name="impl-tools-kicker">
            <a:extLst xmlns:a="http://schemas.openxmlformats.org/drawingml/2006/main">
              <a:ext uri="{FF2B5EF4-FFF2-40B4-BE49-F238E27FC236}">
                <a16:creationId xmlns:a16="http://schemas.microsoft.com/office/drawing/2014/main" id="{6D26642B-155D-4043-A321-5AE597AE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14450"/>
            <a:ext cx="408527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工具层</a:t>
            </a:r>
          </a:p>
        </p:txBody>
      </p:sp>
      <p:sp>
        <p:nvSpPr>
          <p:cNvPr id="6" name="impl-tools-title">
            <a:extLst xmlns:a="http://schemas.openxmlformats.org/drawingml/2006/main">
              <a:ext uri="{FF2B5EF4-FFF2-40B4-BE49-F238E27FC236}">
                <a16:creationId xmlns:a16="http://schemas.microsoft.com/office/drawing/2014/main" id="{EA3ECDB9-E4AC-4D9D-8773-99400F6F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62100"/>
            <a:ext cx="221742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外部工具优先</a:t>
            </a:r>
          </a:p>
        </p:txBody>
      </p:sp>
      <p:sp>
        <p:nvSpPr>
          <p:cNvPr id="7" name="bullet-dot-先扫再解释">
            <a:extLst xmlns:a="http://schemas.openxmlformats.org/drawingml/2006/main">
              <a:ext uri="{FF2B5EF4-FFF2-40B4-BE49-F238E27FC236}">
                <a16:creationId xmlns:a16="http://schemas.microsoft.com/office/drawing/2014/main" id="{A93C8AE2-1E06-4496-AECE-735FF642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38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8" name="bullet-title-先扫再解释">
            <a:extLst xmlns:a="http://schemas.openxmlformats.org/drawingml/2006/main">
              <a:ext uri="{FF2B5EF4-FFF2-40B4-BE49-F238E27FC236}">
                <a16:creationId xmlns:a16="http://schemas.microsoft.com/office/drawing/2014/main" id="{0342585D-5F4B-4B45-8D23-B11BB7DFA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038350"/>
            <a:ext cx="2762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先扫再解释</a:t>
            </a:r>
          </a:p>
        </p:txBody>
      </p:sp>
      <p:sp>
        <p:nvSpPr>
          <p:cNvPr id="9" name="bullet-detail-先扫再解释">
            <a:extLst xmlns:a="http://schemas.openxmlformats.org/drawingml/2006/main">
              <a:ext uri="{FF2B5EF4-FFF2-40B4-BE49-F238E27FC236}">
                <a16:creationId xmlns:a16="http://schemas.microsoft.com/office/drawing/2014/main" id="{C0DF161D-E924-4075-A11C-54ED885B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238375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semgrep / bandit / gitleaks / npm_audit / safety / kunlun 先做覆盖。</a:t>
            </a:r>
          </a:p>
        </p:txBody>
      </p:sp>
      <p:sp>
        <p:nvSpPr>
          <p:cNvPr id="10" name="bullet-dot-风险聚焦">
            <a:extLst xmlns:a="http://schemas.openxmlformats.org/drawingml/2006/main">
              <a:ext uri="{FF2B5EF4-FFF2-40B4-BE49-F238E27FC236}">
                <a16:creationId xmlns:a16="http://schemas.microsoft.com/office/drawing/2014/main" id="{D2830B76-4922-4AC0-9395-573B472D0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384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bullet-title-风险聚焦">
            <a:extLst xmlns:a="http://schemas.openxmlformats.org/drawingml/2006/main">
              <a:ext uri="{FF2B5EF4-FFF2-40B4-BE49-F238E27FC236}">
                <a16:creationId xmlns:a16="http://schemas.microsoft.com/office/drawing/2014/main" id="{AD02381B-21DA-4B27-A9F5-2FCDBB3A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638425"/>
            <a:ext cx="2762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风险聚焦</a:t>
            </a:r>
          </a:p>
        </p:txBody>
      </p:sp>
      <p:sp>
        <p:nvSpPr>
          <p:cNvPr id="12" name="bullet-detail-风险聚焦">
            <a:extLst xmlns:a="http://schemas.openxmlformats.org/drawingml/2006/main">
              <a:ext uri="{FF2B5EF4-FFF2-40B4-BE49-F238E27FC236}">
                <a16:creationId xmlns:a16="http://schemas.microsoft.com/office/drawing/2014/main" id="{6E103691-827F-4CC0-8073-9FC236CC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83845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smart_scan、quick_audit 先圈高风险文件，再进入深审。</a:t>
            </a:r>
          </a:p>
        </p:txBody>
      </p:sp>
      <p:sp>
        <p:nvSpPr>
          <p:cNvPr id="13" name="bullet-dot-动态验证">
            <a:extLst xmlns:a="http://schemas.openxmlformats.org/drawingml/2006/main">
              <a:ext uri="{FF2B5EF4-FFF2-40B4-BE49-F238E27FC236}">
                <a16:creationId xmlns:a16="http://schemas.microsoft.com/office/drawing/2014/main" id="{40912CD9-9A06-4F02-9651-4C823244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14" name="bullet-title-动态验证">
            <a:extLst xmlns:a="http://schemas.openxmlformats.org/drawingml/2006/main">
              <a:ext uri="{FF2B5EF4-FFF2-40B4-BE49-F238E27FC236}">
                <a16:creationId xmlns:a16="http://schemas.microsoft.com/office/drawing/2014/main" id="{45940755-67E2-49E0-B920-094C3BFB9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238500"/>
            <a:ext cx="27622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动态验证</a:t>
            </a:r>
          </a:p>
        </p:txBody>
      </p:sp>
      <p:sp>
        <p:nvSpPr>
          <p:cNvPr id="15" name="bullet-detail-动态验证">
            <a:extLst xmlns:a="http://schemas.openxmlformats.org/drawingml/2006/main">
              <a:ext uri="{FF2B5EF4-FFF2-40B4-BE49-F238E27FC236}">
                <a16:creationId xmlns:a16="http://schemas.microsoft.com/office/drawing/2014/main" id="{36533448-86B6-4382-8F65-A1BF947BB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438525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run_code、extract_function、sandbox harness 负责验证与 PoC。</a:t>
            </a:r>
          </a:p>
        </p:txBody>
      </p:sp>
      <p:sp>
        <p:nvSpPr>
          <p:cNvPr id="16" name="chip-semgrep-scan">
            <a:extLst xmlns:a="http://schemas.openxmlformats.org/drawingml/2006/main">
              <a:ext uri="{FF2B5EF4-FFF2-40B4-BE49-F238E27FC236}">
                <a16:creationId xmlns:a16="http://schemas.microsoft.com/office/drawing/2014/main" id="{F7F5B3F4-13A7-41CC-BFF9-161D83717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38575"/>
            <a:ext cx="143827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7" name="chip-text-semgrep-scan">
            <a:extLst xmlns:a="http://schemas.openxmlformats.org/drawingml/2006/main">
              <a:ext uri="{FF2B5EF4-FFF2-40B4-BE49-F238E27FC236}">
                <a16:creationId xmlns:a16="http://schemas.microsoft.com/office/drawing/2014/main" id="{DE028B44-E44B-41C7-8BAC-D07795EDA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363" y="3838575"/>
            <a:ext cx="963549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semgrep_scan</a:t>
            </a:r>
          </a:p>
        </p:txBody>
      </p:sp>
      <p:sp>
        <p:nvSpPr>
          <p:cNvPr id="18" name="chip-bandit-scan">
            <a:extLst xmlns:a="http://schemas.openxmlformats.org/drawingml/2006/main">
              <a:ext uri="{FF2B5EF4-FFF2-40B4-BE49-F238E27FC236}">
                <a16:creationId xmlns:a16="http://schemas.microsoft.com/office/drawing/2014/main" id="{663BCEF8-7B31-4612-B2F4-8587A977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838575"/>
            <a:ext cx="143827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19" name="chip-text-bandit-scan">
            <a:extLst xmlns:a="http://schemas.openxmlformats.org/drawingml/2006/main">
              <a:ext uri="{FF2B5EF4-FFF2-40B4-BE49-F238E27FC236}">
                <a16:creationId xmlns:a16="http://schemas.microsoft.com/office/drawing/2014/main" id="{C0178C1E-F6FD-4078-A208-26777A77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1986" y="3838575"/>
            <a:ext cx="883253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bandit_scan</a:t>
            </a:r>
          </a:p>
        </p:txBody>
      </p:sp>
      <p:sp>
        <p:nvSpPr>
          <p:cNvPr id="20" name="chip-gitleaks-scan">
            <a:extLst xmlns:a="http://schemas.openxmlformats.org/drawingml/2006/main">
              <a:ext uri="{FF2B5EF4-FFF2-40B4-BE49-F238E27FC236}">
                <a16:creationId xmlns:a16="http://schemas.microsoft.com/office/drawing/2014/main" id="{4B1D6E5B-3857-4164-AA7C-6546E2A2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048125"/>
            <a:ext cx="143827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1" name="chip-text-gitleaks-scan">
            <a:extLst xmlns:a="http://schemas.openxmlformats.org/drawingml/2006/main">
              <a:ext uri="{FF2B5EF4-FFF2-40B4-BE49-F238E27FC236}">
                <a16:creationId xmlns:a16="http://schemas.microsoft.com/office/drawing/2014/main" id="{C713FFB7-CCDD-499A-8362-0DA58C087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215" y="4048125"/>
            <a:ext cx="1043845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gitleaks_scan</a:t>
            </a:r>
          </a:p>
        </p:txBody>
      </p:sp>
      <p:sp>
        <p:nvSpPr>
          <p:cNvPr id="22" name="chip-npm-audit">
            <a:extLst xmlns:a="http://schemas.openxmlformats.org/drawingml/2006/main">
              <a:ext uri="{FF2B5EF4-FFF2-40B4-BE49-F238E27FC236}">
                <a16:creationId xmlns:a16="http://schemas.microsoft.com/office/drawing/2014/main" id="{B141BF04-78EE-47B3-955C-89F9B448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048125"/>
            <a:ext cx="143827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3" name="chip-text-npm-audit">
            <a:extLst xmlns:a="http://schemas.openxmlformats.org/drawingml/2006/main">
              <a:ext uri="{FF2B5EF4-FFF2-40B4-BE49-F238E27FC236}">
                <a16:creationId xmlns:a16="http://schemas.microsoft.com/office/drawing/2014/main" id="{BADCBF3D-030D-487F-AD2E-C6B92F12A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2282" y="4048125"/>
            <a:ext cx="722662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npm_audit</a:t>
            </a:r>
          </a:p>
        </p:txBody>
      </p:sp>
      <p:sp>
        <p:nvSpPr>
          <p:cNvPr id="24" name="chip-safety-scan">
            <a:extLst xmlns:a="http://schemas.openxmlformats.org/drawingml/2006/main">
              <a:ext uri="{FF2B5EF4-FFF2-40B4-BE49-F238E27FC236}">
                <a16:creationId xmlns:a16="http://schemas.microsoft.com/office/drawing/2014/main" id="{86ADFA16-B1CF-4359-A4B4-37D5E62D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57675"/>
            <a:ext cx="143827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5" name="chip-text-safety-scan">
            <a:extLst xmlns:a="http://schemas.openxmlformats.org/drawingml/2006/main">
              <a:ext uri="{FF2B5EF4-FFF2-40B4-BE49-F238E27FC236}">
                <a16:creationId xmlns:a16="http://schemas.microsoft.com/office/drawing/2014/main" id="{BC178ABE-F0FB-4E81-AFF8-6A6ED335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511" y="4257675"/>
            <a:ext cx="883253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safety_scan</a:t>
            </a:r>
          </a:p>
        </p:txBody>
      </p:sp>
      <p:sp>
        <p:nvSpPr>
          <p:cNvPr id="26" name="chip-kunlun-scan">
            <a:extLst xmlns:a="http://schemas.openxmlformats.org/drawingml/2006/main">
              <a:ext uri="{FF2B5EF4-FFF2-40B4-BE49-F238E27FC236}">
                <a16:creationId xmlns:a16="http://schemas.microsoft.com/office/drawing/2014/main" id="{05392270-14E4-41A8-8C02-F28D1C88F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257675"/>
            <a:ext cx="143827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7" name="chip-text-kunlun-scan">
            <a:extLst xmlns:a="http://schemas.openxmlformats.org/drawingml/2006/main">
              <a:ext uri="{FF2B5EF4-FFF2-40B4-BE49-F238E27FC236}">
                <a16:creationId xmlns:a16="http://schemas.microsoft.com/office/drawing/2014/main" id="{4C98E9E9-43AB-4E44-B2EE-0D35C342C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1986" y="4257675"/>
            <a:ext cx="883253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kunlun_scan</a:t>
            </a:r>
          </a:p>
        </p:txBody>
      </p:sp>
      <p:sp>
        <p:nvSpPr>
          <p:cNvPr id="28" name="impl-orch-kicker">
            <a:extLst xmlns:a="http://schemas.openxmlformats.org/drawingml/2006/main">
              <a:ext uri="{FF2B5EF4-FFF2-40B4-BE49-F238E27FC236}">
                <a16:creationId xmlns:a16="http://schemas.microsoft.com/office/drawing/2014/main" id="{7875EE62-C6F0-45A5-84C0-F2E2073B6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314450"/>
            <a:ext cx="408527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编排层</a:t>
            </a:r>
          </a:p>
        </p:txBody>
      </p:sp>
      <p:sp>
        <p:nvSpPr>
          <p:cNvPr id="29" name="impl-orch-title">
            <a:extLst xmlns:a="http://schemas.openxmlformats.org/drawingml/2006/main">
              <a:ext uri="{FF2B5EF4-FFF2-40B4-BE49-F238E27FC236}">
                <a16:creationId xmlns:a16="http://schemas.microsoft.com/office/drawing/2014/main" id="{93ED26A0-D66C-401C-BC73-112EC50E5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562100"/>
            <a:ext cx="221742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多智能体编排</a:t>
            </a:r>
          </a:p>
        </p:txBody>
      </p:sp>
      <p:sp>
        <p:nvSpPr>
          <p:cNvPr id="30" name="bullet-dot-orchestrator-是大脑">
            <a:extLst xmlns:a="http://schemas.openxmlformats.org/drawingml/2006/main">
              <a:ext uri="{FF2B5EF4-FFF2-40B4-BE49-F238E27FC236}">
                <a16:creationId xmlns:a16="http://schemas.microsoft.com/office/drawing/2014/main" id="{61F6BF5D-CA92-4A77-B3C2-F928B152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038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1" name="bullet-title-orchestrator-是大脑">
            <a:extLst xmlns:a="http://schemas.openxmlformats.org/drawingml/2006/main">
              <a:ext uri="{FF2B5EF4-FFF2-40B4-BE49-F238E27FC236}">
                <a16:creationId xmlns:a16="http://schemas.microsoft.com/office/drawing/2014/main" id="{177B3F9F-C630-4E2E-95C0-FF155DD3B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38350"/>
            <a:ext cx="32385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Orchestrator 是大脑</a:t>
            </a:r>
          </a:p>
        </p:txBody>
      </p:sp>
      <p:sp>
        <p:nvSpPr>
          <p:cNvPr id="32" name="bullet-detail-orchestrator-是大脑">
            <a:extLst xmlns:a="http://schemas.openxmlformats.org/drawingml/2006/main">
              <a:ext uri="{FF2B5EF4-FFF2-40B4-BE49-F238E27FC236}">
                <a16:creationId xmlns:a16="http://schemas.microsoft.com/office/drawing/2014/main" id="{DA1CB1D4-0007-444D-9F74-D5517FD0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238375"/>
            <a:ext cx="323850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负责规划、调度、收敛。</a:t>
            </a:r>
          </a:p>
        </p:txBody>
      </p:sp>
      <p:sp>
        <p:nvSpPr>
          <p:cNvPr id="33" name="impl-orch-panel">
            <a:extLst xmlns:a="http://schemas.openxmlformats.org/drawingml/2006/main">
              <a:ext uri="{FF2B5EF4-FFF2-40B4-BE49-F238E27FC236}">
                <a16:creationId xmlns:a16="http://schemas.microsoft.com/office/drawing/2014/main" id="{0CC842F1-D6DE-4AE0-A794-EBD5BC05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495550"/>
            <a:ext cx="3429000" cy="771525"/>
          </a:xfrm>
          <a:prstGeom xmlns:a="http://schemas.openxmlformats.org/drawingml/2006/main" prst="roundRect">
            <a:avLst>
              <a:gd name="adj" fmla="val 9877"/>
            </a:avLst>
          </a:prstGeom>
          <a:solidFill xmlns:a="http://schemas.openxmlformats.org/drawingml/2006/main">
            <a:srgbClr val="FFFFFF">
              <a:alpha val="3000"/>
            </a:srgbClr>
          </a:solidFill>
          <a:ln xmlns:a="http://schemas.openxmlformats.org/drawingml/2006/main"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4" name="impl-orch-tree-title">
            <a:extLst xmlns:a="http://schemas.openxmlformats.org/drawingml/2006/main">
              <a:ext uri="{FF2B5EF4-FFF2-40B4-BE49-F238E27FC236}">
                <a16:creationId xmlns:a16="http://schemas.microsoft.com/office/drawing/2014/main" id="{9BB6D340-C186-4A2A-B81F-0327B2B9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495550"/>
            <a:ext cx="1237964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Orchestrator</a:t>
            </a:r>
          </a:p>
        </p:txBody>
      </p:sp>
      <p:sp>
        <p:nvSpPr>
          <p:cNvPr id="35" name="impl-orch-tree-body">
            <a:extLst xmlns:a="http://schemas.openxmlformats.org/drawingml/2006/main">
              <a:ext uri="{FF2B5EF4-FFF2-40B4-BE49-F238E27FC236}">
                <a16:creationId xmlns:a16="http://schemas.microsoft.com/office/drawing/2014/main" id="{B38935FE-1CEC-4F76-A5DD-DA1B964B0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743200"/>
            <a:ext cx="3607784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↳ recon   ↳ analysis   ↳ verification</a:t>
            </a:r>
          </a:p>
        </p:txBody>
      </p:sp>
      <p:sp>
        <p:nvSpPr>
          <p:cNvPr id="36" name="impl-orch-tree-note">
            <a:extLst xmlns:a="http://schemas.openxmlformats.org/drawingml/2006/main">
              <a:ext uri="{FF2B5EF4-FFF2-40B4-BE49-F238E27FC236}">
                <a16:creationId xmlns:a16="http://schemas.microsoft.com/office/drawing/2014/main" id="{7AFE511D-5381-47A7-9EE7-9FEB44311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981325"/>
            <a:ext cx="2837783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recon / analysis / verification 各司其职。</a:t>
            </a:r>
          </a:p>
        </p:txBody>
      </p:sp>
      <p:sp>
        <p:nvSpPr>
          <p:cNvPr id="37" name="impl-realtime-kicker">
            <a:extLst xmlns:a="http://schemas.openxmlformats.org/drawingml/2006/main">
              <a:ext uri="{FF2B5EF4-FFF2-40B4-BE49-F238E27FC236}">
                <a16:creationId xmlns:a16="http://schemas.microsoft.com/office/drawing/2014/main" id="{1B32DDE3-69FE-43AF-B68C-A378544CF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314450"/>
            <a:ext cx="408527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体验层</a:t>
            </a:r>
          </a:p>
        </p:txBody>
      </p:sp>
      <p:sp>
        <p:nvSpPr>
          <p:cNvPr id="38" name="impl-realtime-title">
            <a:extLst xmlns:a="http://schemas.openxmlformats.org/drawingml/2006/main">
              <a:ext uri="{FF2B5EF4-FFF2-40B4-BE49-F238E27FC236}">
                <a16:creationId xmlns:a16="http://schemas.microsoft.com/office/drawing/2014/main" id="{584D9E22-A328-404A-9159-21B4C6B6C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562100"/>
            <a:ext cx="3446716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实时可观测 + 可恢复</a:t>
            </a:r>
          </a:p>
        </p:txBody>
      </p:sp>
      <p:sp>
        <p:nvSpPr>
          <p:cNvPr id="39" name="bullet-dot-流式事件">
            <a:extLst xmlns:a="http://schemas.openxmlformats.org/drawingml/2006/main">
              <a:ext uri="{FF2B5EF4-FFF2-40B4-BE49-F238E27FC236}">
                <a16:creationId xmlns:a16="http://schemas.microsoft.com/office/drawing/2014/main" id="{7577D58F-E7ED-461B-A3DA-25CE15F51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400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40" name="bullet-title-流式事件">
            <a:extLst xmlns:a="http://schemas.openxmlformats.org/drawingml/2006/main">
              <a:ext uri="{FF2B5EF4-FFF2-40B4-BE49-F238E27FC236}">
                <a16:creationId xmlns:a16="http://schemas.microsoft.com/office/drawing/2014/main" id="{69DAFE3C-8290-4ADC-90CB-DEAFD4A8F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00300"/>
            <a:ext cx="32385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流式事件</a:t>
            </a:r>
          </a:p>
        </p:txBody>
      </p:sp>
      <p:sp>
        <p:nvSpPr>
          <p:cNvPr id="41" name="bullet-detail-流式事件">
            <a:extLst xmlns:a="http://schemas.openxmlformats.org/drawingml/2006/main">
              <a:ext uri="{FF2B5EF4-FFF2-40B4-BE49-F238E27FC236}">
                <a16:creationId xmlns:a16="http://schemas.microsoft.com/office/drawing/2014/main" id="{C6214C8D-4D91-4F48-8EE9-9EB175FF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600325"/>
            <a:ext cx="3238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thinking / tool_call / finding / checkpoint / task_end 全程回传。</a:t>
            </a:r>
          </a:p>
        </p:txBody>
      </p:sp>
      <p:sp>
        <p:nvSpPr>
          <p:cNvPr id="42" name="bullet-dot-前端重连">
            <a:extLst xmlns:a="http://schemas.openxmlformats.org/drawingml/2006/main">
              <a:ext uri="{FF2B5EF4-FFF2-40B4-BE49-F238E27FC236}">
                <a16:creationId xmlns:a16="http://schemas.microsoft.com/office/drawing/2014/main" id="{5CDC173E-1F60-4D31-B62F-19ACC720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0003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43" name="bullet-title-前端重连">
            <a:extLst xmlns:a="http://schemas.openxmlformats.org/drawingml/2006/main">
              <a:ext uri="{FF2B5EF4-FFF2-40B4-BE49-F238E27FC236}">
                <a16:creationId xmlns:a16="http://schemas.microsoft.com/office/drawing/2014/main" id="{3AE51D98-FD62-4E80-B9FE-EE3B28FF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00375"/>
            <a:ext cx="32385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前端重连</a:t>
            </a:r>
          </a:p>
        </p:txBody>
      </p:sp>
      <p:sp>
        <p:nvSpPr>
          <p:cNvPr id="44" name="bullet-detail-前端重连">
            <a:extLst xmlns:a="http://schemas.openxmlformats.org/drawingml/2006/main">
              <a:ext uri="{FF2B5EF4-FFF2-40B4-BE49-F238E27FC236}">
                <a16:creationId xmlns:a16="http://schemas.microsoft.com/office/drawing/2014/main" id="{1773C3B6-7553-45F6-B218-DD8351B6A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200400"/>
            <a:ext cx="3238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ReadableStream + 断线重连 + heartbeat，避免界面卡死。</a:t>
            </a:r>
          </a:p>
        </p:txBody>
      </p:sp>
      <p:sp>
        <p:nvSpPr>
          <p:cNvPr id="45" name="bullet-dot-任务恢复">
            <a:extLst xmlns:a="http://schemas.openxmlformats.org/drawingml/2006/main">
              <a:ext uri="{FF2B5EF4-FFF2-40B4-BE49-F238E27FC236}">
                <a16:creationId xmlns:a16="http://schemas.microsoft.com/office/drawing/2014/main" id="{A1E2E652-153A-468D-89E3-73BDC55F2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00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46" name="bullet-title-任务恢复">
            <a:extLst xmlns:a="http://schemas.openxmlformats.org/drawingml/2006/main">
              <a:ext uri="{FF2B5EF4-FFF2-40B4-BE49-F238E27FC236}">
                <a16:creationId xmlns:a16="http://schemas.microsoft.com/office/drawing/2014/main" id="{2B90C591-BE48-4696-8E38-E028A82B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600450"/>
            <a:ext cx="32385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任务恢复</a:t>
            </a:r>
          </a:p>
        </p:txBody>
      </p:sp>
      <p:sp>
        <p:nvSpPr>
          <p:cNvPr id="47" name="bullet-detail-任务恢复">
            <a:extLst xmlns:a="http://schemas.openxmlformats.org/drawingml/2006/main">
              <a:ext uri="{FF2B5EF4-FFF2-40B4-BE49-F238E27FC236}">
                <a16:creationId xmlns:a16="http://schemas.microsoft.com/office/drawing/2014/main" id="{68DFB6D3-A973-4CDE-9B10-96DAC09C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800475"/>
            <a:ext cx="3238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checkpoint、snapshot、workspace 缓存让长任务可中断可恢复。</a:t>
            </a:r>
          </a:p>
        </p:txBody>
      </p:sp>
      <p:sp>
        <p:nvSpPr>
          <p:cNvPr id="48" name="chip-thinking">
            <a:extLst xmlns:a="http://schemas.openxmlformats.org/drawingml/2006/main">
              <a:ext uri="{FF2B5EF4-FFF2-40B4-BE49-F238E27FC236}">
                <a16:creationId xmlns:a16="http://schemas.microsoft.com/office/drawing/2014/main" id="{84BC2202-8F88-4412-8CEA-C3B9C9D9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00525"/>
            <a:ext cx="10922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9" name="chip-text-thinking">
            <a:extLst xmlns:a="http://schemas.openxmlformats.org/drawingml/2006/main">
              <a:ext uri="{FF2B5EF4-FFF2-40B4-BE49-F238E27FC236}">
                <a16:creationId xmlns:a16="http://schemas.microsoft.com/office/drawing/2014/main" id="{E7344371-9E64-4052-885B-1516D5A2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067" y="4200525"/>
            <a:ext cx="642366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thinking</a:t>
            </a:r>
          </a:p>
        </p:txBody>
      </p:sp>
      <p:sp>
        <p:nvSpPr>
          <p:cNvPr id="50" name="chip-tool-call">
            <a:extLst xmlns:a="http://schemas.openxmlformats.org/drawingml/2006/main">
              <a:ext uri="{FF2B5EF4-FFF2-40B4-BE49-F238E27FC236}">
                <a16:creationId xmlns:a16="http://schemas.microsoft.com/office/drawing/2014/main" id="{98DD2FDB-992E-4CC2-8D65-424AA92C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4200525"/>
            <a:ext cx="10922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1" name="chip-text-tool-call">
            <a:extLst xmlns:a="http://schemas.openxmlformats.org/drawingml/2006/main">
              <a:ext uri="{FF2B5EF4-FFF2-40B4-BE49-F238E27FC236}">
                <a16:creationId xmlns:a16="http://schemas.microsoft.com/office/drawing/2014/main" id="{44216BC8-D7A7-40C6-948F-A438AF2ED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319" y="4200525"/>
            <a:ext cx="722662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tool_call</a:t>
            </a:r>
          </a:p>
        </p:txBody>
      </p:sp>
      <p:sp>
        <p:nvSpPr>
          <p:cNvPr id="52" name="chip-finding">
            <a:extLst xmlns:a="http://schemas.openxmlformats.org/drawingml/2006/main">
              <a:ext uri="{FF2B5EF4-FFF2-40B4-BE49-F238E27FC236}">
                <a16:creationId xmlns:a16="http://schemas.microsoft.com/office/drawing/2014/main" id="{50A1F321-62D9-4485-B637-642C05D8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1950" y="4200525"/>
            <a:ext cx="10922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3" name="chip-text-finding">
            <a:extLst xmlns:a="http://schemas.openxmlformats.org/drawingml/2006/main">
              <a:ext uri="{FF2B5EF4-FFF2-40B4-BE49-F238E27FC236}">
                <a16:creationId xmlns:a16="http://schemas.microsoft.com/office/drawing/2014/main" id="{0D962812-11EB-42B9-AD68-04A5EE8A4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7015" y="4200525"/>
            <a:ext cx="56207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finding</a:t>
            </a:r>
          </a:p>
        </p:txBody>
      </p:sp>
      <p:sp>
        <p:nvSpPr>
          <p:cNvPr id="54" name="chip-checkpoint">
            <a:extLst xmlns:a="http://schemas.openxmlformats.org/drawingml/2006/main">
              <a:ext uri="{FF2B5EF4-FFF2-40B4-BE49-F238E27FC236}">
                <a16:creationId xmlns:a16="http://schemas.microsoft.com/office/drawing/2014/main" id="{67B6A39A-97F2-4A12-AE8D-53D01207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410075"/>
            <a:ext cx="10922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5" name="chip-text-checkpoint">
            <a:extLst xmlns:a="http://schemas.openxmlformats.org/drawingml/2006/main">
              <a:ext uri="{FF2B5EF4-FFF2-40B4-BE49-F238E27FC236}">
                <a16:creationId xmlns:a16="http://schemas.microsoft.com/office/drawing/2014/main" id="{42173DD9-BE3C-4AB9-A88A-4B35BAB1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9771" y="4410075"/>
            <a:ext cx="802958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checkpoint</a:t>
            </a:r>
          </a:p>
        </p:txBody>
      </p:sp>
      <p:sp>
        <p:nvSpPr>
          <p:cNvPr id="56" name="chip-heartbeat">
            <a:extLst xmlns:a="http://schemas.openxmlformats.org/drawingml/2006/main">
              <a:ext uri="{FF2B5EF4-FFF2-40B4-BE49-F238E27FC236}">
                <a16:creationId xmlns:a16="http://schemas.microsoft.com/office/drawing/2014/main" id="{9B918AD3-667B-4FA4-90C4-6279AE7E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4410075"/>
            <a:ext cx="10922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7" name="chip-text-heartbeat">
            <a:extLst xmlns:a="http://schemas.openxmlformats.org/drawingml/2006/main">
              <a:ext uri="{FF2B5EF4-FFF2-40B4-BE49-F238E27FC236}">
                <a16:creationId xmlns:a16="http://schemas.microsoft.com/office/drawing/2014/main" id="{EDF90672-14AD-4749-9EE7-50313BC4B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319" y="4410075"/>
            <a:ext cx="722662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heartbeat</a:t>
            </a:r>
          </a:p>
        </p:txBody>
      </p:sp>
      <p:sp>
        <p:nvSpPr>
          <p:cNvPr id="58" name="chip-reconnect">
            <a:extLst xmlns:a="http://schemas.openxmlformats.org/drawingml/2006/main">
              <a:ext uri="{FF2B5EF4-FFF2-40B4-BE49-F238E27FC236}">
                <a16:creationId xmlns:a16="http://schemas.microsoft.com/office/drawing/2014/main" id="{0417623C-E0EF-4B84-AA30-40D77B2E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1950" y="4410075"/>
            <a:ext cx="10922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59" name="chip-text-reconnect">
            <a:extLst xmlns:a="http://schemas.openxmlformats.org/drawingml/2006/main">
              <a:ext uri="{FF2B5EF4-FFF2-40B4-BE49-F238E27FC236}">
                <a16:creationId xmlns:a16="http://schemas.microsoft.com/office/drawing/2014/main" id="{234C0E37-BC2E-4734-81C1-CC0803CB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6719" y="4410075"/>
            <a:ext cx="722662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reconnect</a:t>
            </a:r>
          </a:p>
        </p:txBody>
      </p:sp>
      <p:sp>
        <p:nvSpPr>
          <p:cNvPr id="60" name="impl-realtime-note">
            <a:extLst xmlns:a="http://schemas.openxmlformats.org/drawingml/2006/main">
              <a:ext uri="{FF2B5EF4-FFF2-40B4-BE49-F238E27FC236}">
                <a16:creationId xmlns:a16="http://schemas.microsoft.com/office/drawing/2014/main" id="{479CC75D-14E8-4D26-8AF5-7709F82C6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657725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知识增强由 RAG + Prompt Template + Rule Set 共同提供，保证可复用和可沉淀。</a:t>
            </a:r>
          </a:p>
        </p:txBody>
      </p:sp>
    </p:spTree>
    <p:extLst>
      <p:ext uri="{BB962C8B-B14F-4D97-AF65-F5344CB8AC3E}">
        <p14:creationId xmlns:p14="http://schemas.microsoft.com/office/powerpoint/2010/main" val="11712026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项目演示-推荐现场操作顺序">
            <a:extLst xmlns:a="http://schemas.openxmlformats.org/drawingml/2006/main">
              <a:ext uri="{FF2B5EF4-FFF2-40B4-BE49-F238E27FC236}">
                <a16:creationId xmlns:a16="http://schemas.microsoft.com/office/drawing/2014/main" id="{982F3AC8-BB8F-434E-B934-50D7412F3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74097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LIVE DEMO</a:t>
            </a:r>
          </a:p>
        </p:txBody>
      </p:sp>
      <p:sp>
        <p:nvSpPr>
          <p:cNvPr id="2" name="header-title-项目演示-推荐现场操作顺序">
            <a:extLst xmlns:a="http://schemas.openxmlformats.org/drawingml/2006/main">
              <a:ext uri="{FF2B5EF4-FFF2-40B4-BE49-F238E27FC236}">
                <a16:creationId xmlns:a16="http://schemas.microsoft.com/office/drawing/2014/main" id="{DE8982B7-B82E-4C97-A464-17038EEC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8125"/>
            <a:ext cx="12192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项目演示：推荐现场操作顺序</a:t>
            </a:r>
          </a:p>
        </p:txBody>
      </p:sp>
      <p:sp>
        <p:nvSpPr>
          <p:cNvPr id="3" name="header-subtitle-项目演示-推荐现场操作顺序">
            <a:extLst xmlns:a="http://schemas.openxmlformats.org/drawingml/2006/main">
              <a:ext uri="{FF2B5EF4-FFF2-40B4-BE49-F238E27FC236}">
                <a16:creationId xmlns:a16="http://schemas.microsoft.com/office/drawing/2014/main" id="{AE2F0E3F-F708-4DFD-B042-5D25387D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现场演示以 live demo 为主，截图作为兜底。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1B78A4F4-B25B-41E7-9B9E-9D242E8EC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04900"/>
            <a:ext cx="228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5" name="demo-statement">
            <a:extLst xmlns:a="http://schemas.openxmlformats.org/drawingml/2006/main">
              <a:ext uri="{FF2B5EF4-FFF2-40B4-BE49-F238E27FC236}">
                <a16:creationId xmlns:a16="http://schemas.microsoft.com/office/drawing/2014/main" id="{24008919-893F-4519-87F4-17CA93D1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276350"/>
            <a:ext cx="3333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建议按这个顺序走，领导只需要先看到结论，再看到过程。</a:t>
            </a:r>
          </a:p>
        </p:txBody>
      </p:sp>
      <p:sp>
        <p:nvSpPr>
          <p:cNvPr id="6" name="bullet-dot-1-dashboard">
            <a:extLst xmlns:a="http://schemas.openxmlformats.org/drawingml/2006/main">
              <a:ext uri="{FF2B5EF4-FFF2-40B4-BE49-F238E27FC236}">
                <a16:creationId xmlns:a16="http://schemas.microsoft.com/office/drawing/2014/main" id="{F6E78D24-79EF-4AAD-9DC3-8753DE2E5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33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7" name="bullet-title-1-dashboard">
            <a:extLst xmlns:a="http://schemas.openxmlformats.org/drawingml/2006/main">
              <a:ext uri="{FF2B5EF4-FFF2-40B4-BE49-F238E27FC236}">
                <a16:creationId xmlns:a16="http://schemas.microsoft.com/office/drawing/2014/main" id="{175175F3-8C8B-49CE-8582-34C37682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733550"/>
            <a:ext cx="3333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1. Dashboard</a:t>
            </a:r>
          </a:p>
        </p:txBody>
      </p:sp>
      <p:sp>
        <p:nvSpPr>
          <p:cNvPr id="8" name="bullet-detail-1-dashboard">
            <a:extLst xmlns:a="http://schemas.openxmlformats.org/drawingml/2006/main">
              <a:ext uri="{FF2B5EF4-FFF2-40B4-BE49-F238E27FC236}">
                <a16:creationId xmlns:a16="http://schemas.microsoft.com/office/drawing/2014/main" id="{7AD7DE5B-3478-4683-92E7-F1DB3DA6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1933575"/>
            <a:ext cx="333375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先展示总览、最近项目、任务、规则 / 模板统计。</a:t>
            </a:r>
          </a:p>
        </p:txBody>
      </p:sp>
      <p:sp>
        <p:nvSpPr>
          <p:cNvPr id="9" name="bullet-dot-2-项目管理">
            <a:extLst xmlns:a="http://schemas.openxmlformats.org/drawingml/2006/main">
              <a:ext uri="{FF2B5EF4-FFF2-40B4-BE49-F238E27FC236}">
                <a16:creationId xmlns:a16="http://schemas.microsoft.com/office/drawing/2014/main" id="{320FDBF8-DC03-4B89-A767-8E5FF696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09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10" name="bullet-title-2-项目管理">
            <a:extLst xmlns:a="http://schemas.openxmlformats.org/drawingml/2006/main">
              <a:ext uri="{FF2B5EF4-FFF2-40B4-BE49-F238E27FC236}">
                <a16:creationId xmlns:a16="http://schemas.microsoft.com/office/drawing/2014/main" id="{B3E0593D-DFBD-4595-8607-3EA008D5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209800"/>
            <a:ext cx="3333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2. 项目管理</a:t>
            </a:r>
          </a:p>
        </p:txBody>
      </p:sp>
      <p:sp>
        <p:nvSpPr>
          <p:cNvPr id="11" name="bullet-detail-2-项目管理">
            <a:extLst xmlns:a="http://schemas.openxmlformats.org/drawingml/2006/main">
              <a:ext uri="{FF2B5EF4-FFF2-40B4-BE49-F238E27FC236}">
                <a16:creationId xmlns:a16="http://schemas.microsoft.com/office/drawing/2014/main" id="{461D7EF4-D769-413D-99F7-7CF74EC0A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409825"/>
            <a:ext cx="333375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再看仓库 / ZIP、分支、成员、项目详情。</a:t>
            </a:r>
          </a:p>
        </p:txBody>
      </p:sp>
      <p:sp>
        <p:nvSpPr>
          <p:cNvPr id="12" name="bullet-dot-3-agent-审计">
            <a:extLst xmlns:a="http://schemas.openxmlformats.org/drawingml/2006/main">
              <a:ext uri="{FF2B5EF4-FFF2-40B4-BE49-F238E27FC236}">
                <a16:creationId xmlns:a16="http://schemas.microsoft.com/office/drawing/2014/main" id="{200B772B-50C3-4153-B185-F0F85FAB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86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13" name="bullet-title-3-agent-审计">
            <a:extLst xmlns:a="http://schemas.openxmlformats.org/drawingml/2006/main">
              <a:ext uri="{FF2B5EF4-FFF2-40B4-BE49-F238E27FC236}">
                <a16:creationId xmlns:a16="http://schemas.microsoft.com/office/drawing/2014/main" id="{7FCD9908-51A6-43F0-A387-39BBBE32A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686050"/>
            <a:ext cx="3333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3. Agent 审计</a:t>
            </a:r>
          </a:p>
        </p:txBody>
      </p:sp>
      <p:sp>
        <p:nvSpPr>
          <p:cNvPr id="14" name="bullet-detail-3-agent-审计">
            <a:extLst xmlns:a="http://schemas.openxmlformats.org/drawingml/2006/main">
              <a:ext uri="{FF2B5EF4-FFF2-40B4-BE49-F238E27FC236}">
                <a16:creationId xmlns:a16="http://schemas.microsoft.com/office/drawing/2014/main" id="{A73736B5-CE47-49DB-8A29-30F6536C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886075"/>
            <a:ext cx="3333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现场看实时事件流、任务树、Finding、Checkpoint。</a:t>
            </a:r>
          </a:p>
        </p:txBody>
      </p:sp>
      <p:sp>
        <p:nvSpPr>
          <p:cNvPr id="15" name="bullet-dot-4-报告页">
            <a:extLst xmlns:a="http://schemas.openxmlformats.org/drawingml/2006/main">
              <a:ext uri="{FF2B5EF4-FFF2-40B4-BE49-F238E27FC236}">
                <a16:creationId xmlns:a16="http://schemas.microsoft.com/office/drawing/2014/main" id="{BA6E1EEB-57F2-47F0-A34C-EEC2BA125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305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16" name="bullet-title-4-报告页">
            <a:extLst xmlns:a="http://schemas.openxmlformats.org/drawingml/2006/main">
              <a:ext uri="{FF2B5EF4-FFF2-40B4-BE49-F238E27FC236}">
                <a16:creationId xmlns:a16="http://schemas.microsoft.com/office/drawing/2014/main" id="{87D7FA3F-193A-49B7-B1F6-D9BCD43DC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305175"/>
            <a:ext cx="3333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4. 报告页</a:t>
            </a:r>
          </a:p>
        </p:txBody>
      </p:sp>
      <p:sp>
        <p:nvSpPr>
          <p:cNvPr id="17" name="bullet-detail-4-报告页">
            <a:extLst xmlns:a="http://schemas.openxmlformats.org/drawingml/2006/main">
              <a:ext uri="{FF2B5EF4-FFF2-40B4-BE49-F238E27FC236}">
                <a16:creationId xmlns:a16="http://schemas.microsoft.com/office/drawing/2014/main" id="{D2C8FBAA-044F-4C7F-9F58-1EC74300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505200"/>
            <a:ext cx="3333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最后打开任务报告，展示问题定位和 PDF / JSON 导出。</a:t>
            </a:r>
          </a:p>
        </p:txBody>
      </p:sp>
      <p:sp>
        <p:nvSpPr>
          <p:cNvPr id="18" name="bullet-dot-5-截图兜底">
            <a:extLst xmlns:a="http://schemas.openxmlformats.org/drawingml/2006/main">
              <a:ext uri="{FF2B5EF4-FFF2-40B4-BE49-F238E27FC236}">
                <a16:creationId xmlns:a16="http://schemas.microsoft.com/office/drawing/2014/main" id="{E93D3DDC-86AA-4A5D-B686-11353A07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24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19" name="bullet-title-5-截图兜底">
            <a:extLst xmlns:a="http://schemas.openxmlformats.org/drawingml/2006/main">
              <a:ext uri="{FF2B5EF4-FFF2-40B4-BE49-F238E27FC236}">
                <a16:creationId xmlns:a16="http://schemas.microsoft.com/office/drawing/2014/main" id="{F5FFDD85-1DC9-409D-B53A-464649001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924300"/>
            <a:ext cx="3333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5. 截图兜底</a:t>
            </a:r>
          </a:p>
        </p:txBody>
      </p:sp>
      <p:sp>
        <p:nvSpPr>
          <p:cNvPr id="20" name="bullet-detail-5-截图兜底">
            <a:extLst xmlns:a="http://schemas.openxmlformats.org/drawingml/2006/main">
              <a:ext uri="{FF2B5EF4-FFF2-40B4-BE49-F238E27FC236}">
                <a16:creationId xmlns:a16="http://schemas.microsoft.com/office/drawing/2014/main" id="{22EF5F7E-0DE3-4E64-A982-B4B4BE78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4124325"/>
            <a:ext cx="3333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若网络、鉴权或流式输出不稳，直接切备用图，不影响主结论。</a:t>
            </a:r>
          </a:p>
        </p:txBody>
      </p:sp>
      <p:sp>
        <p:nvSpPr>
          <p:cNvPr id="21" name="chip-实时事件流">
            <a:extLst xmlns:a="http://schemas.openxmlformats.org/drawingml/2006/main">
              <a:ext uri="{FF2B5EF4-FFF2-40B4-BE49-F238E27FC236}">
                <a16:creationId xmlns:a16="http://schemas.microsoft.com/office/drawing/2014/main" id="{443DD61D-1A86-4523-BD5B-1C3771DB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43425"/>
            <a:ext cx="11239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2" name="chip-text-实时事件流">
            <a:extLst xmlns:a="http://schemas.openxmlformats.org/drawingml/2006/main">
              <a:ext uri="{FF2B5EF4-FFF2-40B4-BE49-F238E27FC236}">
                <a16:creationId xmlns:a16="http://schemas.microsoft.com/office/drawing/2014/main" id="{7F60AFD8-E8FC-4660-9252-F89341F3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504" y="4543425"/>
            <a:ext cx="680942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实时事件流</a:t>
            </a:r>
          </a:p>
        </p:txBody>
      </p:sp>
      <p:sp>
        <p:nvSpPr>
          <p:cNvPr id="23" name="chip-任务树">
            <a:extLst xmlns:a="http://schemas.openxmlformats.org/drawingml/2006/main">
              <a:ext uri="{FF2B5EF4-FFF2-40B4-BE49-F238E27FC236}">
                <a16:creationId xmlns:a16="http://schemas.microsoft.com/office/drawing/2014/main" id="{6A3B6511-9298-40F7-AC22-6DF020B72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43425"/>
            <a:ext cx="11239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4" name="chip-text-任务树">
            <a:extLst xmlns:a="http://schemas.openxmlformats.org/drawingml/2006/main">
              <a:ext uri="{FF2B5EF4-FFF2-40B4-BE49-F238E27FC236}">
                <a16:creationId xmlns:a16="http://schemas.microsoft.com/office/drawing/2014/main" id="{85CB1DE9-85BA-4D1D-A8B0-86BD75844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7861" y="4543425"/>
            <a:ext cx="408527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任务树</a:t>
            </a:r>
          </a:p>
        </p:txBody>
      </p:sp>
      <p:sp>
        <p:nvSpPr>
          <p:cNvPr id="25" name="chip-finding">
            <a:extLst xmlns:a="http://schemas.openxmlformats.org/drawingml/2006/main">
              <a:ext uri="{FF2B5EF4-FFF2-40B4-BE49-F238E27FC236}">
                <a16:creationId xmlns:a16="http://schemas.microsoft.com/office/drawing/2014/main" id="{FB467FED-AEF6-457D-972A-81CD0D60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543425"/>
            <a:ext cx="11239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6" name="chip-text-finding">
            <a:extLst xmlns:a="http://schemas.openxmlformats.org/drawingml/2006/main">
              <a:ext uri="{FF2B5EF4-FFF2-40B4-BE49-F238E27FC236}">
                <a16:creationId xmlns:a16="http://schemas.microsoft.com/office/drawing/2014/main" id="{7B410B49-2FB6-4A43-A0A8-0F5D669C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1240" y="4543425"/>
            <a:ext cx="56207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Finding</a:t>
            </a:r>
          </a:p>
        </p:txBody>
      </p:sp>
      <p:sp>
        <p:nvSpPr>
          <p:cNvPr id="27" name="chip-checkpoint">
            <a:extLst xmlns:a="http://schemas.openxmlformats.org/drawingml/2006/main">
              <a:ext uri="{FF2B5EF4-FFF2-40B4-BE49-F238E27FC236}">
                <a16:creationId xmlns:a16="http://schemas.microsoft.com/office/drawing/2014/main" id="{7A131E64-9D85-4468-A065-D76337EB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752975"/>
            <a:ext cx="172402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28" name="chip-text-checkpoint">
            <a:extLst xmlns:a="http://schemas.openxmlformats.org/drawingml/2006/main">
              <a:ext uri="{FF2B5EF4-FFF2-40B4-BE49-F238E27FC236}">
                <a16:creationId xmlns:a16="http://schemas.microsoft.com/office/drawing/2014/main" id="{36F9AD01-A0D0-48F7-A33E-517651BB5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534" y="4752975"/>
            <a:ext cx="802958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Checkpoint</a:t>
            </a:r>
          </a:p>
        </p:txBody>
      </p:sp>
      <p:sp>
        <p:nvSpPr>
          <p:cNvPr id="29" name="chip-pdf-json">
            <a:extLst xmlns:a="http://schemas.openxmlformats.org/drawingml/2006/main">
              <a:ext uri="{FF2B5EF4-FFF2-40B4-BE49-F238E27FC236}">
                <a16:creationId xmlns:a16="http://schemas.microsoft.com/office/drawing/2014/main" id="{F392FC0C-4324-4283-A9A1-51BB479A3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752975"/>
            <a:ext cx="1724025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0" name="chip-text-pdf-json">
            <a:extLst xmlns:a="http://schemas.openxmlformats.org/drawingml/2006/main">
              <a:ext uri="{FF2B5EF4-FFF2-40B4-BE49-F238E27FC236}">
                <a16:creationId xmlns:a16="http://schemas.microsoft.com/office/drawing/2014/main" id="{C191999F-B73C-4B9C-BFA0-6FB064CE7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0759" y="4752975"/>
            <a:ext cx="802958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PDF / JSON</a:t>
            </a:r>
          </a:p>
        </p:txBody>
      </p:sp>
      <p:sp>
        <p:nvSpPr>
          <p:cNvPr id="31" name="demo-image-kicker">
            <a:extLst xmlns:a="http://schemas.openxmlformats.org/drawingml/2006/main">
              <a:ext uri="{FF2B5EF4-FFF2-40B4-BE49-F238E27FC236}">
                <a16:creationId xmlns:a16="http://schemas.microsoft.com/office/drawing/2014/main" id="{15E0EB86-7D50-4603-A553-1E1E3270B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76350"/>
            <a:ext cx="1194149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报告页 / 兜底截图</a:t>
            </a:r>
          </a:p>
        </p:txBody>
      </p:sp>
      <p:sp>
        <p:nvSpPr>
          <p:cNvPr id="32" name="demo-image-panel">
            <a:extLst xmlns:a="http://schemas.openxmlformats.org/drawingml/2006/main">
              <a:ext uri="{FF2B5EF4-FFF2-40B4-BE49-F238E27FC236}">
                <a16:creationId xmlns:a16="http://schemas.microsoft.com/office/drawing/2014/main" id="{498604BA-CBE6-4625-8E13-BF5D3282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504950"/>
            <a:ext cx="8382000" cy="4876800"/>
          </a:xfrm>
          <a:prstGeom xmlns:a="http://schemas.openxmlformats.org/drawingml/2006/main" prst="roundRect">
            <a:avLst>
              <a:gd name="adj" fmla="val 1563"/>
            </a:avLst>
          </a:prstGeom>
          <a:solidFill xmlns:a="http://schemas.openxmlformats.org/drawingml/2006/main">
            <a:srgbClr val="0F1218"/>
          </a:solidFill>
          <a:ln xmlns:a="http://schemas.openxmlformats.org/drawingml/2006/main" w="9525">
            <a:solidFill>
              <a:srgbClr val="263041"/>
            </a:solidFill>
            <a:prstDash val="solid"/>
          </a:ln>
        </p:spPr>
      </p:sp>
      <p:sp>
        <p:nvSpPr>
          <p:cNvPr id="33" name="chip-问题定位">
            <a:extLst xmlns:a="http://schemas.openxmlformats.org/drawingml/2006/main">
              <a:ext uri="{FF2B5EF4-FFF2-40B4-BE49-F238E27FC236}">
                <a16:creationId xmlns:a16="http://schemas.microsoft.com/office/drawing/2014/main" id="{9056D169-A5F3-40D6-83CE-98F8BFAE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6477000"/>
            <a:ext cx="41529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4" name="chip-text-问题定位">
            <a:extLst xmlns:a="http://schemas.openxmlformats.org/drawingml/2006/main">
              <a:ext uri="{FF2B5EF4-FFF2-40B4-BE49-F238E27FC236}">
                <a16:creationId xmlns:a16="http://schemas.microsoft.com/office/drawing/2014/main" id="{60FAEEBD-F257-4575-8EDF-B20D36ADD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4083" y="6477000"/>
            <a:ext cx="544735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问题定位</a:t>
            </a:r>
          </a:p>
        </p:txBody>
      </p:sp>
      <p:sp>
        <p:nvSpPr>
          <p:cNvPr id="35" name="chip-修复建议">
            <a:extLst xmlns:a="http://schemas.openxmlformats.org/drawingml/2006/main">
              <a:ext uri="{FF2B5EF4-FFF2-40B4-BE49-F238E27FC236}">
                <a16:creationId xmlns:a16="http://schemas.microsoft.com/office/drawing/2014/main" id="{570328C1-5A4D-4889-BC25-AECE9ADC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477000"/>
            <a:ext cx="41529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6" name="chip-text-修复建议">
            <a:extLst xmlns:a="http://schemas.openxmlformats.org/drawingml/2006/main">
              <a:ext uri="{FF2B5EF4-FFF2-40B4-BE49-F238E27FC236}">
                <a16:creationId xmlns:a16="http://schemas.microsoft.com/office/drawing/2014/main" id="{58372E10-463A-46E6-B905-A6E264971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3183" y="6477000"/>
            <a:ext cx="544735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修复建议</a:t>
            </a:r>
          </a:p>
        </p:txBody>
      </p:sp>
      <p:sp>
        <p:nvSpPr>
          <p:cNvPr id="37" name="chip-pdf-导出">
            <a:extLst xmlns:a="http://schemas.openxmlformats.org/drawingml/2006/main">
              <a:ext uri="{FF2B5EF4-FFF2-40B4-BE49-F238E27FC236}">
                <a16:creationId xmlns:a16="http://schemas.microsoft.com/office/drawing/2014/main" id="{0C316F90-0878-402A-806E-1021B4FA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6686550"/>
            <a:ext cx="41529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8" name="chip-text-pdf-导出">
            <a:extLst xmlns:a="http://schemas.openxmlformats.org/drawingml/2006/main">
              <a:ext uri="{FF2B5EF4-FFF2-40B4-BE49-F238E27FC236}">
                <a16:creationId xmlns:a16="http://schemas.microsoft.com/office/drawing/2014/main" id="{28EBCEEC-A755-4703-AB02-89F2A480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9699" y="6686550"/>
            <a:ext cx="593503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PDF 导出</a:t>
            </a:r>
          </a:p>
        </p:txBody>
      </p:sp>
      <p:sp>
        <p:nvSpPr>
          <p:cNvPr id="39" name="chip-json-导出">
            <a:extLst xmlns:a="http://schemas.openxmlformats.org/drawingml/2006/main">
              <a:ext uri="{FF2B5EF4-FFF2-40B4-BE49-F238E27FC236}">
                <a16:creationId xmlns:a16="http://schemas.microsoft.com/office/drawing/2014/main" id="{C2148A64-73E6-4C70-A577-5D7AC91E3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686550"/>
            <a:ext cx="41529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4000"/>
            </a:srgbClr>
          </a:solidFill>
          <a:ln xmlns:a="http://schemas.openxmlformats.org/drawingml/2006/main" w="9525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40" name="chip-text-json-导出">
            <a:extLst xmlns:a="http://schemas.openxmlformats.org/drawingml/2006/main">
              <a:ext uri="{FF2B5EF4-FFF2-40B4-BE49-F238E27FC236}">
                <a16:creationId xmlns:a16="http://schemas.microsoft.com/office/drawing/2014/main" id="{5ABFA6F5-B37D-4A75-860E-8C5E9F61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8651" y="6686550"/>
            <a:ext cx="673799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JSON 导出</a:t>
            </a:r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1d961e87914643"/>
          <a:stretch xmlns:a="http://schemas.openxmlformats.org/drawingml/2006/main"/>
        </p:blipFill>
        <p:spPr>
          <a:xfrm xmlns:a="http://schemas.openxmlformats.org/drawingml/2006/main">
            <a:off x="5286375" y="2186223"/>
            <a:ext cx="5429250" cy="383810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9769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阶段成果与下一步">
            <a:extLst xmlns:a="http://schemas.openxmlformats.org/drawingml/2006/main">
              <a:ext uri="{FF2B5EF4-FFF2-40B4-BE49-F238E27FC236}">
                <a16:creationId xmlns:a16="http://schemas.microsoft.com/office/drawing/2014/main" id="{F5909EA2-2727-4AE5-8D71-72D4E54E4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74097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MILESTONE</a:t>
            </a:r>
          </a:p>
        </p:txBody>
      </p:sp>
      <p:sp>
        <p:nvSpPr>
          <p:cNvPr id="2" name="header-title-阶段成果与下一步">
            <a:extLst xmlns:a="http://schemas.openxmlformats.org/drawingml/2006/main">
              <a:ext uri="{FF2B5EF4-FFF2-40B4-BE49-F238E27FC236}">
                <a16:creationId xmlns:a16="http://schemas.microsoft.com/office/drawing/2014/main" id="{C1CB7E7B-948D-4BD0-82F3-8211392C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8125"/>
            <a:ext cx="12192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阶段成果与下一步</a:t>
            </a:r>
          </a:p>
        </p:txBody>
      </p:sp>
      <p:sp>
        <p:nvSpPr>
          <p:cNvPr id="3" name="header-subtitle-阶段成果与下一步">
            <a:extLst xmlns:a="http://schemas.openxmlformats.org/drawingml/2006/main">
              <a:ext uri="{FF2B5EF4-FFF2-40B4-BE49-F238E27FC236}">
                <a16:creationId xmlns:a16="http://schemas.microsoft.com/office/drawing/2014/main" id="{D17E00B5-9F35-4562-BE31-05B09FC7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当前成果已经形成闭环，下一步重点放在知识、规则、监控和真实指标沉淀。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72163C94-482C-48E1-8042-B9A110731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23950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5" name="results-left-kicker">
            <a:extLst xmlns:a="http://schemas.openxmlformats.org/drawingml/2006/main">
              <a:ext uri="{FF2B5EF4-FFF2-40B4-BE49-F238E27FC236}">
                <a16:creationId xmlns:a16="http://schemas.microsoft.com/office/drawing/2014/main" id="{1575FBCC-A49C-4070-868E-5F1A5BCA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14450"/>
            <a:ext cx="544735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已经跑通</a:t>
            </a:r>
          </a:p>
        </p:txBody>
      </p:sp>
      <p:sp>
        <p:nvSpPr>
          <p:cNvPr id="6" name="results-left-title">
            <a:extLst xmlns:a="http://schemas.openxmlformats.org/drawingml/2006/main">
              <a:ext uri="{FF2B5EF4-FFF2-40B4-BE49-F238E27FC236}">
                <a16:creationId xmlns:a16="http://schemas.microsoft.com/office/drawing/2014/main" id="{2F3B996C-CC93-423A-B308-6004CC1F1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62100"/>
            <a:ext cx="342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DeepAudit 主线闭环已成立。</a:t>
            </a:r>
          </a:p>
        </p:txBody>
      </p:sp>
      <p:sp>
        <p:nvSpPr>
          <p:cNvPr id="7" name="bullet-dot-项目接入">
            <a:extLst xmlns:a="http://schemas.openxmlformats.org/drawingml/2006/main">
              <a:ext uri="{FF2B5EF4-FFF2-40B4-BE49-F238E27FC236}">
                <a16:creationId xmlns:a16="http://schemas.microsoft.com/office/drawing/2014/main" id="{1ABD968F-9503-46EB-A600-55932884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00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8" name="bullet-title-项目接入">
            <a:extLst xmlns:a="http://schemas.openxmlformats.org/drawingml/2006/main">
              <a:ext uri="{FF2B5EF4-FFF2-40B4-BE49-F238E27FC236}">
                <a16:creationId xmlns:a16="http://schemas.microsoft.com/office/drawing/2014/main" id="{6FF9CF98-C852-4FCC-B010-1C6B7219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400300"/>
            <a:ext cx="32385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项目接入</a:t>
            </a:r>
          </a:p>
        </p:txBody>
      </p:sp>
      <p:sp>
        <p:nvSpPr>
          <p:cNvPr id="9" name="bullet-detail-项目接入">
            <a:extLst xmlns:a="http://schemas.openxmlformats.org/drawingml/2006/main">
              <a:ext uri="{FF2B5EF4-FFF2-40B4-BE49-F238E27FC236}">
                <a16:creationId xmlns:a16="http://schemas.microsoft.com/office/drawing/2014/main" id="{769EF96B-44A3-40B1-8FAA-725B671CB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600325"/>
            <a:ext cx="323850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仓库 / ZIP / 分支 / 成员 / 回收站。</a:t>
            </a:r>
          </a:p>
        </p:txBody>
      </p:sp>
      <p:sp>
        <p:nvSpPr>
          <p:cNvPr id="10" name="bullet-dot-智能分析">
            <a:extLst xmlns:a="http://schemas.openxmlformats.org/drawingml/2006/main">
              <a:ext uri="{FF2B5EF4-FFF2-40B4-BE49-F238E27FC236}">
                <a16:creationId xmlns:a16="http://schemas.microsoft.com/office/drawing/2014/main" id="{EB11DF44-7631-485A-B832-905EB712E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bullet-title-智能分析">
            <a:extLst xmlns:a="http://schemas.openxmlformats.org/drawingml/2006/main">
              <a:ext uri="{FF2B5EF4-FFF2-40B4-BE49-F238E27FC236}">
                <a16:creationId xmlns:a16="http://schemas.microsoft.com/office/drawing/2014/main" id="{98560918-8E04-4D63-9A55-570E0AF5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857500"/>
            <a:ext cx="32385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智能分析</a:t>
            </a:r>
          </a:p>
        </p:txBody>
      </p:sp>
      <p:sp>
        <p:nvSpPr>
          <p:cNvPr id="12" name="bullet-detail-智能分析">
            <a:extLst xmlns:a="http://schemas.openxmlformats.org/drawingml/2006/main">
              <a:ext uri="{FF2B5EF4-FFF2-40B4-BE49-F238E27FC236}">
                <a16:creationId xmlns:a16="http://schemas.microsoft.com/office/drawing/2014/main" id="{CA1A2411-2681-46C7-B2B7-403AC03F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057525"/>
            <a:ext cx="323850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多智能体 + 外部工具优先 + RAG。</a:t>
            </a:r>
          </a:p>
        </p:txBody>
      </p:sp>
      <p:sp>
        <p:nvSpPr>
          <p:cNvPr id="13" name="bullet-dot-实时回传">
            <a:extLst xmlns:a="http://schemas.openxmlformats.org/drawingml/2006/main">
              <a:ext uri="{FF2B5EF4-FFF2-40B4-BE49-F238E27FC236}">
                <a16:creationId xmlns:a16="http://schemas.microsoft.com/office/drawing/2014/main" id="{C889A47B-507D-4946-8382-D3EE55FE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314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14" name="bullet-title-实时回传">
            <a:extLst xmlns:a="http://schemas.openxmlformats.org/drawingml/2006/main">
              <a:ext uri="{FF2B5EF4-FFF2-40B4-BE49-F238E27FC236}">
                <a16:creationId xmlns:a16="http://schemas.microsoft.com/office/drawing/2014/main" id="{74C9DA63-BEF3-494F-94F3-CCA0FEE3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314700"/>
            <a:ext cx="32385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实时回传</a:t>
            </a:r>
          </a:p>
        </p:txBody>
      </p:sp>
      <p:sp>
        <p:nvSpPr>
          <p:cNvPr id="15" name="bullet-detail-实时回传">
            <a:extLst xmlns:a="http://schemas.openxmlformats.org/drawingml/2006/main">
              <a:ext uri="{FF2B5EF4-FFF2-40B4-BE49-F238E27FC236}">
                <a16:creationId xmlns:a16="http://schemas.microsoft.com/office/drawing/2014/main" id="{34FC8A22-A9B3-4EF9-8D2D-70D638E0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514725"/>
            <a:ext cx="323850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SSE / WebSocket / heartbeat / reconnect。</a:t>
            </a:r>
          </a:p>
        </p:txBody>
      </p:sp>
      <p:sp>
        <p:nvSpPr>
          <p:cNvPr id="16" name="bullet-dot-报告交付">
            <a:extLst xmlns:a="http://schemas.openxmlformats.org/drawingml/2006/main">
              <a:ext uri="{FF2B5EF4-FFF2-40B4-BE49-F238E27FC236}">
                <a16:creationId xmlns:a16="http://schemas.microsoft.com/office/drawing/2014/main" id="{5714C1FC-FC1E-4E70-ACC1-51063303B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771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17" name="bullet-title-报告交付">
            <a:extLst xmlns:a="http://schemas.openxmlformats.org/drawingml/2006/main">
              <a:ext uri="{FF2B5EF4-FFF2-40B4-BE49-F238E27FC236}">
                <a16:creationId xmlns:a16="http://schemas.microsoft.com/office/drawing/2014/main" id="{5F1B3C30-DA32-4387-95C7-B1CD9A4FB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771900"/>
            <a:ext cx="32385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报告交付</a:t>
            </a:r>
          </a:p>
        </p:txBody>
      </p:sp>
      <p:sp>
        <p:nvSpPr>
          <p:cNvPr id="18" name="bullet-detail-报告交付">
            <a:extLst xmlns:a="http://schemas.openxmlformats.org/drawingml/2006/main">
              <a:ext uri="{FF2B5EF4-FFF2-40B4-BE49-F238E27FC236}">
                <a16:creationId xmlns:a16="http://schemas.microsoft.com/office/drawing/2014/main" id="{DC6ADBF8-BAB9-4AC6-B5DD-3409A7B05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971925"/>
            <a:ext cx="323850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任务详情、问题定位、PDF / JSON 导出。</a:t>
            </a:r>
          </a:p>
        </p:txBody>
      </p:sp>
      <p:sp>
        <p:nvSpPr>
          <p:cNvPr id="19" name="results-right-kicker">
            <a:extLst xmlns:a="http://schemas.openxmlformats.org/drawingml/2006/main">
              <a:ext uri="{FF2B5EF4-FFF2-40B4-BE49-F238E27FC236}">
                <a16:creationId xmlns:a16="http://schemas.microsoft.com/office/drawing/2014/main" id="{1A2775DC-B698-4B0D-802E-7674CF5C7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314450"/>
            <a:ext cx="408527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下一步</a:t>
            </a:r>
          </a:p>
        </p:txBody>
      </p:sp>
      <p:sp>
        <p:nvSpPr>
          <p:cNvPr id="20" name="results-right-title">
            <a:extLst xmlns:a="http://schemas.openxmlformats.org/drawingml/2006/main">
              <a:ext uri="{FF2B5EF4-FFF2-40B4-BE49-F238E27FC236}">
                <a16:creationId xmlns:a16="http://schemas.microsoft.com/office/drawing/2014/main" id="{A0FD581B-4F4F-4BBF-963F-C72E1F34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562100"/>
            <a:ext cx="3429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把平台化能力沉淀成可持续运营能力。</a:t>
            </a:r>
          </a:p>
        </p:txBody>
      </p:sp>
      <p:sp>
        <p:nvSpPr>
          <p:cNvPr id="21" name="bullet-dot-知识库">
            <a:extLst xmlns:a="http://schemas.openxmlformats.org/drawingml/2006/main">
              <a:ext uri="{FF2B5EF4-FFF2-40B4-BE49-F238E27FC236}">
                <a16:creationId xmlns:a16="http://schemas.microsoft.com/office/drawing/2014/main" id="{0AA1A4F1-AA91-4F46-B285-995F27CB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00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22" name="bullet-title-知识库">
            <a:extLst xmlns:a="http://schemas.openxmlformats.org/drawingml/2006/main">
              <a:ext uri="{FF2B5EF4-FFF2-40B4-BE49-F238E27FC236}">
                <a16:creationId xmlns:a16="http://schemas.microsoft.com/office/drawing/2014/main" id="{89C4080D-BD9D-4934-B800-7B40BF71E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00300"/>
            <a:ext cx="32385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知识库</a:t>
            </a:r>
          </a:p>
        </p:txBody>
      </p:sp>
      <p:sp>
        <p:nvSpPr>
          <p:cNvPr id="23" name="bullet-detail-知识库">
            <a:extLst xmlns:a="http://schemas.openxmlformats.org/drawingml/2006/main">
              <a:ext uri="{FF2B5EF4-FFF2-40B4-BE49-F238E27FC236}">
                <a16:creationId xmlns:a16="http://schemas.microsoft.com/office/drawing/2014/main" id="{390C431E-AEBD-4C3D-8705-F9A4CDB6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600325"/>
            <a:ext cx="323850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补充真实场景、误报边界和修复建议。</a:t>
            </a:r>
          </a:p>
        </p:txBody>
      </p:sp>
      <p:sp>
        <p:nvSpPr>
          <p:cNvPr id="24" name="bullet-dot-规则覆盖">
            <a:extLst xmlns:a="http://schemas.openxmlformats.org/drawingml/2006/main">
              <a:ext uri="{FF2B5EF4-FFF2-40B4-BE49-F238E27FC236}">
                <a16:creationId xmlns:a16="http://schemas.microsoft.com/office/drawing/2014/main" id="{A1A836A5-2EFC-49FD-A8F4-D4D6DEDD5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857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25" name="bullet-title-规则覆盖">
            <a:extLst xmlns:a="http://schemas.openxmlformats.org/drawingml/2006/main">
              <a:ext uri="{FF2B5EF4-FFF2-40B4-BE49-F238E27FC236}">
                <a16:creationId xmlns:a16="http://schemas.microsoft.com/office/drawing/2014/main" id="{8CF8018B-BB4B-4DB3-9B17-579D172D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57500"/>
            <a:ext cx="32385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规则覆盖</a:t>
            </a:r>
          </a:p>
        </p:txBody>
      </p:sp>
      <p:sp>
        <p:nvSpPr>
          <p:cNvPr id="26" name="bullet-detail-规则覆盖">
            <a:extLst xmlns:a="http://schemas.openxmlformats.org/drawingml/2006/main">
              <a:ext uri="{FF2B5EF4-FFF2-40B4-BE49-F238E27FC236}">
                <a16:creationId xmlns:a16="http://schemas.microsoft.com/office/drawing/2014/main" id="{1B1E7C35-731D-4A22-9342-768E56D6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057525"/>
            <a:ext cx="323850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扩充语言、框架和项目类型。</a:t>
            </a:r>
          </a:p>
        </p:txBody>
      </p:sp>
      <p:sp>
        <p:nvSpPr>
          <p:cNvPr id="27" name="bullet-dot-部署与监控">
            <a:extLst xmlns:a="http://schemas.openxmlformats.org/drawingml/2006/main">
              <a:ext uri="{FF2B5EF4-FFF2-40B4-BE49-F238E27FC236}">
                <a16:creationId xmlns:a16="http://schemas.microsoft.com/office/drawing/2014/main" id="{DB57DFF6-84D1-496E-82EE-D0411DB9A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14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28" name="bullet-title-部署与监控">
            <a:extLst xmlns:a="http://schemas.openxmlformats.org/drawingml/2006/main">
              <a:ext uri="{FF2B5EF4-FFF2-40B4-BE49-F238E27FC236}">
                <a16:creationId xmlns:a16="http://schemas.microsoft.com/office/drawing/2014/main" id="{2EA51DEC-5174-4194-B71D-AA232FAAC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14700"/>
            <a:ext cx="32385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部署与监控</a:t>
            </a:r>
          </a:p>
        </p:txBody>
      </p:sp>
      <p:sp>
        <p:nvSpPr>
          <p:cNvPr id="29" name="bullet-detail-部署与监控">
            <a:extLst xmlns:a="http://schemas.openxmlformats.org/drawingml/2006/main">
              <a:ext uri="{FF2B5EF4-FFF2-40B4-BE49-F238E27FC236}">
                <a16:creationId xmlns:a16="http://schemas.microsoft.com/office/drawing/2014/main" id="{3A3951BC-9AC0-4243-9C40-B8AAD5F6D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514725"/>
            <a:ext cx="323850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完善 ASGI / Redis / Nginx / 日志监控。</a:t>
            </a:r>
          </a:p>
        </p:txBody>
      </p:sp>
      <p:sp>
        <p:nvSpPr>
          <p:cNvPr id="30" name="bullet-dot-真实指标">
            <a:extLst xmlns:a="http://schemas.openxmlformats.org/drawingml/2006/main">
              <a:ext uri="{FF2B5EF4-FFF2-40B4-BE49-F238E27FC236}">
                <a16:creationId xmlns:a16="http://schemas.microsoft.com/office/drawing/2014/main" id="{EFF189C3-50C7-4ECB-941B-6F3EE73D6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771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31" name="bullet-title-真实指标">
            <a:extLst xmlns:a="http://schemas.openxmlformats.org/drawingml/2006/main">
              <a:ext uri="{FF2B5EF4-FFF2-40B4-BE49-F238E27FC236}">
                <a16:creationId xmlns:a16="http://schemas.microsoft.com/office/drawing/2014/main" id="{137E09C1-0DA2-4D2C-BABF-CECF7916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771900"/>
            <a:ext cx="32385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真实指标</a:t>
            </a:r>
          </a:p>
        </p:txBody>
      </p:sp>
      <p:sp>
        <p:nvSpPr>
          <p:cNvPr id="32" name="bullet-detail-真实指标">
            <a:extLst xmlns:a="http://schemas.openxmlformats.org/drawingml/2006/main">
              <a:ext uri="{FF2B5EF4-FFF2-40B4-BE49-F238E27FC236}">
                <a16:creationId xmlns:a16="http://schemas.microsoft.com/office/drawing/2014/main" id="{CABB08E0-58DB-450D-9C62-683295487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971925"/>
            <a:ext cx="323850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留出运营位，现场前补真实值，不硬编数字。</a:t>
            </a:r>
          </a:p>
        </p:txBody>
      </p:sp>
      <p:sp>
        <p:nvSpPr>
          <p:cNvPr id="33" name="results-metrics-kicker">
            <a:extLst xmlns:a="http://schemas.openxmlformats.org/drawingml/2006/main">
              <a:ext uri="{FF2B5EF4-FFF2-40B4-BE49-F238E27FC236}">
                <a16:creationId xmlns:a16="http://schemas.microsoft.com/office/drawing/2014/main" id="{63DA04AC-BF86-43BD-A943-C923A932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314450"/>
            <a:ext cx="680942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预留指标位</a:t>
            </a:r>
          </a:p>
        </p:txBody>
      </p:sp>
      <p:sp>
        <p:nvSpPr>
          <p:cNvPr id="34" name="metric-value-审计任务数">
            <a:extLst xmlns:a="http://schemas.openxmlformats.org/drawingml/2006/main">
              <a:ext uri="{FF2B5EF4-FFF2-40B4-BE49-F238E27FC236}">
                <a16:creationId xmlns:a16="http://schemas.microsoft.com/office/drawing/2014/main" id="{5EB64009-48AB-4E6D-8E53-A09F7D821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600200"/>
            <a:ext cx="229362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300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—</a:t>
            </a:r>
          </a:p>
        </p:txBody>
      </p:sp>
      <p:sp>
        <p:nvSpPr>
          <p:cNvPr id="35" name="metric-label-审计任务数">
            <a:extLst xmlns:a="http://schemas.openxmlformats.org/drawingml/2006/main">
              <a:ext uri="{FF2B5EF4-FFF2-40B4-BE49-F238E27FC236}">
                <a16:creationId xmlns:a16="http://schemas.microsoft.com/office/drawing/2014/main" id="{8239ACB1-0EB6-4FE8-ACE9-97879E7C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057400"/>
            <a:ext cx="777811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审计任务数</a:t>
            </a:r>
          </a:p>
        </p:txBody>
      </p:sp>
      <p:sp>
        <p:nvSpPr>
          <p:cNvPr id="36" name="metric-note-审计任务数">
            <a:extLst xmlns:a="http://schemas.openxmlformats.org/drawingml/2006/main">
              <a:ext uri="{FF2B5EF4-FFF2-40B4-BE49-F238E27FC236}">
                <a16:creationId xmlns:a16="http://schemas.microsoft.com/office/drawing/2014/main" id="{BF8103D7-31B2-4969-A067-23C91106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38400"/>
            <a:ext cx="631984" cy="123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A0A9BA"/>
                </a:solidFill>
                <a:latin typeface="Menlo"/>
                <a:ea typeface="Menlo"/>
                <a:cs typeface="Menlo"/>
              </a:rPr>
              <a:t>待补真实值</a:t>
            </a:r>
          </a:p>
        </p:txBody>
      </p:sp>
      <p:sp>
        <p:nvSpPr>
          <p:cNvPr id="37" name="metric-value-有效发现数">
            <a:extLst xmlns:a="http://schemas.openxmlformats.org/drawingml/2006/main">
              <a:ext uri="{FF2B5EF4-FFF2-40B4-BE49-F238E27FC236}">
                <a16:creationId xmlns:a16="http://schemas.microsoft.com/office/drawing/2014/main" id="{C7EE6300-9F31-452F-903E-B6B2ED80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600200"/>
            <a:ext cx="229362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300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—</a:t>
            </a:r>
          </a:p>
        </p:txBody>
      </p:sp>
      <p:sp>
        <p:nvSpPr>
          <p:cNvPr id="38" name="metric-label-有效发现数">
            <a:extLst xmlns:a="http://schemas.openxmlformats.org/drawingml/2006/main">
              <a:ext uri="{FF2B5EF4-FFF2-40B4-BE49-F238E27FC236}">
                <a16:creationId xmlns:a16="http://schemas.microsoft.com/office/drawing/2014/main" id="{61260DBB-C857-477A-B930-565DD9F1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057400"/>
            <a:ext cx="777811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有效发现数</a:t>
            </a:r>
          </a:p>
        </p:txBody>
      </p:sp>
      <p:sp>
        <p:nvSpPr>
          <p:cNvPr id="39" name="metric-note-有效发现数">
            <a:extLst xmlns:a="http://schemas.openxmlformats.org/drawingml/2006/main">
              <a:ext uri="{FF2B5EF4-FFF2-40B4-BE49-F238E27FC236}">
                <a16:creationId xmlns:a16="http://schemas.microsoft.com/office/drawing/2014/main" id="{406FA169-49C6-477B-A5C2-1481F191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438400"/>
            <a:ext cx="631984" cy="123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A0A9BA"/>
                </a:solidFill>
                <a:latin typeface="Menlo"/>
                <a:ea typeface="Menlo"/>
                <a:cs typeface="Menlo"/>
              </a:rPr>
              <a:t>待补真实值</a:t>
            </a:r>
          </a:p>
        </p:txBody>
      </p:sp>
      <p:sp>
        <p:nvSpPr>
          <p:cNvPr id="40" name="metric-value-报告导出数">
            <a:extLst xmlns:a="http://schemas.openxmlformats.org/drawingml/2006/main">
              <a:ext uri="{FF2B5EF4-FFF2-40B4-BE49-F238E27FC236}">
                <a16:creationId xmlns:a16="http://schemas.microsoft.com/office/drawing/2014/main" id="{CDDC95C6-2407-45F6-AE2E-CD81628D0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676525"/>
            <a:ext cx="229362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300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—</a:t>
            </a:r>
          </a:p>
        </p:txBody>
      </p:sp>
      <p:sp>
        <p:nvSpPr>
          <p:cNvPr id="41" name="metric-label-报告导出数">
            <a:extLst xmlns:a="http://schemas.openxmlformats.org/drawingml/2006/main">
              <a:ext uri="{FF2B5EF4-FFF2-40B4-BE49-F238E27FC236}">
                <a16:creationId xmlns:a16="http://schemas.microsoft.com/office/drawing/2014/main" id="{43400B6B-3E54-4D5B-B914-D4EC4B994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33725"/>
            <a:ext cx="777811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报告导出数</a:t>
            </a:r>
          </a:p>
        </p:txBody>
      </p:sp>
      <p:sp>
        <p:nvSpPr>
          <p:cNvPr id="42" name="metric-note-报告导出数">
            <a:extLst xmlns:a="http://schemas.openxmlformats.org/drawingml/2006/main">
              <a:ext uri="{FF2B5EF4-FFF2-40B4-BE49-F238E27FC236}">
                <a16:creationId xmlns:a16="http://schemas.microsoft.com/office/drawing/2014/main" id="{86C7CDF0-1CC0-4299-8221-4066658A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514725"/>
            <a:ext cx="631984" cy="123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A0A9BA"/>
                </a:solidFill>
                <a:latin typeface="Menlo"/>
                <a:ea typeface="Menlo"/>
                <a:cs typeface="Menlo"/>
              </a:rPr>
              <a:t>待补真实值</a:t>
            </a:r>
          </a:p>
        </p:txBody>
      </p:sp>
      <p:sp>
        <p:nvSpPr>
          <p:cNvPr id="43" name="metric-value-知识库条目数">
            <a:extLst xmlns:a="http://schemas.openxmlformats.org/drawingml/2006/main">
              <a:ext uri="{FF2B5EF4-FFF2-40B4-BE49-F238E27FC236}">
                <a16:creationId xmlns:a16="http://schemas.microsoft.com/office/drawing/2014/main" id="{BD49A257-E00A-48BB-A9AA-7BDDC875E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76525"/>
            <a:ext cx="229362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3000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—</a:t>
            </a:r>
          </a:p>
        </p:txBody>
      </p:sp>
      <p:sp>
        <p:nvSpPr>
          <p:cNvPr id="44" name="metric-label-知识库条目数">
            <a:extLst xmlns:a="http://schemas.openxmlformats.org/drawingml/2006/main">
              <a:ext uri="{FF2B5EF4-FFF2-40B4-BE49-F238E27FC236}">
                <a16:creationId xmlns:a16="http://schemas.microsoft.com/office/drawing/2014/main" id="{0FF3E90D-2EA5-4708-8C2B-2BB0BCB0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33725"/>
            <a:ext cx="933355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知识库条目数</a:t>
            </a:r>
          </a:p>
        </p:txBody>
      </p:sp>
      <p:sp>
        <p:nvSpPr>
          <p:cNvPr id="45" name="metric-note-知识库条目数">
            <a:extLst xmlns:a="http://schemas.openxmlformats.org/drawingml/2006/main">
              <a:ext uri="{FF2B5EF4-FFF2-40B4-BE49-F238E27FC236}">
                <a16:creationId xmlns:a16="http://schemas.microsoft.com/office/drawing/2014/main" id="{0D23602B-ECC5-40E3-B098-C177C83D5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362325"/>
            <a:ext cx="631984" cy="123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975" b="0">
                <a:solidFill>
                  <a:srgbClr val="A0A9BA"/>
                </a:solidFill>
                <a:latin typeface="Menlo"/>
                <a:ea typeface="Menlo"/>
                <a:cs typeface="Menlo"/>
              </a:rPr>
              <a:t>待补真实值</a:t>
            </a:r>
          </a:p>
        </p:txBody>
      </p:sp>
      <p:sp>
        <p:nvSpPr>
          <p:cNvPr id="46" name="results-metrics-note">
            <a:extLst xmlns:a="http://schemas.openxmlformats.org/drawingml/2006/main">
              <a:ext uri="{FF2B5EF4-FFF2-40B4-BE49-F238E27FC236}">
                <a16:creationId xmlns:a16="http://schemas.microsoft.com/office/drawing/2014/main" id="{78F495F0-604C-4392-84A4-4BB04319F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790950"/>
            <a:ext cx="438150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这些位置保留给现场前补充的真实运行数据。</a:t>
            </a:r>
          </a:p>
        </p:txBody>
      </p:sp>
    </p:spTree>
    <p:extLst>
      <p:ext uri="{BB962C8B-B14F-4D97-AF65-F5344CB8AC3E}">
        <p14:creationId xmlns:p14="http://schemas.microsoft.com/office/powerpoint/2010/main" val="18890816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核心-api-与页面映射">
            <a:extLst xmlns:a="http://schemas.openxmlformats.org/drawingml/2006/main">
              <a:ext uri="{FF2B5EF4-FFF2-40B4-BE49-F238E27FC236}">
                <a16:creationId xmlns:a16="http://schemas.microsoft.com/office/drawing/2014/main" id="{EC5D4A3E-5CC1-4A33-ADCA-1BD4D222F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8086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APPENDIX</a:t>
            </a:r>
          </a:p>
        </p:txBody>
      </p:sp>
      <p:sp>
        <p:nvSpPr>
          <p:cNvPr id="2" name="header-title-核心-api-与页面映射">
            <a:extLst xmlns:a="http://schemas.openxmlformats.org/drawingml/2006/main">
              <a:ext uri="{FF2B5EF4-FFF2-40B4-BE49-F238E27FC236}">
                <a16:creationId xmlns:a16="http://schemas.microsoft.com/office/drawing/2014/main" id="{54FF3351-FD61-473A-B385-7C8AA32B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8125"/>
            <a:ext cx="12192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核心 API 与页面映射</a:t>
            </a:r>
          </a:p>
        </p:txBody>
      </p:sp>
      <p:sp>
        <p:nvSpPr>
          <p:cNvPr id="3" name="header-subtitle-核心-api-与页面映射">
            <a:extLst xmlns:a="http://schemas.openxmlformats.org/drawingml/2006/main">
              <a:ext uri="{FF2B5EF4-FFF2-40B4-BE49-F238E27FC236}">
                <a16:creationId xmlns:a16="http://schemas.microsoft.com/office/drawing/2014/main" id="{06DA8B45-2B28-4A4D-8171-04BBDB84D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这页给领导和现场问答做技术备份：页面怎么进，接口怎么挂。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7AB2BDF9-0F4B-401D-B4E2-93E79F46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23950"/>
            <a:ext cx="200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5" name="appendix-pages-kicker">
            <a:extLst xmlns:a="http://schemas.openxmlformats.org/drawingml/2006/main">
              <a:ext uri="{FF2B5EF4-FFF2-40B4-BE49-F238E27FC236}">
                <a16:creationId xmlns:a16="http://schemas.microsoft.com/office/drawing/2014/main" id="{A580BE22-FE11-4ED8-9CA8-8D19EB21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14450"/>
            <a:ext cx="544735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前端页面</a:t>
            </a:r>
          </a:p>
        </p:txBody>
      </p:sp>
      <p:sp>
        <p:nvSpPr>
          <p:cNvPr id="6" name="appendix-pages-title">
            <a:extLst xmlns:a="http://schemas.openxmlformats.org/drawingml/2006/main">
              <a:ext uri="{FF2B5EF4-FFF2-40B4-BE49-F238E27FC236}">
                <a16:creationId xmlns:a16="http://schemas.microsoft.com/office/drawing/2014/main" id="{8D07E44E-0607-4A04-A41E-A5B72A8CE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62100"/>
            <a:ext cx="221742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独立路由入口</a:t>
            </a:r>
          </a:p>
        </p:txBody>
      </p:sp>
      <p:sp>
        <p:nvSpPr>
          <p:cNvPr id="7" name="route-path-agent审计">
            <a:extLst xmlns:a="http://schemas.openxmlformats.org/drawingml/2006/main">
              <a:ext uri="{FF2B5EF4-FFF2-40B4-BE49-F238E27FC236}">
                <a16:creationId xmlns:a16="http://schemas.microsoft.com/office/drawing/2014/main" id="{F9ED68EA-FE41-40BF-B39E-87EDE8874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38350"/>
            <a:ext cx="1065847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   Agent审计</a:t>
            </a:r>
          </a:p>
        </p:txBody>
      </p:sp>
      <p:sp>
        <p:nvSpPr>
          <p:cNvPr id="8" name="route-desc-agent审计">
            <a:extLst xmlns:a="http://schemas.openxmlformats.org/drawingml/2006/main">
              <a:ext uri="{FF2B5EF4-FFF2-40B4-BE49-F238E27FC236}">
                <a16:creationId xmlns:a16="http://schemas.microsoft.com/office/drawing/2014/main" id="{8D0E0D0C-1E42-4AC7-A964-B2CB08E7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19325"/>
            <a:ext cx="2377631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核心工作台，创建并观察 Agent 任务。</a:t>
            </a:r>
          </a:p>
        </p:txBody>
      </p:sp>
      <p:sp>
        <p:nvSpPr>
          <p:cNvPr id="9" name="route-path-dashboard-仪表盘">
            <a:extLst xmlns:a="http://schemas.openxmlformats.org/drawingml/2006/main">
              <a:ext uri="{FF2B5EF4-FFF2-40B4-BE49-F238E27FC236}">
                <a16:creationId xmlns:a16="http://schemas.microsoft.com/office/drawing/2014/main" id="{C5BC5C6A-54B6-498B-B32A-11B4B4A5A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466975"/>
            <a:ext cx="1555718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/dashboard   仪表盘</a:t>
            </a:r>
          </a:p>
        </p:txBody>
      </p:sp>
      <p:sp>
        <p:nvSpPr>
          <p:cNvPr id="10" name="route-desc-dashboard-仪表盘">
            <a:extLst xmlns:a="http://schemas.openxmlformats.org/drawingml/2006/main">
              <a:ext uri="{FF2B5EF4-FFF2-40B4-BE49-F238E27FC236}">
                <a16:creationId xmlns:a16="http://schemas.microsoft.com/office/drawing/2014/main" id="{38E37E8E-1965-4124-844A-CFE3E8259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47950"/>
            <a:ext cx="190681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总览、最近项目、任务与统计。</a:t>
            </a:r>
          </a:p>
        </p:txBody>
      </p:sp>
      <p:sp>
        <p:nvSpPr>
          <p:cNvPr id="11" name="route-path-projects-项目管理">
            <a:extLst xmlns:a="http://schemas.openxmlformats.org/drawingml/2006/main">
              <a:ext uri="{FF2B5EF4-FFF2-40B4-BE49-F238E27FC236}">
                <a16:creationId xmlns:a16="http://schemas.microsoft.com/office/drawing/2014/main" id="{056B3410-383E-4EE0-BB63-152E9E4F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95600"/>
            <a:ext cx="1615535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/projects   项目管理</a:t>
            </a:r>
          </a:p>
        </p:txBody>
      </p:sp>
      <p:sp>
        <p:nvSpPr>
          <p:cNvPr id="12" name="route-desc-projects-项目管理">
            <a:extLst xmlns:a="http://schemas.openxmlformats.org/drawingml/2006/main">
              <a:ext uri="{FF2B5EF4-FFF2-40B4-BE49-F238E27FC236}">
                <a16:creationId xmlns:a16="http://schemas.microsoft.com/office/drawing/2014/main" id="{02A3394C-F0FA-418B-B392-7AD1D27C7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76575"/>
            <a:ext cx="1868805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仓库 / ZIP、成员、项目详情。</a:t>
            </a:r>
          </a:p>
        </p:txBody>
      </p:sp>
      <p:sp>
        <p:nvSpPr>
          <p:cNvPr id="13" name="route-path-instant-analysis-即时分析">
            <a:extLst xmlns:a="http://schemas.openxmlformats.org/drawingml/2006/main">
              <a:ext uri="{FF2B5EF4-FFF2-40B4-BE49-F238E27FC236}">
                <a16:creationId xmlns:a16="http://schemas.microsoft.com/office/drawing/2014/main" id="{532FA1C4-6E97-4DD9-83BB-3E47772E5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324225"/>
            <a:ext cx="2303621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/instant-analysis   即时分析</a:t>
            </a:r>
          </a:p>
        </p:txBody>
      </p:sp>
      <p:sp>
        <p:nvSpPr>
          <p:cNvPr id="14" name="route-desc-instant-analysis-即时分析">
            <a:extLst xmlns:a="http://schemas.openxmlformats.org/drawingml/2006/main">
              <a:ext uri="{FF2B5EF4-FFF2-40B4-BE49-F238E27FC236}">
                <a16:creationId xmlns:a16="http://schemas.microsoft.com/office/drawing/2014/main" id="{3E1F4710-5FC2-494C-9C70-444BF0E9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505200"/>
            <a:ext cx="1770602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快速分析，不走完整任务链。</a:t>
            </a:r>
          </a:p>
        </p:txBody>
      </p:sp>
      <p:sp>
        <p:nvSpPr>
          <p:cNvPr id="15" name="route-path-audit-tasks-传统任务">
            <a:extLst xmlns:a="http://schemas.openxmlformats.org/drawingml/2006/main">
              <a:ext uri="{FF2B5EF4-FFF2-40B4-BE49-F238E27FC236}">
                <a16:creationId xmlns:a16="http://schemas.microsoft.com/office/drawing/2014/main" id="{99645C46-0B62-402F-8505-99B7B625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86200"/>
            <a:ext cx="1873568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/audit-tasks   传统任务</a:t>
            </a:r>
          </a:p>
        </p:txBody>
      </p:sp>
      <p:sp>
        <p:nvSpPr>
          <p:cNvPr id="16" name="route-desc-audit-tasks-传统任务">
            <a:extLst xmlns:a="http://schemas.openxmlformats.org/drawingml/2006/main">
              <a:ext uri="{FF2B5EF4-FFF2-40B4-BE49-F238E27FC236}">
                <a16:creationId xmlns:a16="http://schemas.microsoft.com/office/drawing/2014/main" id="{277CB8E5-C7BB-402E-BAA5-33CEAD0A6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067175"/>
            <a:ext cx="2026729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仓库扫描、ZIP 扫描、任务详情。</a:t>
            </a:r>
          </a:p>
        </p:txBody>
      </p:sp>
      <p:sp>
        <p:nvSpPr>
          <p:cNvPr id="17" name="route-path-audit-rules-prompts-admin-recycle-bin">
            <a:extLst xmlns:a="http://schemas.openxmlformats.org/drawingml/2006/main">
              <a:ext uri="{FF2B5EF4-FFF2-40B4-BE49-F238E27FC236}">
                <a16:creationId xmlns:a16="http://schemas.microsoft.com/office/drawing/2014/main" id="{0A0AB11F-8A88-40AA-9D6A-9AF97997D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48175"/>
            <a:ext cx="3784473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/audit-rules / prompts / admin / recycle-bin</a:t>
            </a:r>
          </a:p>
        </p:txBody>
      </p:sp>
      <p:sp>
        <p:nvSpPr>
          <p:cNvPr id="18" name="route-desc-audit-rules-prompts-admin-recycle-bin">
            <a:extLst xmlns:a="http://schemas.openxmlformats.org/drawingml/2006/main">
              <a:ext uri="{FF2B5EF4-FFF2-40B4-BE49-F238E27FC236}">
                <a16:creationId xmlns:a16="http://schemas.microsoft.com/office/drawing/2014/main" id="{51F61815-A91A-4014-B3E7-AC6AC912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29150"/>
            <a:ext cx="1225772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策略治理与回收站。</a:t>
            </a:r>
          </a:p>
        </p:txBody>
      </p:sp>
      <p:sp>
        <p:nvSpPr>
          <p:cNvPr id="19" name="appendix-apis-kicker">
            <a:extLst xmlns:a="http://schemas.openxmlformats.org/drawingml/2006/main">
              <a:ext uri="{FF2B5EF4-FFF2-40B4-BE49-F238E27FC236}">
                <a16:creationId xmlns:a16="http://schemas.microsoft.com/office/drawing/2014/main" id="{AAEE89EB-5801-401D-829C-4A866791D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314450"/>
            <a:ext cx="544735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后端接口</a:t>
            </a:r>
          </a:p>
        </p:txBody>
      </p:sp>
      <p:sp>
        <p:nvSpPr>
          <p:cNvPr id="20" name="appendix-apis-title">
            <a:extLst xmlns:a="http://schemas.openxmlformats.org/drawingml/2006/main">
              <a:ext uri="{FF2B5EF4-FFF2-40B4-BE49-F238E27FC236}">
                <a16:creationId xmlns:a16="http://schemas.microsoft.com/office/drawing/2014/main" id="{C4FB07BB-9E66-499C-B653-B5FABFA0E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562100"/>
            <a:ext cx="55435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按业务域拆分，不是单一大接口。</a:t>
            </a:r>
          </a:p>
        </p:txBody>
      </p:sp>
      <p:sp>
        <p:nvSpPr>
          <p:cNvPr id="21" name="api-path-api-deepaudit-projects-members">
            <a:extLst xmlns:a="http://schemas.openxmlformats.org/drawingml/2006/main">
              <a:ext uri="{FF2B5EF4-FFF2-40B4-BE49-F238E27FC236}">
                <a16:creationId xmlns:a16="http://schemas.microsoft.com/office/drawing/2014/main" id="{189E3918-0DF8-4E75-9C31-51C381A1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38350"/>
            <a:ext cx="2838355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/api/deepaudit/projects / members</a:t>
            </a:r>
          </a:p>
        </p:txBody>
      </p:sp>
      <p:sp>
        <p:nvSpPr>
          <p:cNvPr id="22" name="api-desc-api-deepaudit-projects-members">
            <a:extLst xmlns:a="http://schemas.openxmlformats.org/drawingml/2006/main">
              <a:ext uri="{FF2B5EF4-FFF2-40B4-BE49-F238E27FC236}">
                <a16:creationId xmlns:a16="http://schemas.microsoft.com/office/drawing/2014/main" id="{4959275E-B69D-4A8F-A405-978DB8101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19325"/>
            <a:ext cx="1888617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项目、成员、owner、回收站。</a:t>
            </a:r>
          </a:p>
        </p:txBody>
      </p:sp>
      <p:sp>
        <p:nvSpPr>
          <p:cNvPr id="23" name="api-path-api-deepaudit-scan">
            <a:extLst xmlns:a="http://schemas.openxmlformats.org/drawingml/2006/main">
              <a:ext uri="{FF2B5EF4-FFF2-40B4-BE49-F238E27FC236}">
                <a16:creationId xmlns:a16="http://schemas.microsoft.com/office/drawing/2014/main" id="{F92817D1-F6A1-495E-9168-358B721E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66975"/>
            <a:ext cx="1806226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/api/deepaudit/scan/*</a:t>
            </a:r>
          </a:p>
        </p:txBody>
      </p:sp>
      <p:sp>
        <p:nvSpPr>
          <p:cNvPr id="24" name="api-desc-api-deepaudit-scan">
            <a:extLst xmlns:a="http://schemas.openxmlformats.org/drawingml/2006/main">
              <a:ext uri="{FF2B5EF4-FFF2-40B4-BE49-F238E27FC236}">
                <a16:creationId xmlns:a16="http://schemas.microsoft.com/office/drawing/2014/main" id="{756FFB03-64D6-40F9-ACD6-A03927EA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647950"/>
            <a:ext cx="2026729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仓库扫描、ZIP 扫描、即时分析。</a:t>
            </a:r>
          </a:p>
        </p:txBody>
      </p:sp>
      <p:sp>
        <p:nvSpPr>
          <p:cNvPr id="25" name="api-path-api-deepaudit-agent-tasks">
            <a:extLst xmlns:a="http://schemas.openxmlformats.org/drawingml/2006/main">
              <a:ext uri="{FF2B5EF4-FFF2-40B4-BE49-F238E27FC236}">
                <a16:creationId xmlns:a16="http://schemas.microsoft.com/office/drawing/2014/main" id="{AAA9B798-6B79-481F-B077-385B548A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28950"/>
            <a:ext cx="2236279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/api/deepaudit/agent-tasks</a:t>
            </a:r>
          </a:p>
        </p:txBody>
      </p:sp>
      <p:sp>
        <p:nvSpPr>
          <p:cNvPr id="26" name="api-desc-api-deepaudit-agent-tasks">
            <a:extLst xmlns:a="http://schemas.openxmlformats.org/drawingml/2006/main">
              <a:ext uri="{FF2B5EF4-FFF2-40B4-BE49-F238E27FC236}">
                <a16:creationId xmlns:a16="http://schemas.microsoft.com/office/drawing/2014/main" id="{2E59592B-ABEA-4A76-AC19-D063B26C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09925"/>
            <a:ext cx="2714339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Agent 任务、Finding、Checkpoint、摘要。</a:t>
            </a:r>
          </a:p>
        </p:txBody>
      </p:sp>
      <p:sp>
        <p:nvSpPr>
          <p:cNvPr id="27" name="api-path-api-deepaudit-rules-prompts-settings-ssh-keys">
            <a:extLst xmlns:a="http://schemas.openxmlformats.org/drawingml/2006/main">
              <a:ext uri="{FF2B5EF4-FFF2-40B4-BE49-F238E27FC236}">
                <a16:creationId xmlns:a16="http://schemas.microsoft.com/office/drawing/2014/main" id="{F458960A-85D2-4BD6-830F-E64FD367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590925"/>
            <a:ext cx="4472559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/api/deepaudit/rules / prompts / settings / ssh-keys</a:t>
            </a:r>
          </a:p>
        </p:txBody>
      </p:sp>
      <p:sp>
        <p:nvSpPr>
          <p:cNvPr id="28" name="api-desc-api-deepaudit-rules-prompts-settings-ssh-keys">
            <a:extLst xmlns:a="http://schemas.openxmlformats.org/drawingml/2006/main">
              <a:ext uri="{FF2B5EF4-FFF2-40B4-BE49-F238E27FC236}">
                <a16:creationId xmlns:a16="http://schemas.microsoft.com/office/drawing/2014/main" id="{2B7CEC22-6F05-42BB-8D22-4CC65249B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771900"/>
            <a:ext cx="1770602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规则、提示词、配置与凭据。</a:t>
            </a:r>
          </a:p>
        </p:txBody>
      </p:sp>
      <p:sp>
        <p:nvSpPr>
          <p:cNvPr id="29" name="api-path-api-deepaudit-rag-data-tools">
            <a:extLst xmlns:a="http://schemas.openxmlformats.org/drawingml/2006/main">
              <a:ext uri="{FF2B5EF4-FFF2-40B4-BE49-F238E27FC236}">
                <a16:creationId xmlns:a16="http://schemas.microsoft.com/office/drawing/2014/main" id="{D61B6715-38DE-46F5-9000-BD8619ED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152900"/>
            <a:ext cx="2666333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/api/deepaudit/rag / data-tools</a:t>
            </a:r>
          </a:p>
        </p:txBody>
      </p:sp>
      <p:sp>
        <p:nvSpPr>
          <p:cNvPr id="30" name="api-desc-api-deepaudit-rag-data-tools">
            <a:extLst xmlns:a="http://schemas.openxmlformats.org/drawingml/2006/main">
              <a:ext uri="{FF2B5EF4-FFF2-40B4-BE49-F238E27FC236}">
                <a16:creationId xmlns:a16="http://schemas.microsoft.com/office/drawing/2014/main" id="{C696596D-008D-494C-A4AF-5BE53E1D1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333875"/>
            <a:ext cx="1770602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知识检索、索引与数据导出。</a:t>
            </a:r>
          </a:p>
        </p:txBody>
      </p:sp>
      <p:sp>
        <p:nvSpPr>
          <p:cNvPr id="31" name="api-path-api-deepaudit-dashboard-reports">
            <a:extLst xmlns:a="http://schemas.openxmlformats.org/drawingml/2006/main">
              <a:ext uri="{FF2B5EF4-FFF2-40B4-BE49-F238E27FC236}">
                <a16:creationId xmlns:a16="http://schemas.microsoft.com/office/drawing/2014/main" id="{6EE4031F-59B2-440E-AC29-02D794FC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14875"/>
            <a:ext cx="3096387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5F7FB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5F7FB"/>
                </a:solidFill>
                <a:latin typeface="Menlo"/>
                <a:ea typeface="Menlo"/>
                <a:cs typeface="Menlo"/>
              </a:rPr>
              <a:t>/api/deepaudit/dashboard / reports/*</a:t>
            </a:r>
          </a:p>
        </p:txBody>
      </p:sp>
      <p:sp>
        <p:nvSpPr>
          <p:cNvPr id="32" name="api-desc-api-deepaudit-dashboard-reports">
            <a:extLst xmlns:a="http://schemas.openxmlformats.org/drawingml/2006/main">
              <a:ext uri="{FF2B5EF4-FFF2-40B4-BE49-F238E27FC236}">
                <a16:creationId xmlns:a16="http://schemas.microsoft.com/office/drawing/2014/main" id="{8CE00EBA-B152-4C9E-952B-C9D8A685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895850"/>
            <a:ext cx="1974056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看板摘要与 JSON / PDF 导出。</a:t>
            </a:r>
          </a:p>
        </p:txBody>
      </p:sp>
      <p:sp>
        <p:nvSpPr>
          <p:cNvPr id="33" name="appendix-stream-panel">
            <a:extLst xmlns:a="http://schemas.openxmlformats.org/drawingml/2006/main">
              <a:ext uri="{FF2B5EF4-FFF2-40B4-BE49-F238E27FC236}">
                <a16:creationId xmlns:a16="http://schemas.microsoft.com/office/drawing/2014/main" id="{5BEE7B68-C2DB-4378-8527-3A6D2F03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276850"/>
            <a:ext cx="78867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>
              <a:alpha val="3000"/>
            </a:srgbClr>
          </a:solidFill>
          <a:ln xmlns:a="http://schemas.openxmlformats.org/drawingml/2006/main"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4" name="appendix-stream-kicker">
            <a:extLst xmlns:a="http://schemas.openxmlformats.org/drawingml/2006/main">
              <a:ext uri="{FF2B5EF4-FFF2-40B4-BE49-F238E27FC236}">
                <a16:creationId xmlns:a16="http://schemas.microsoft.com/office/drawing/2014/main" id="{8D752DEF-0A75-4090-9AEC-1DDEA3A7D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276850"/>
            <a:ext cx="544735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实时链路</a:t>
            </a:r>
          </a:p>
        </p:txBody>
      </p:sp>
      <p:sp>
        <p:nvSpPr>
          <p:cNvPr id="35" name="appendix-stream-path">
            <a:extLst xmlns:a="http://schemas.openxmlformats.org/drawingml/2006/main">
              <a:ext uri="{FF2B5EF4-FFF2-40B4-BE49-F238E27FC236}">
                <a16:creationId xmlns:a16="http://schemas.microsoft.com/office/drawing/2014/main" id="{5927CF4C-D7C2-4625-AC62-D56D28E1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467350"/>
            <a:ext cx="628650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Menlo"/>
                <a:ea typeface="Menlo"/>
                <a:cs typeface="Menlo"/>
              </a:defRPr>
            </a:pPr>
            <a:r>
              <a:rPr sz="1125" b="0">
                <a:solidFill>
                  <a:srgbClr val="A0A9BA"/>
                </a:solidFill>
                <a:latin typeface="Menlo"/>
                <a:ea typeface="Menlo"/>
                <a:cs typeface="Menlo"/>
              </a:rPr>
              <a:t>/api/deepaudit/agent-tasks/{id}/stream  +  /ws/deepaudit/tasks/{id}/</a:t>
            </a:r>
          </a:p>
        </p:txBody>
      </p:sp>
      <p:sp>
        <p:nvSpPr>
          <p:cNvPr id="36" name="appendix-stream-note">
            <a:extLst xmlns:a="http://schemas.openxmlformats.org/drawingml/2006/main">
              <a:ext uri="{FF2B5EF4-FFF2-40B4-BE49-F238E27FC236}">
                <a16:creationId xmlns:a16="http://schemas.microsoft.com/office/drawing/2014/main" id="{6B644CFE-0505-4BBB-8604-87FB0361C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667375"/>
            <a:ext cx="3497104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SSE 负责流式输出，WebSocket 负责任务事件推送。</a:t>
            </a:r>
          </a:p>
        </p:txBody>
      </p:sp>
    </p:spTree>
    <p:extLst>
      <p:ext uri="{BB962C8B-B14F-4D97-AF65-F5344CB8AC3E}">
        <p14:creationId xmlns:p14="http://schemas.microsoft.com/office/powerpoint/2010/main" val="5252115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0D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header-kicker-演示兜底与部署">
            <a:extLst xmlns:a="http://schemas.openxmlformats.org/drawingml/2006/main">
              <a:ext uri="{FF2B5EF4-FFF2-40B4-BE49-F238E27FC236}">
                <a16:creationId xmlns:a16="http://schemas.microsoft.com/office/drawing/2014/main" id="{8BE1F9AA-2454-4F45-9D59-0DBE0DABB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8086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125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APPENDIX</a:t>
            </a:r>
          </a:p>
        </p:txBody>
      </p:sp>
      <p:sp>
        <p:nvSpPr>
          <p:cNvPr id="2" name="header-title-演示兜底与部署">
            <a:extLst xmlns:a="http://schemas.openxmlformats.org/drawingml/2006/main">
              <a:ext uri="{FF2B5EF4-FFF2-40B4-BE49-F238E27FC236}">
                <a16:creationId xmlns:a16="http://schemas.microsoft.com/office/drawing/2014/main" id="{A4A1D0BD-B1F2-4FB1-9462-0F5C552F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38125"/>
            <a:ext cx="12192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演示兜底与部署</a:t>
            </a:r>
          </a:p>
        </p:txBody>
      </p:sp>
      <p:sp>
        <p:nvSpPr>
          <p:cNvPr id="3" name="header-subtitle-演示兜底与部署">
            <a:extLst xmlns:a="http://schemas.openxmlformats.org/drawingml/2006/main">
              <a:ext uri="{FF2B5EF4-FFF2-40B4-BE49-F238E27FC236}">
                <a16:creationId xmlns:a16="http://schemas.microsoft.com/office/drawing/2014/main" id="{ABB9894A-28AA-435C-821B-E33E0E006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809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现场如果实时流不稳，先保主线，再切截图兜底。</a:t>
            </a:r>
          </a:p>
        </p:txBody>
      </p:sp>
      <p:sp>
        <p:nvSpPr>
          <p:cNvPr id="4" name="heading-underline">
            <a:extLst xmlns:a="http://schemas.openxmlformats.org/drawingml/2006/main">
              <a:ext uri="{FF2B5EF4-FFF2-40B4-BE49-F238E27FC236}">
                <a16:creationId xmlns:a16="http://schemas.microsoft.com/office/drawing/2014/main" id="{3A2C8E2C-4DAE-4212-8815-A6B3D40B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23950"/>
            <a:ext cx="219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A2A">
              <a:alpha val="42000"/>
            </a:srgbClr>
          </a:solidFill>
          <a:ln xmlns:a="http://schemas.openxmlformats.org/drawingml/2006/main" w="0">
            <a:solidFill>
              <a:srgbClr val="FF6A2A">
                <a:alpha val="42000"/>
              </a:srgbClr>
            </a:solidFill>
            <a:prstDash val="solid"/>
          </a:ln>
        </p:spPr>
      </p:sp>
      <p:sp>
        <p:nvSpPr>
          <p:cNvPr id="5" name="ops-left-kicker">
            <a:extLst xmlns:a="http://schemas.openxmlformats.org/drawingml/2006/main">
              <a:ext uri="{FF2B5EF4-FFF2-40B4-BE49-F238E27FC236}">
                <a16:creationId xmlns:a16="http://schemas.microsoft.com/office/drawing/2014/main" id="{9A04C421-6FFC-4B22-8B32-6F6B7F01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14450"/>
            <a:ext cx="544735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演示兜底</a:t>
            </a:r>
          </a:p>
        </p:txBody>
      </p:sp>
      <p:sp>
        <p:nvSpPr>
          <p:cNvPr id="6" name="ops-left-title">
            <a:extLst xmlns:a="http://schemas.openxmlformats.org/drawingml/2006/main">
              <a:ext uri="{FF2B5EF4-FFF2-40B4-BE49-F238E27FC236}">
                <a16:creationId xmlns:a16="http://schemas.microsoft.com/office/drawing/2014/main" id="{DC0B6CBD-999E-4C79-B672-9DB662C65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62100"/>
            <a:ext cx="3143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先保主线</a:t>
            </a:r>
          </a:p>
        </p:txBody>
      </p:sp>
      <p:sp>
        <p:nvSpPr>
          <p:cNvPr id="7" name="bullet-dot-优先路径">
            <a:extLst xmlns:a="http://schemas.openxmlformats.org/drawingml/2006/main">
              <a:ext uri="{FF2B5EF4-FFF2-40B4-BE49-F238E27FC236}">
                <a16:creationId xmlns:a16="http://schemas.microsoft.com/office/drawing/2014/main" id="{6A7EA456-00E0-4E8C-AEB4-B5CD81CC4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38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8" name="bullet-title-优先路径">
            <a:extLst xmlns:a="http://schemas.openxmlformats.org/drawingml/2006/main">
              <a:ext uri="{FF2B5EF4-FFF2-40B4-BE49-F238E27FC236}">
                <a16:creationId xmlns:a16="http://schemas.microsoft.com/office/drawing/2014/main" id="{C09665A9-20DD-4657-AD7B-E9C992A5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038350"/>
            <a:ext cx="2952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优先路径</a:t>
            </a:r>
          </a:p>
        </p:txBody>
      </p:sp>
      <p:sp>
        <p:nvSpPr>
          <p:cNvPr id="9" name="bullet-detail-优先路径">
            <a:extLst xmlns:a="http://schemas.openxmlformats.org/drawingml/2006/main">
              <a:ext uri="{FF2B5EF4-FFF2-40B4-BE49-F238E27FC236}">
                <a16:creationId xmlns:a16="http://schemas.microsoft.com/office/drawing/2014/main" id="{7A5CC3DD-02A4-42FA-81D0-3A57AE180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238375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Dashboard → 项目管理 → Agent 审计 → 报告页。</a:t>
            </a:r>
          </a:p>
        </p:txBody>
      </p:sp>
      <p:sp>
        <p:nvSpPr>
          <p:cNvPr id="10" name="bullet-dot-备用素材">
            <a:extLst xmlns:a="http://schemas.openxmlformats.org/drawingml/2006/main">
              <a:ext uri="{FF2B5EF4-FFF2-40B4-BE49-F238E27FC236}">
                <a16:creationId xmlns:a16="http://schemas.microsoft.com/office/drawing/2014/main" id="{0C3E787C-0064-438D-AA09-C5EE2876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6384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11" name="bullet-title-备用素材">
            <a:extLst xmlns:a="http://schemas.openxmlformats.org/drawingml/2006/main">
              <a:ext uri="{FF2B5EF4-FFF2-40B4-BE49-F238E27FC236}">
                <a16:creationId xmlns:a16="http://schemas.microsoft.com/office/drawing/2014/main" id="{73FFD8AD-517B-4429-9A9F-AFC03A37E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638425"/>
            <a:ext cx="2952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备用素材</a:t>
            </a:r>
          </a:p>
        </p:txBody>
      </p:sp>
      <p:sp>
        <p:nvSpPr>
          <p:cNvPr id="12" name="bullet-detail-备用素材">
            <a:extLst xmlns:a="http://schemas.openxmlformats.org/drawingml/2006/main">
              <a:ext uri="{FF2B5EF4-FFF2-40B4-BE49-F238E27FC236}">
                <a16:creationId xmlns:a16="http://schemas.microsoft.com/office/drawing/2014/main" id="{228379C5-432A-47C5-9C3D-BDA48A03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838450"/>
            <a:ext cx="295275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home / report 两张截图已准备好。</a:t>
            </a:r>
          </a:p>
        </p:txBody>
      </p:sp>
      <p:sp>
        <p:nvSpPr>
          <p:cNvPr id="13" name="bullet-dot-节奏控制">
            <a:extLst xmlns:a="http://schemas.openxmlformats.org/drawingml/2006/main">
              <a:ext uri="{FF2B5EF4-FFF2-40B4-BE49-F238E27FC236}">
                <a16:creationId xmlns:a16="http://schemas.microsoft.com/office/drawing/2014/main" id="{3B4517C0-6ED2-44BF-83E1-9EED4EB9D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95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14" name="bullet-title-节奏控制">
            <a:extLst xmlns:a="http://schemas.openxmlformats.org/drawingml/2006/main">
              <a:ext uri="{FF2B5EF4-FFF2-40B4-BE49-F238E27FC236}">
                <a16:creationId xmlns:a16="http://schemas.microsoft.com/office/drawing/2014/main" id="{AB6A2C32-C7B8-45EF-A43E-24A4F2F17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095625"/>
            <a:ext cx="29527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节奏控制</a:t>
            </a:r>
          </a:p>
        </p:txBody>
      </p:sp>
      <p:sp>
        <p:nvSpPr>
          <p:cNvPr id="15" name="bullet-detail-节奏控制">
            <a:extLst xmlns:a="http://schemas.openxmlformats.org/drawingml/2006/main">
              <a:ext uri="{FF2B5EF4-FFF2-40B4-BE49-F238E27FC236}">
                <a16:creationId xmlns:a16="http://schemas.microsoft.com/office/drawing/2014/main" id="{F9A004B3-BB80-428F-852B-19431DDF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3295650"/>
            <a:ext cx="295275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流卡住就切报告页。</a:t>
            </a:r>
          </a:p>
        </p:txBody>
      </p:sp>
      <p:sp>
        <p:nvSpPr>
          <p:cNvPr id="16" name="ops-middle-kicker">
            <a:extLst xmlns:a="http://schemas.openxmlformats.org/drawingml/2006/main">
              <a:ext uri="{FF2B5EF4-FFF2-40B4-BE49-F238E27FC236}">
                <a16:creationId xmlns:a16="http://schemas.microsoft.com/office/drawing/2014/main" id="{A4B8E5FF-11FA-48F4-82F8-D15208E7D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314450"/>
            <a:ext cx="544735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链路前提</a:t>
            </a:r>
          </a:p>
        </p:txBody>
      </p:sp>
      <p:sp>
        <p:nvSpPr>
          <p:cNvPr id="17" name="ops-middle-title">
            <a:extLst xmlns:a="http://schemas.openxmlformats.org/drawingml/2006/main">
              <a:ext uri="{FF2B5EF4-FFF2-40B4-BE49-F238E27FC236}">
                <a16:creationId xmlns:a16="http://schemas.microsoft.com/office/drawing/2014/main" id="{0010F0AB-DAA8-4A29-B45A-193E97117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562100"/>
            <a:ext cx="34290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先看依赖</a:t>
            </a:r>
          </a:p>
        </p:txBody>
      </p:sp>
      <p:sp>
        <p:nvSpPr>
          <p:cNvPr id="18" name="bullet-dot-asgi-celery">
            <a:extLst xmlns:a="http://schemas.openxmlformats.org/drawingml/2006/main">
              <a:ext uri="{FF2B5EF4-FFF2-40B4-BE49-F238E27FC236}">
                <a16:creationId xmlns:a16="http://schemas.microsoft.com/office/drawing/2014/main" id="{C66267FE-118F-4B08-B582-2378A42E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038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19" name="bullet-title-asgi-celery">
            <a:extLst xmlns:a="http://schemas.openxmlformats.org/drawingml/2006/main">
              <a:ext uri="{FF2B5EF4-FFF2-40B4-BE49-F238E27FC236}">
                <a16:creationId xmlns:a16="http://schemas.microsoft.com/office/drawing/2014/main" id="{141E5BF2-3454-4016-AFE7-28771939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038350"/>
            <a:ext cx="32385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ASGI / Celery</a:t>
            </a:r>
          </a:p>
        </p:txBody>
      </p:sp>
      <p:sp>
        <p:nvSpPr>
          <p:cNvPr id="20" name="bullet-detail-asgi-celery">
            <a:extLst xmlns:a="http://schemas.openxmlformats.org/drawingml/2006/main">
              <a:ext uri="{FF2B5EF4-FFF2-40B4-BE49-F238E27FC236}">
                <a16:creationId xmlns:a16="http://schemas.microsoft.com/office/drawing/2014/main" id="{5109EE29-77FB-49A4-88B6-12340368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38375"/>
            <a:ext cx="323850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长任务和连接都依赖异步执行。</a:t>
            </a:r>
          </a:p>
        </p:txBody>
      </p:sp>
      <p:sp>
        <p:nvSpPr>
          <p:cNvPr id="21" name="bullet-dot-redis-channels">
            <a:extLst xmlns:a="http://schemas.openxmlformats.org/drawingml/2006/main">
              <a:ext uri="{FF2B5EF4-FFF2-40B4-BE49-F238E27FC236}">
                <a16:creationId xmlns:a16="http://schemas.microsoft.com/office/drawing/2014/main" id="{2FFB1460-5583-4E79-9393-845AFCEE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95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CFE6"/>
          </a:solidFill>
          <a:ln xmlns:a="http://schemas.openxmlformats.org/drawingml/2006/main">
            <a:noFill/>
            <a:prstDash val="solid"/>
          </a:ln>
        </p:spPr>
      </p:sp>
      <p:sp>
        <p:nvSpPr>
          <p:cNvPr id="22" name="bullet-title-redis-channels">
            <a:extLst xmlns:a="http://schemas.openxmlformats.org/drawingml/2006/main">
              <a:ext uri="{FF2B5EF4-FFF2-40B4-BE49-F238E27FC236}">
                <a16:creationId xmlns:a16="http://schemas.microsoft.com/office/drawing/2014/main" id="{52100764-3392-40CF-B182-294F7E1D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95550"/>
            <a:ext cx="32385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Redis + Channels</a:t>
            </a:r>
          </a:p>
        </p:txBody>
      </p:sp>
      <p:sp>
        <p:nvSpPr>
          <p:cNvPr id="23" name="bullet-detail-redis-channels">
            <a:extLst xmlns:a="http://schemas.openxmlformats.org/drawingml/2006/main">
              <a:ext uri="{FF2B5EF4-FFF2-40B4-BE49-F238E27FC236}">
                <a16:creationId xmlns:a16="http://schemas.microsoft.com/office/drawing/2014/main" id="{23D2E403-A7EC-4350-8936-D3C42250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695575"/>
            <a:ext cx="323850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group 状态和推送都靠它。</a:t>
            </a:r>
          </a:p>
        </p:txBody>
      </p:sp>
      <p:sp>
        <p:nvSpPr>
          <p:cNvPr id="24" name="bullet-dot-nginx-代理">
            <a:extLst xmlns:a="http://schemas.openxmlformats.org/drawingml/2006/main">
              <a:ext uri="{FF2B5EF4-FFF2-40B4-BE49-F238E27FC236}">
                <a16:creationId xmlns:a16="http://schemas.microsoft.com/office/drawing/2014/main" id="{6B519009-5E9E-46E1-A478-A9E65398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952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25" name="bullet-title-nginx-代理">
            <a:extLst xmlns:a="http://schemas.openxmlformats.org/drawingml/2006/main">
              <a:ext uri="{FF2B5EF4-FFF2-40B4-BE49-F238E27FC236}">
                <a16:creationId xmlns:a16="http://schemas.microsoft.com/office/drawing/2014/main" id="{3519C606-C640-4F95-965F-2156DA763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52750"/>
            <a:ext cx="32385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Nginx 代理</a:t>
            </a:r>
          </a:p>
        </p:txBody>
      </p:sp>
      <p:sp>
        <p:nvSpPr>
          <p:cNvPr id="26" name="bullet-detail-nginx-代理">
            <a:extLst xmlns:a="http://schemas.openxmlformats.org/drawingml/2006/main">
              <a:ext uri="{FF2B5EF4-FFF2-40B4-BE49-F238E27FC236}">
                <a16:creationId xmlns:a16="http://schemas.microsoft.com/office/drawing/2014/main" id="{99249E58-4BA9-4ABA-A940-E28559D6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152775"/>
            <a:ext cx="323850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/basic-api/api、/ws/、stream 要转发。</a:t>
            </a:r>
          </a:p>
        </p:txBody>
      </p:sp>
      <p:sp>
        <p:nvSpPr>
          <p:cNvPr id="27" name="bullet-dot-缓存-工作区">
            <a:extLst xmlns:a="http://schemas.openxmlformats.org/drawingml/2006/main">
              <a:ext uri="{FF2B5EF4-FFF2-40B4-BE49-F238E27FC236}">
                <a16:creationId xmlns:a16="http://schemas.microsoft.com/office/drawing/2014/main" id="{1D7F84ED-F18D-4135-9770-E1B40E442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409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28" name="bullet-title-缓存-工作区">
            <a:extLst xmlns:a="http://schemas.openxmlformats.org/drawingml/2006/main">
              <a:ext uri="{FF2B5EF4-FFF2-40B4-BE49-F238E27FC236}">
                <a16:creationId xmlns:a16="http://schemas.microsoft.com/office/drawing/2014/main" id="{4F8C8614-20A3-44B6-B84D-4C2BAEB5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409950"/>
            <a:ext cx="323850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缓存 / 工作区</a:t>
            </a:r>
          </a:p>
        </p:txBody>
      </p:sp>
      <p:sp>
        <p:nvSpPr>
          <p:cNvPr id="29" name="bullet-detail-缓存-工作区">
            <a:extLst xmlns:a="http://schemas.openxmlformats.org/drawingml/2006/main">
              <a:ext uri="{FF2B5EF4-FFF2-40B4-BE49-F238E27FC236}">
                <a16:creationId xmlns:a16="http://schemas.microsoft.com/office/drawing/2014/main" id="{95851744-2CF2-43B0-BDCC-A9E1CA8FE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609975"/>
            <a:ext cx="323850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workspace / reports / knowledge / ssh 可用。</a:t>
            </a:r>
          </a:p>
        </p:txBody>
      </p:sp>
      <p:sp>
        <p:nvSpPr>
          <p:cNvPr id="30" name="ops-right-kicker">
            <a:extLst xmlns:a="http://schemas.openxmlformats.org/drawingml/2006/main">
              <a:ext uri="{FF2B5EF4-FFF2-40B4-BE49-F238E27FC236}">
                <a16:creationId xmlns:a16="http://schemas.microsoft.com/office/drawing/2014/main" id="{6F5931B8-70D3-4C7F-9C36-2A037E9EC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314450"/>
            <a:ext cx="817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常见故障信号</a:t>
            </a:r>
          </a:p>
        </p:txBody>
      </p:sp>
      <p:sp>
        <p:nvSpPr>
          <p:cNvPr id="31" name="ops-right-title">
            <a:extLst xmlns:a="http://schemas.openxmlformats.org/drawingml/2006/main">
              <a:ext uri="{FF2B5EF4-FFF2-40B4-BE49-F238E27FC236}">
                <a16:creationId xmlns:a16="http://schemas.microsoft.com/office/drawing/2014/main" id="{9DB208C1-29A1-4A16-97A6-095B28ED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562100"/>
            <a:ext cx="50863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28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先查代理和 worker</a:t>
            </a:r>
          </a:p>
        </p:txBody>
      </p:sp>
      <p:sp>
        <p:nvSpPr>
          <p:cNvPr id="32" name="bullet-dot-页面能打开-但流不刷新">
            <a:extLst xmlns:a="http://schemas.openxmlformats.org/drawingml/2006/main">
              <a:ext uri="{FF2B5EF4-FFF2-40B4-BE49-F238E27FC236}">
                <a16:creationId xmlns:a16="http://schemas.microsoft.com/office/drawing/2014/main" id="{09329FFD-458F-403A-BE8B-ACD179C8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038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A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3" name="bullet-title-页面能打开-但流不刷新">
            <a:extLst xmlns:a="http://schemas.openxmlformats.org/drawingml/2006/main">
              <a:ext uri="{FF2B5EF4-FFF2-40B4-BE49-F238E27FC236}">
                <a16:creationId xmlns:a16="http://schemas.microsoft.com/office/drawing/2014/main" id="{3E8AE5F5-A69A-4AD7-8F03-E55C4DA82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38350"/>
            <a:ext cx="48958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页面能打开，但流不刷新</a:t>
            </a:r>
          </a:p>
        </p:txBody>
      </p:sp>
      <p:sp>
        <p:nvSpPr>
          <p:cNvPr id="34" name="bullet-detail-页面能打开-但流不刷新">
            <a:extLst xmlns:a="http://schemas.openxmlformats.org/drawingml/2006/main">
              <a:ext uri="{FF2B5EF4-FFF2-40B4-BE49-F238E27FC236}">
                <a16:creationId xmlns:a16="http://schemas.microsoft.com/office/drawing/2014/main" id="{F4956BF7-90F5-46A7-8197-CAED0E7F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238375"/>
            <a:ext cx="489585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优先查 SSE / WS / 缓冲与代理。</a:t>
            </a:r>
          </a:p>
        </p:txBody>
      </p:sp>
      <p:sp>
        <p:nvSpPr>
          <p:cNvPr id="35" name="bullet-dot-接口-401-404">
            <a:extLst xmlns:a="http://schemas.openxmlformats.org/drawingml/2006/main">
              <a:ext uri="{FF2B5EF4-FFF2-40B4-BE49-F238E27FC236}">
                <a16:creationId xmlns:a16="http://schemas.microsoft.com/office/drawing/2014/main" id="{F8513CC5-A513-4E26-9F7A-D1A1EA68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95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C66B"/>
          </a:solidFill>
          <a:ln xmlns:a="http://schemas.openxmlformats.org/drawingml/2006/main">
            <a:noFill/>
            <a:prstDash val="solid"/>
          </a:ln>
        </p:spPr>
      </p:sp>
      <p:sp>
        <p:nvSpPr>
          <p:cNvPr id="36" name="bullet-title-接口-401-404">
            <a:extLst xmlns:a="http://schemas.openxmlformats.org/drawingml/2006/main">
              <a:ext uri="{FF2B5EF4-FFF2-40B4-BE49-F238E27FC236}">
                <a16:creationId xmlns:a16="http://schemas.microsoft.com/office/drawing/2014/main" id="{E893B9A9-F855-43E5-9717-F4ED7E12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95550"/>
            <a:ext cx="48958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接口 401 / 404</a:t>
            </a:r>
          </a:p>
        </p:txBody>
      </p:sp>
      <p:sp>
        <p:nvSpPr>
          <p:cNvPr id="37" name="bullet-detail-接口-401-404">
            <a:extLst xmlns:a="http://schemas.openxmlformats.org/drawingml/2006/main">
              <a:ext uri="{FF2B5EF4-FFF2-40B4-BE49-F238E27FC236}">
                <a16:creationId xmlns:a16="http://schemas.microsoft.com/office/drawing/2014/main" id="{883A598B-DF35-40A7-B80E-85300D8E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95575"/>
            <a:ext cx="489585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先看 token、baseURL、/basic-api/api 是否对齐。</a:t>
            </a:r>
          </a:p>
        </p:txBody>
      </p:sp>
      <p:sp>
        <p:nvSpPr>
          <p:cNvPr id="38" name="bullet-dot-日志有任务-ui-没事件">
            <a:extLst xmlns:a="http://schemas.openxmlformats.org/drawingml/2006/main">
              <a:ext uri="{FF2B5EF4-FFF2-40B4-BE49-F238E27FC236}">
                <a16:creationId xmlns:a16="http://schemas.microsoft.com/office/drawing/2014/main" id="{C22BBA8D-81F4-48E6-8BEE-2DBC4F54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952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1D98F"/>
          </a:solidFill>
          <a:ln xmlns:a="http://schemas.openxmlformats.org/drawingml/2006/main">
            <a:noFill/>
            <a:prstDash val="solid"/>
          </a:ln>
        </p:spPr>
      </p:sp>
      <p:sp>
        <p:nvSpPr>
          <p:cNvPr id="39" name="bullet-title-日志有任务-ui-没事件">
            <a:extLst xmlns:a="http://schemas.openxmlformats.org/drawingml/2006/main">
              <a:ext uri="{FF2B5EF4-FFF2-40B4-BE49-F238E27FC236}">
                <a16:creationId xmlns:a16="http://schemas.microsoft.com/office/drawing/2014/main" id="{6C3A0D05-8DBA-4BA0-9946-A511CC31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952750"/>
            <a:ext cx="4895850" cy="161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日志有任务，UI 没事件</a:t>
            </a:r>
          </a:p>
        </p:txBody>
      </p:sp>
      <p:sp>
        <p:nvSpPr>
          <p:cNvPr id="40" name="bullet-detail-日志有任务-ui-没事件">
            <a:extLst xmlns:a="http://schemas.openxmlformats.org/drawingml/2006/main">
              <a:ext uri="{FF2B5EF4-FFF2-40B4-BE49-F238E27FC236}">
                <a16:creationId xmlns:a16="http://schemas.microsoft.com/office/drawing/2014/main" id="{6D579D73-3FC1-4BEA-B592-B601B512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52775"/>
            <a:ext cx="4895850" cy="142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常见是 Redis、Channels 或后端 worker 未就绪。</a:t>
            </a:r>
          </a:p>
        </p:txBody>
      </p:sp>
      <p:sp>
        <p:nvSpPr>
          <p:cNvPr id="41" name="ops-callout">
            <a:extLst xmlns:a="http://schemas.openxmlformats.org/drawingml/2006/main">
              <a:ext uri="{FF2B5EF4-FFF2-40B4-BE49-F238E27FC236}">
                <a16:creationId xmlns:a16="http://schemas.microsoft.com/office/drawing/2014/main" id="{4B8D039D-D795-41A7-8F37-DD8317D7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09950"/>
            <a:ext cx="50863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6A2A">
              <a:alpha val="10000"/>
            </a:srgbClr>
          </a:solidFill>
          <a:ln xmlns:a="http://schemas.openxmlformats.org/drawingml/2006/main" w="9525">
            <a:solidFill>
              <a:srgbClr val="FF6A2A">
                <a:alpha val="30000"/>
              </a:srgbClr>
            </a:solidFill>
            <a:prstDash val="solid"/>
          </a:ln>
        </p:spPr>
      </p:sp>
      <p:sp>
        <p:nvSpPr>
          <p:cNvPr id="42" name="ops-callout-kicker">
            <a:extLst xmlns:a="http://schemas.openxmlformats.org/drawingml/2006/main">
              <a:ext uri="{FF2B5EF4-FFF2-40B4-BE49-F238E27FC236}">
                <a16:creationId xmlns:a16="http://schemas.microsoft.com/office/drawing/2014/main" id="{2EFE5CFC-AB03-44D5-8893-6237794F3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09950"/>
            <a:ext cx="680942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6A2A"/>
                </a:solidFill>
                <a:latin typeface="Menlo"/>
                <a:ea typeface="Menlo"/>
                <a:cs typeface="Menlo"/>
              </a:defRPr>
            </a:pPr>
            <a:r>
              <a:rPr sz="1050" b="1">
                <a:solidFill>
                  <a:srgbClr val="FF6A2A"/>
                </a:solidFill>
                <a:latin typeface="Menlo"/>
                <a:ea typeface="Menlo"/>
                <a:cs typeface="Menlo"/>
              </a:rPr>
              <a:t>一句话原则</a:t>
            </a:r>
          </a:p>
        </p:txBody>
      </p:sp>
      <p:sp>
        <p:nvSpPr>
          <p:cNvPr id="43" name="ops-callout-title">
            <a:extLst xmlns:a="http://schemas.openxmlformats.org/drawingml/2006/main">
              <a:ext uri="{FF2B5EF4-FFF2-40B4-BE49-F238E27FC236}">
                <a16:creationId xmlns:a16="http://schemas.microsoft.com/office/drawing/2014/main" id="{77CDA964-9143-4999-BEFE-C3ABC2D8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590925"/>
            <a:ext cx="3619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5F7F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5F7FB"/>
                </a:solidFill>
                <a:latin typeface="PingFang SC"/>
                <a:ea typeface="PingFang SC"/>
                <a:cs typeface="PingFang SC"/>
              </a:rPr>
              <a:t>只要“项目接入 + 分析 + 报告”能跑通，主线就成立。</a:t>
            </a:r>
          </a:p>
        </p:txBody>
      </p:sp>
      <p:sp>
        <p:nvSpPr>
          <p:cNvPr id="44" name="ops-callout-subtitle">
            <a:extLst xmlns:a="http://schemas.openxmlformats.org/drawingml/2006/main">
              <a:ext uri="{FF2B5EF4-FFF2-40B4-BE49-F238E27FC236}">
                <a16:creationId xmlns:a16="http://schemas.microsoft.com/office/drawing/2014/main" id="{DE8B8985-137B-473C-B55C-B5EA4DC23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981450"/>
            <a:ext cx="3619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A0A9BA"/>
                </a:solidFill>
                <a:latin typeface="PingFang SC"/>
                <a:ea typeface="PingFang SC"/>
                <a:cs typeface="PingFang SC"/>
              </a:rPr>
              <a:t>实时链路是加分项；不稳时，用截图保住理解路径。</a:t>
            </a:r>
          </a:p>
        </p:txBody>
      </p:sp>
    </p:spTree>
    <p:extLst>
      <p:ext uri="{BB962C8B-B14F-4D97-AF65-F5344CB8AC3E}">
        <p14:creationId xmlns:p14="http://schemas.microsoft.com/office/powerpoint/2010/main" val="5484550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2026-04-28T01:45:17.4130000Z</dcterms:created>
  <dcterms:modified xsi:type="dcterms:W3CDTF">2026-04-28T01:45:17.4130000Z</dcterms:modified>
</coreProperties>
</file>