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744c1abbcb4bc0" /><Relationship Type="http://schemas.openxmlformats.org/officeDocument/2006/relationships/extended-properties" Target="/docProps/app.xml" Id="Raceb9faa7638495e" /><Relationship Type="http://schemas.openxmlformats.org/officeDocument/2006/relationships/officeDocument" Target="/ppt/presentation.xml" Id="R167e1403a01e40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f1ea9f53174fac"/>
  </p:sldMasterIdLst>
  <p:notesMasterIdLst>
    <p:notesMasterId xmlns:r="http://schemas.openxmlformats.org/officeDocument/2006/relationships" r:id="R7127c8d6b64c41ec"/>
  </p:notesMasterIdLst>
  <p:sldIdLst>
    <p:sldId xmlns:r="http://schemas.openxmlformats.org/officeDocument/2006/relationships" id="256" r:id="R905fe36f85c64e7d"/>
    <p:sldId xmlns:r="http://schemas.openxmlformats.org/officeDocument/2006/relationships" id="257" r:id="R836355d593b148fe"/>
    <p:sldId xmlns:r="http://schemas.openxmlformats.org/officeDocument/2006/relationships" id="258" r:id="R69f7a7a4746a4a9a"/>
    <p:sldId xmlns:r="http://schemas.openxmlformats.org/officeDocument/2006/relationships" id="259" r:id="Rd33737eea2da4383"/>
    <p:sldId xmlns:r="http://schemas.openxmlformats.org/officeDocument/2006/relationships" id="260" r:id="Ra520f71b1b8a47ab"/>
    <p:sldId xmlns:r="http://schemas.openxmlformats.org/officeDocument/2006/relationships" id="261" r:id="R45252adf28c044d2"/>
    <p:sldId xmlns:r="http://schemas.openxmlformats.org/officeDocument/2006/relationships" id="262" r:id="Rad9342af3e2744e5"/>
    <p:sldId xmlns:r="http://schemas.openxmlformats.org/officeDocument/2006/relationships" id="263" r:id="R85bed62405da413b"/>
    <p:sldId xmlns:r="http://schemas.openxmlformats.org/officeDocument/2006/relationships" id="264" r:id="R1fd2d84927414458"/>
    <p:sldId xmlns:r="http://schemas.openxmlformats.org/officeDocument/2006/relationships" id="265" r:id="R5e0caef6ad9b4e28"/>
    <p:sldId xmlns:r="http://schemas.openxmlformats.org/officeDocument/2006/relationships" id="266" r:id="Rbf8276e6f6944cd5"/>
    <p:sldId xmlns:r="http://schemas.openxmlformats.org/officeDocument/2006/relationships" id="267" r:id="Refacbb443994429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f1ea9f53174fac" /><Relationship Type="http://schemas.openxmlformats.org/officeDocument/2006/relationships/theme" Target="/ppt/theme/theme1.xml" Id="R60896d34e0514aaf" /><Relationship Type="http://schemas.openxmlformats.org/officeDocument/2006/relationships/notesMaster" Target="/ppt/notesMasters/notesMaster1.xml" Id="R7127c8d6b64c41ec" /><Relationship Type="http://schemas.openxmlformats.org/officeDocument/2006/relationships/presProps" Target="/ppt/presProps.xml" Id="R320f1b2dc32b47b9" /><Relationship Type="http://schemas.openxmlformats.org/officeDocument/2006/relationships/viewProps" Target="/ppt/viewProps.xml" Id="R83c8466277814092" /><Relationship Type="http://schemas.openxmlformats.org/officeDocument/2006/relationships/tableStyles" Target="/ppt/tableStyles.xml" Id="Rc5821d8d3cd742bd" /><Relationship Type="http://schemas.openxmlformats.org/officeDocument/2006/relationships/slide" Target="/ppt/slides/slide1.xml" Id="R905fe36f85c64e7d" /><Relationship Type="http://schemas.openxmlformats.org/officeDocument/2006/relationships/slide" Target="/ppt/slides/slide2.xml" Id="R836355d593b148fe" /><Relationship Type="http://schemas.openxmlformats.org/officeDocument/2006/relationships/slide" Target="/ppt/slides/slide3.xml" Id="R69f7a7a4746a4a9a" /><Relationship Type="http://schemas.openxmlformats.org/officeDocument/2006/relationships/slide" Target="/ppt/slides/slide4.xml" Id="Rd33737eea2da4383" /><Relationship Type="http://schemas.openxmlformats.org/officeDocument/2006/relationships/slide" Target="/ppt/slides/slide5.xml" Id="Ra520f71b1b8a47ab" /><Relationship Type="http://schemas.openxmlformats.org/officeDocument/2006/relationships/slide" Target="/ppt/slides/slide6.xml" Id="R45252adf28c044d2" /><Relationship Type="http://schemas.openxmlformats.org/officeDocument/2006/relationships/slide" Target="/ppt/slides/slide7.xml" Id="Rad9342af3e2744e5" /><Relationship Type="http://schemas.openxmlformats.org/officeDocument/2006/relationships/slide" Target="/ppt/slides/slide8.xml" Id="R85bed62405da413b" /><Relationship Type="http://schemas.openxmlformats.org/officeDocument/2006/relationships/slide" Target="/ppt/slides/slide9.xml" Id="R1fd2d84927414458" /><Relationship Type="http://schemas.openxmlformats.org/officeDocument/2006/relationships/slide" Target="/ppt/slides/slide10.xml" Id="R5e0caef6ad9b4e28" /><Relationship Type="http://schemas.openxmlformats.org/officeDocument/2006/relationships/slide" Target="/ppt/slides/slide11.xml" Id="Rbf8276e6f6944cd5" /><Relationship Type="http://schemas.openxmlformats.org/officeDocument/2006/relationships/slide" Target="/ppt/slides/slide12.xml" Id="Refacbb44399442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5ac0fb92ccb49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5b01c4321d4198" /><Relationship Type="http://schemas.openxmlformats.org/officeDocument/2006/relationships/notesMaster" Target="/ppt/notesMasters/notesMaster1.xml" Id="Rd5a27137e08743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534a16648b473f" /><Relationship Type="http://schemas.openxmlformats.org/officeDocument/2006/relationships/notesMaster" Target="/ppt/notesMasters/notesMaster1.xml" Id="R19fcaf29b56849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0f59cb04c84e6d" /><Relationship Type="http://schemas.openxmlformats.org/officeDocument/2006/relationships/notesMaster" Target="/ppt/notesMasters/notesMaster1.xml" Id="Ra2a0079a262948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9ffa67840640f0" /><Relationship Type="http://schemas.openxmlformats.org/officeDocument/2006/relationships/notesMaster" Target="/ppt/notesMasters/notesMaster1.xml" Id="R449d02a283bb42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0676d1e69a4a60" /><Relationship Type="http://schemas.openxmlformats.org/officeDocument/2006/relationships/notesMaster" Target="/ppt/notesMasters/notesMaster1.xml" Id="Rb5d38a36b85c43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a9ffe9d1714c7d" /><Relationship Type="http://schemas.openxmlformats.org/officeDocument/2006/relationships/notesMaster" Target="/ppt/notesMasters/notesMaster1.xml" Id="R478097d26bca48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b2b7597f144c46" /><Relationship Type="http://schemas.openxmlformats.org/officeDocument/2006/relationships/notesMaster" Target="/ppt/notesMasters/notesMaster1.xml" Id="Rc7f78ad59ac34f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616ffe55994134" /><Relationship Type="http://schemas.openxmlformats.org/officeDocument/2006/relationships/notesMaster" Target="/ppt/notesMasters/notesMaster1.xml" Id="R459fd1873df348a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e5c246444774d51" /><Relationship Type="http://schemas.openxmlformats.org/officeDocument/2006/relationships/notesMaster" Target="/ppt/notesMasters/notesMaster1.xml" Id="R8e64c8f8142849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c85af5a181e47c3" /><Relationship Type="http://schemas.openxmlformats.org/officeDocument/2006/relationships/notesMaster" Target="/ppt/notesMasters/notesMaster1.xml" Id="R7d51b30b4bbe49c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11b19762204e2e" /><Relationship Type="http://schemas.openxmlformats.org/officeDocument/2006/relationships/notesMaster" Target="/ppt/notesMasters/notesMaster1.xml" Id="Rf721e6573a434b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2479892243f46de" /><Relationship Type="http://schemas.openxmlformats.org/officeDocument/2006/relationships/notesMaster" Target="/ppt/notesMasters/notesMaster1.xml" Id="Rf33040c35d3d49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今天我汇报的是 DeepAudit 智能审计平台。先给一个结论：它已经不是单点扫描工具，而是一套把“项目接入、分析、验证、报告交付”串成闭环的审计平台。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天我会从四个部分展开：为什么要做、现在已经做成了什么、背后的架构和实现方法，以及现场怎么演示。整场汇报我会尽量少讲概念，多讲结果和能力，也会把现场演示和技术实现对应起来，方便大家更直观地看到 DeepAudit 已经具备的完整链路。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我们之所以做 DeepAudit，核心原因是传统扫描工具虽然能发现问题，但普遍存在三个短板：第一，结果解释弱，很多时候只能告诉你“有问题”，但不能很好地说明“为什么是问题”；第二，验证弱，很多发现停留在静态扫描层面，缺少动态验证和上下文判断；第三，交付弱，结果往往碎片化，难以直接形成标准化报告，也不利于复盘和沉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 DeepAudit 的定位不是“再做一个扫描器”，而是把审计升级成一个可运行、可追踪、可复用的工作台。它要解决的不是单次发现，而是把项目接入之后的分析、验证和报告形成一个完整闭环，让审计结果真正能用于汇报、留档和后续治理。换句话说，DeepAudit 的价值不是多扫几个漏洞，而是把安全审计从“工具输出”变成“流程化交付”。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这一页我想重点说明，DeepAudit 现在已经不是一些零散功能点，而是形成了“接入—分析—治理—交付”的完整链路。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在项目接入层面，我们支持仓库、ZIP、分支、成员、回收站等对象，项目的权限和上下文都已经可以统一管理；在审计能力层面，既支持传统扫描，也支持 Agent 审计和即时分析；在策略治理层面，规则集、提示词模板、RAG 知识库和系统配置都已经对象化管理；在结果交付层面，Dashboard、任务详情、PDF 和 JSON 报告也已经串通。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如果把它抽象成对象模型，可以理解为以 AuditProject 作为上下文根对象，下面挂着 AuditTask、AgentTask、AgentFinding、AuditArtifact、Report 这些核心对象。这样做的好处是，项目、任务、策略、知识和报告都围绕同一个主链来组织，既便于追踪，也便于回放和复用。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架构上，DeepAudit 采用的是独立前端加后端聚合服务的方式。前端是单独的 /deepaudit-app/，主要负责交互、展示和实时渲染；后端统一挂在 /api/deepaudit/*，按业务域拆分，不是一个大接口包打天下；长任务则交给 Celery 和 AgentRunner 去执行，实时结果再通过 SSE 和 WebSocket 回传到前端。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这里最关键的不是“接口多不多”，而是“执行”和“回传”被拆开了。这样长任务就不会把页面卡死，前端也能持续看到过程，而不是只能等一个最终结果。整条链路里，ASGI、Redis、Channels 和 Nginx 都不是背景板，而是整个实时链路成立的基础。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从运行方式上看，我们其实是把 DeepAudit 做成了一个可观测的异步系统：用户看到的是界面，系统内部跑的是任务编排、状态传递和事件流推送。这样既能支撑现场演示，也能支撑后续正式部署。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这一页讲的是多智能体编排架构。DeepAudit 不是让一个大模型一把梭，而是让 Orchestrator 先做规划，再把任务拆给不同角色的 Agent 去执行。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Orchestrator 的职责是判断当前审计阶段应该先做什么，再决定是走侦察、分析还是验证。它采用的不是静态流程图，而是基于 ReAct 的循环决策：先思考，再调用工具或派发子任务，再根据观察结果继续收敛。这样做的好处是，面对不同项目、不同代码结构、不同风险类型时，系统可以动态调整策略，而不是被固定规则限制住。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下面这三个子 Agent 的分工也很清晰：Recon 负责识别项目结构、技术栈和高危入口；Analysis 负责结合工具和上下文做深层漏洞挖掘；Verification 负责减少误报，并在必要时做更进一步的验证。它们之间不是并列摆设，而是通过 TaskHandoff 协议传递上下文、证据和高优先级区域。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所以这一页的核心信息是：DeepAudit 的智能不是“一个模型说了算”，而是“编排、分工、交接、验证”共同形成的。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实现方法上，DeepAudit 的核心思路可以概括成一句话：先工具、再推理；先收敛、再验证；先回传、再报告。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在任务入口层，我们把项目任务、传统扫描任务和 Agent 审计任务分成不同的服务域来处理，避免一套逻辑覆盖所有场景。工作区准备阶段会统一处理 workspace、git worktree、ZIP、SSH 和目录清理，这样不管是仓库、压缩包还是远程访问，都能进入同一条分析链。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在编排层，Orchestrator 负责先决定审计范围，再调度 recon、analysis、verification、reporting 这些阶段。这里不是一上来就让模型直接下结论，而是先让工具跑起来，再让模型做语义收敛和解释。像 Semgrep、Bandit、Gitleaks、OSV-Scanner 这些外部工具，会先帮我们把事实面的问题筛出来；随后模型再结合上下文做归因、解释和建议。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在实时层，我们把 thinking、tool_call、finding、checkpoint 这些中间状态都持续回传出来，前端也支持断点续传和重连。这样一来，DeepAudit 展示给领导的不是一个静态终稿，而是一个过程可见、结果可复核、任务可恢复的审计系统。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这一页继续讲工具链和沙箱验证。DeepAudit 的思路不是只依赖模型，而是先把专业工具链接进来，用工具负责事实面的覆盖，再由模型负责解释和收敛。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工具层里，像 Semgrep、Bandit、Gitleaks、OSV-Scanner 这些外部工具先承担广覆盖扫描；同时我们也保留 AST 和代码语义能力，帮助模型更准确地理解函数、类、调用链和数据流。这样做的好处是，模型不会只看到文本片段，而是能拿到更完整的上下文。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更关键的是验证层。对于有条件进一步确认的漏洞，DeepAudit 会把上下文交给沙箱环境，自动生成 PoC 或验证逻辑，再在隔离环境中执行。这样就能把“疑似问题”往“可利用问题”推进，减少传统静态扫描里最常见的误报和歧义。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所以这一页想强调的是：DeepAudit 不是只会发现问题，而是尽量把问题确认到可解释、可验证的程度。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这一页的重点是：我们把“经验”和“事实”分开管理了。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通用漏洞知识、项目专项知识和项目代码 RAG 三层分别承担不同职责。共享基线知识负责通用漏洞模式和长期稳定规则；项目专项知识负责团队经验、误报边界和内部规范；项目 RAG 则负责把当前仓库里的事实找出来，也就是“这个项目现在到底有什么”。这样设计之后，DeepAudit 就不会把知识、规则和项目上下文混在一起，减少经验散落和重复维护。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在配置上，LLM 和 Embedding 都可以通过内网网关访问，LLM_BASE_URL 和 EMBEDDING_BASE_URL 都可以指向受控地址，避免生产流量直接出网；首 token 超时和流式超时也都有独立控制；tiktoken 还能走本地缓存，保证离线或内网环境也能稳定运行。同时，用户级配置还能覆盖系统默认值，这样不同团队、不同模型策略都能按自己的方式接入。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所以这部分的本质是：知识库负责经验，RAG 负责事实，模型配置负责边界。三者一起，DeepAudit 才能稳定地做出可解释、可控的审计结果。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这一页我建议按固定顺序演示，这样领导能先看到结果，再看到过程。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第一步先看 Dashboard，让大家先建立整体印象：总览、最近项目、任务数量、规则和模板统计都能一眼看到。第二步进入项目管理，看看仓库、ZIP、分支、成员和项目详情，确认项目接入本身是完整的。第三步打开一个 Agent 审计任务，重点看实时事件流、任务树、Finding 和 Checkpoint，让大家看到它不是一次性出结果，而是边分析边回传。第四步打开报告页，展示问题定位、修复建议，以及 PDF / JSON 的导出。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如果现场实时流比较稳定，就尽量让大家看到完整过程；如果实时流临时不稳定，也不要硬撑，直接切到报告页或截图兜底，因为今天要证明的不是某个按钮，而是“项目接入 + 分析 + 报告”这条主线已经跑通。演示时我会特别强调：DeepAudit 的价值不是把页面点一遍，而是把一个项目从接入到交付的闭环完整跑出来。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这一页我想传达两个信息。第一，DeepAudit 的主线闭环已经成型，项目接入、智能分析、实时回传和报告交付都已经跑通；第二，现在已经不是“有没有”的问题，而是“怎么持续运营、怎么沉淀价值”的问题。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所以接下来我们的重点会放在四件事上：一是继续补充知识库，把更多真实场景、误报边界和修复建议沉淀进去；二是扩展规则覆盖，让更多语言、框架和项目类型都能更稳定地支持；三是完善部署监控，把 ASGI、Redis、Nginx 和日志告警这些基础设施补齐；四是补真实运营指标。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这页里预留的几个指标位，比如审计任务数、有效发现数、报告导出数、知识库条目数，建议现场前再补真实数据，避免在 PPT 里硬编数字。所以这一页的结论很简单：平台已经跑通，下一步是把能力沉淀成可持续运营的能力。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这页主要是给领导和现场问答做技术备份，方便快速对上“页面怎么进、接口怎么挂”。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前端这边，/ 是 Agent 审计工作台，/dashboard 是仪表盘，/projects 是项目管理，/instant-analysis 是即时分析，/audit-tasks 是传统任务，/audit-rules、/prompts、/admin、/recycle-bin 则对应策略治理和回收站。这样做的好处是，页面和业务域是一一对应的，不会混在一起。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后端这边，接口按业务域拆分：项目、成员、扫描、Agent 任务、规则、提示词、配置、RAG、数据工具、看板和报告都各有入口，不是单一大接口。前端实时链路则由 agentStream.ts、useResilientStream.ts 和相关适配层一起支撑，整体通过 SSE 和 WebSocket 回传。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如果现场有人问“为什么要这么拆”，你可以直接回答：因为这样更利于维护、更利于扩展，也更利于把一个大平台拆成清晰的业务边界。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这页是现场兜底说明，主要解决两个问题：如果实时流不稳怎么办，以及正式演示前要先确认哪些基础依赖。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第一，演示时如果 SSE 或 WebSocket 不稳定，我们就先保主线，再切截图兜底。只要“项目接入 + 分析 + 报告”能跑通，主线就成立，实时流是加分项，不是唯一证明方式。第二，部署前要先确认 ASGI、Celery、Redis、Channels、Nginx 这些基础依赖都正常，特别是流式输出不要被代理缓冲。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常见故障可以这么排查：如果页面能打开但不刷新，优先查 SSE、WebSocket、buffering 和 Nginx 配置；如果接口返回 401 或 404，先看 token、baseURL 和 /basic-api/api 是否对齐；如果日志里有任务但 UI 没事件，通常是 Redis、Channels 或 worker 没起来。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所以现场演示的原则很简单：先保主线，再看细节；先看结果，再解释过程。最后就可以进入 Q&amp;A。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979680cd544aa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eaea1b697ba4d89" /><Relationship Type="http://schemas.openxmlformats.org/officeDocument/2006/relationships/slideLayout" Target="/ppt/slideLayouts/slideLayout2.xml" Id="Rd7a398004e8a43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a398004e8a43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93dfdc31184acc" /><Relationship Type="http://schemas.openxmlformats.org/officeDocument/2006/relationships/image" Target="/ppt/media/image.png" Id="R2ad177d3cc5f49f5" /><Relationship Type="http://schemas.openxmlformats.org/officeDocument/2006/relationships/notesSlide" Target="/ppt/notesSlides/notesSlide1.xml" Id="R29cc655f6dfe44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90bbb5562c4d04" /><Relationship Type="http://schemas.openxmlformats.org/officeDocument/2006/relationships/notesSlide" Target="/ppt/notesSlides/notesSlide2.xml" Id="R22a7838656bb42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29f36774144598" /><Relationship Type="http://schemas.openxmlformats.org/officeDocument/2006/relationships/notesSlide" Target="/ppt/notesSlides/notesSlide3.xml" Id="R6397259ee2214be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53c54f7cdc473b" /><Relationship Type="http://schemas.openxmlformats.org/officeDocument/2006/relationships/notesSlide" Target="/ppt/notesSlides/notesSlide4.xml" Id="R47b437c94fa246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4fd2f95565479a" /><Relationship Type="http://schemas.openxmlformats.org/officeDocument/2006/relationships/notesSlide" Target="/ppt/notesSlides/notesSlide5.xml" Id="R1b44e8979e0641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9f69b2629d401a" /><Relationship Type="http://schemas.openxmlformats.org/officeDocument/2006/relationships/notesSlide" Target="/ppt/notesSlides/notesSlide6.xml" Id="R995797bca0854a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4cb6fb15c74a40" /><Relationship Type="http://schemas.openxmlformats.org/officeDocument/2006/relationships/notesSlide" Target="/ppt/notesSlides/notesSlide7.xml" Id="Rd11906883dc244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d489607f9a4d2f" /><Relationship Type="http://schemas.openxmlformats.org/officeDocument/2006/relationships/notesSlide" Target="/ppt/notesSlides/notesSlide8.xml" Id="R232a561ee96d4d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7272ea0cd04ea0" /><Relationship Type="http://schemas.openxmlformats.org/officeDocument/2006/relationships/image" Target="/ppt/media/image2.png" Id="R4ec987269dad4a3a" /><Relationship Type="http://schemas.openxmlformats.org/officeDocument/2006/relationships/notesSlide" Target="/ppt/notesSlides/notesSlide9.xml" Id="Rd75693bf504b4e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b4f905113e4ecf" /><Relationship Type="http://schemas.openxmlformats.org/officeDocument/2006/relationships/notesSlide" Target="/ppt/notesSlides/notesSlide10.xml" Id="R554f642d099740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85f8e3783b465f" /><Relationship Type="http://schemas.openxmlformats.org/officeDocument/2006/relationships/notesSlide" Target="/ppt/notesSlides/notesSlide11.xml" Id="Re51eb9b1ffba496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7c882ed5104593" /><Relationship Type="http://schemas.openxmlformats.org/officeDocument/2006/relationships/notesSlide" Target="/ppt/notesSlides/notesSlide12.xml" Id="R08a603ba928d4de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lead">
            <a:extLst xmlns:a="http://schemas.openxmlformats.org/drawingml/2006/main">
              <a:ext uri="{FF2B5EF4-FFF2-40B4-BE49-F238E27FC236}">
                <a16:creationId xmlns:a16="http://schemas.microsoft.com/office/drawing/2014/main" id="{23FCA44C-E45D-4FC9-BE87-827EB7A9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8390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部门汇报 · 15 分钟</a:t>
            </a:r>
          </a:p>
        </p:txBody>
      </p:sp>
      <p:sp>
        <p:nvSpPr>
          <p:cNvPr id="2" name="cover-title-a">
            <a:extLst xmlns:a="http://schemas.openxmlformats.org/drawingml/2006/main">
              <a:ext uri="{FF2B5EF4-FFF2-40B4-BE49-F238E27FC236}">
                <a16:creationId xmlns:a16="http://schemas.microsoft.com/office/drawing/2014/main" id="{9FD89508-0377-4804-9C7F-A6836DAD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4330"/>
            <a:ext cx="3405949" cy="7543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49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DeepAudit</a:t>
            </a:r>
          </a:p>
        </p:txBody>
      </p:sp>
      <p:sp>
        <p:nvSpPr>
          <p:cNvPr id="3" name="cover-title-b">
            <a:extLst xmlns:a="http://schemas.openxmlformats.org/drawingml/2006/main">
              <a:ext uri="{FF2B5EF4-FFF2-40B4-BE49-F238E27FC236}">
                <a16:creationId xmlns:a16="http://schemas.microsoft.com/office/drawing/2014/main" id="{5E94F673-AAEF-4C5E-94FB-094DB5E0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80160"/>
            <a:ext cx="3150679" cy="6172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40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智能审计平台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12642AA-392D-418E-8054-24F760D6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68830"/>
            <a:ext cx="4095750" cy="502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LLM + RAG + 多智能体，把“项目接入 → 分析 → 验证 → 报告”做成闭环</a:t>
            </a:r>
          </a:p>
        </p:txBody>
      </p:sp>
      <p:sp>
        <p:nvSpPr>
          <p:cNvPr id="5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486EF240-C82F-4AE2-9336-B3057394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71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6" name="chip-项目演示">
            <a:extLst xmlns:a="http://schemas.openxmlformats.org/drawingml/2006/main">
              <a:ext uri="{FF2B5EF4-FFF2-40B4-BE49-F238E27FC236}">
                <a16:creationId xmlns:a16="http://schemas.microsoft.com/office/drawing/2014/main" id="{F349A2D2-AF0E-49F5-82D2-E321D29C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"/>
            <a:ext cx="15240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8000"/>
            </a:srgbClr>
          </a:solidFill>
          <a:ln xmlns:a="http://schemas.openxmlformats.org/drawingml/2006/main" w="9525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7" name="chip-text-项目演示">
            <a:extLst xmlns:a="http://schemas.openxmlformats.org/drawingml/2006/main">
              <a:ext uri="{FF2B5EF4-FFF2-40B4-BE49-F238E27FC236}">
                <a16:creationId xmlns:a16="http://schemas.microsoft.com/office/drawing/2014/main" id="{3B33E8AE-32A0-4B7A-A775-3E54EB88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633" y="293370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项目演示</a:t>
            </a:r>
          </a:p>
        </p:txBody>
      </p:sp>
      <p:sp>
        <p:nvSpPr>
          <p:cNvPr id="8" name="chip-架构设计">
            <a:extLst xmlns:a="http://schemas.openxmlformats.org/drawingml/2006/main">
              <a:ext uri="{FF2B5EF4-FFF2-40B4-BE49-F238E27FC236}">
                <a16:creationId xmlns:a16="http://schemas.microsoft.com/office/drawing/2014/main" id="{CDE9BE4E-DC34-4188-85F1-E37EE2C9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33700"/>
            <a:ext cx="15240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9" name="chip-text-架构设计">
            <a:extLst xmlns:a="http://schemas.openxmlformats.org/drawingml/2006/main">
              <a:ext uri="{FF2B5EF4-FFF2-40B4-BE49-F238E27FC236}">
                <a16:creationId xmlns:a16="http://schemas.microsoft.com/office/drawing/2014/main" id="{B790656B-F8FC-45C0-9B0E-6D44A929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8883" y="293370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架构设计</a:t>
            </a:r>
          </a:p>
        </p:txBody>
      </p:sp>
      <p:sp>
        <p:nvSpPr>
          <p:cNvPr id="10" name="chip-实现方法">
            <a:extLst xmlns:a="http://schemas.openxmlformats.org/drawingml/2006/main">
              <a:ext uri="{FF2B5EF4-FFF2-40B4-BE49-F238E27FC236}">
                <a16:creationId xmlns:a16="http://schemas.microsoft.com/office/drawing/2014/main" id="{CBBF5C1D-C233-4307-9215-6F29EB3F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33700"/>
            <a:ext cx="15240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11" name="chip-text-实现方法">
            <a:extLst xmlns:a="http://schemas.openxmlformats.org/drawingml/2006/main">
              <a:ext uri="{FF2B5EF4-FFF2-40B4-BE49-F238E27FC236}">
                <a16:creationId xmlns:a16="http://schemas.microsoft.com/office/drawing/2014/main" id="{A57C24B2-D157-4E90-AE23-7BDD1E5A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8133" y="293370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实现方法</a:t>
            </a:r>
          </a:p>
        </p:txBody>
      </p:sp>
      <p:sp>
        <p:nvSpPr>
          <p:cNvPr id="12" name="cover-meta">
            <a:extLst xmlns:a="http://schemas.openxmlformats.org/drawingml/2006/main">
              <a:ext uri="{FF2B5EF4-FFF2-40B4-BE49-F238E27FC236}">
                <a16:creationId xmlns:a16="http://schemas.microsoft.com/office/drawing/2014/main" id="{03413DBA-C108-4DFF-8203-A039294E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65170"/>
            <a:ext cx="241192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75467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475467"/>
                </a:solidFill>
                <a:latin typeface="Menlo"/>
                <a:ea typeface="Menlo"/>
                <a:cs typeface="Menlo"/>
              </a:rPr>
              <a:t>Focus 平台内的独立智能审计子系统</a:t>
            </a:r>
          </a:p>
        </p:txBody>
      </p:sp>
      <p:sp>
        <p:nvSpPr>
          <p:cNvPr id="13" name="cover-footnote">
            <a:extLst xmlns:a="http://schemas.openxmlformats.org/drawingml/2006/main">
              <a:ext uri="{FF2B5EF4-FFF2-40B4-BE49-F238E27FC236}">
                <a16:creationId xmlns:a16="http://schemas.microsoft.com/office/drawing/2014/main" id="{60BFF81E-6726-4ADE-ADD0-496511D9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08070"/>
            <a:ext cx="225218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白底红色版 · 领导汇报 / 项目演示</a:t>
            </a:r>
          </a:p>
        </p:txBody>
      </p:sp>
      <p:sp>
        <p:nvSpPr>
          <p:cNvPr id="14" name="cover-visual-kicker">
            <a:extLst xmlns:a="http://schemas.openxmlformats.org/drawingml/2006/main">
              <a:ext uri="{FF2B5EF4-FFF2-40B4-BE49-F238E27FC236}">
                <a16:creationId xmlns:a16="http://schemas.microsoft.com/office/drawing/2014/main" id="{46C4FB8D-E676-4B59-ADF3-903C9E01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4330"/>
            <a:ext cx="133035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主页预览 / 演示入口</a:t>
            </a:r>
          </a:p>
        </p:txBody>
      </p:sp>
      <p:sp>
        <p:nvSpPr>
          <p:cNvPr id="15" name="cover-card">
            <a:extLst xmlns:a="http://schemas.openxmlformats.org/drawingml/2006/main">
              <a:ext uri="{FF2B5EF4-FFF2-40B4-BE49-F238E27FC236}">
                <a16:creationId xmlns:a16="http://schemas.microsoft.com/office/drawing/2014/main" id="{609325F7-7771-498D-816C-197D99B68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28650"/>
            <a:ext cx="71056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E60012">
                <a:alpha val="30000"/>
              </a:srgbClr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d177d3cc5f49f5"/>
          <a:stretch xmlns:a="http://schemas.openxmlformats.org/drawingml/2006/main"/>
        </p:blipFill>
        <p:spPr>
          <a:xfrm xmlns:a="http://schemas.openxmlformats.org/drawingml/2006/main">
            <a:off x="6191250" y="1845535"/>
            <a:ext cx="4762500" cy="25763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3456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为什么要做-deepaudit">
            <a:extLst xmlns:a="http://schemas.openxmlformats.org/drawingml/2006/main">
              <a:ext uri="{FF2B5EF4-FFF2-40B4-BE49-F238E27FC236}">
                <a16:creationId xmlns:a16="http://schemas.microsoft.com/office/drawing/2014/main" id="{67AA8BC5-829C-44CE-9120-D07FCF9A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11814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WHY DEEPAUDIT</a:t>
            </a:r>
          </a:p>
        </p:txBody>
      </p:sp>
      <p:sp>
        <p:nvSpPr>
          <p:cNvPr id="2" name="header-title-为什么要做-deepaudit">
            <a:extLst xmlns:a="http://schemas.openxmlformats.org/drawingml/2006/main">
              <a:ext uri="{FF2B5EF4-FFF2-40B4-BE49-F238E27FC236}">
                <a16:creationId xmlns:a16="http://schemas.microsoft.com/office/drawing/2014/main" id="{258E6941-AD4D-4DF6-85C9-E950C0AC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为什么要做 DeepAudit</a:t>
            </a:r>
          </a:p>
        </p:txBody>
      </p:sp>
      <p:sp>
        <p:nvSpPr>
          <p:cNvPr id="3" name="header-subtitle-为什么要做-deepaudit">
            <a:extLst xmlns:a="http://schemas.openxmlformats.org/drawingml/2006/main">
              <a:ext uri="{FF2B5EF4-FFF2-40B4-BE49-F238E27FC236}">
                <a16:creationId xmlns:a16="http://schemas.microsoft.com/office/drawing/2014/main" id="{29DC37EB-C9C5-429C-AC8C-E12C43F1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传统扫描能找问题，但很难解释、很难验证、也很难形成可复用的交付。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F8C2A1D6-F747-4190-BC3B-E480BACC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5" name="why-statement">
            <a:extLst xmlns:a="http://schemas.openxmlformats.org/drawingml/2006/main">
              <a:ext uri="{FF2B5EF4-FFF2-40B4-BE49-F238E27FC236}">
                <a16:creationId xmlns:a16="http://schemas.microsoft.com/office/drawing/2014/main" id="{3D07E1BB-318E-4B63-B2D2-6E62EA49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3429000" cy="3886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定位不是“再做一个扫描器”，而是把审计变成一套可运行的工作台。</a:t>
            </a:r>
          </a:p>
        </p:txBody>
      </p:sp>
      <p:sp>
        <p:nvSpPr>
          <p:cNvPr id="6" name="why-rule">
            <a:extLst xmlns:a="http://schemas.openxmlformats.org/drawingml/2006/main">
              <a:ext uri="{FF2B5EF4-FFF2-40B4-BE49-F238E27FC236}">
                <a16:creationId xmlns:a16="http://schemas.microsoft.com/office/drawing/2014/main" id="{42640BA7-C87C-4C29-9AF5-D86BFC4B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2222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7" name="bullet-dot-规则固定">
            <a:extLst xmlns:a="http://schemas.openxmlformats.org/drawingml/2006/main">
              <a:ext uri="{FF2B5EF4-FFF2-40B4-BE49-F238E27FC236}">
                <a16:creationId xmlns:a16="http://schemas.microsoft.com/office/drawing/2014/main" id="{EA77468F-8378-46FA-B6D1-2F8E4AC7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127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规则固定">
            <a:extLst xmlns:a="http://schemas.openxmlformats.org/drawingml/2006/main">
              <a:ext uri="{FF2B5EF4-FFF2-40B4-BE49-F238E27FC236}">
                <a16:creationId xmlns:a16="http://schemas.microsoft.com/office/drawing/2014/main" id="{CFA6E735-3BDE-446E-9568-0A4DED0A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272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规则固定</a:t>
            </a:r>
          </a:p>
        </p:txBody>
      </p:sp>
      <p:sp>
        <p:nvSpPr>
          <p:cNvPr id="9" name="bullet-detail-规则固定">
            <a:extLst xmlns:a="http://schemas.openxmlformats.org/drawingml/2006/main">
              <a:ext uri="{FF2B5EF4-FFF2-40B4-BE49-F238E27FC236}">
                <a16:creationId xmlns:a16="http://schemas.microsoft.com/office/drawing/2014/main" id="{680D55EB-19C3-42DB-ABCB-3D7175652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513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只能覆盖已知模式，面对复杂业务和组合风险时容易失焦。</a:t>
            </a:r>
          </a:p>
        </p:txBody>
      </p:sp>
      <p:sp>
        <p:nvSpPr>
          <p:cNvPr id="10" name="bullet-dot-解释弱">
            <a:extLst xmlns:a="http://schemas.openxmlformats.org/drawingml/2006/main">
              <a:ext uri="{FF2B5EF4-FFF2-40B4-BE49-F238E27FC236}">
                <a16:creationId xmlns:a16="http://schemas.microsoft.com/office/drawing/2014/main" id="{4381F008-9C9C-48B0-B1B5-1FA63266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594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解释弱">
            <a:extLst xmlns:a="http://schemas.openxmlformats.org/drawingml/2006/main">
              <a:ext uri="{FF2B5EF4-FFF2-40B4-BE49-F238E27FC236}">
                <a16:creationId xmlns:a16="http://schemas.microsoft.com/office/drawing/2014/main" id="{30D1FD37-D39E-4341-8552-E2356504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5948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解释弱</a:t>
            </a:r>
          </a:p>
        </p:txBody>
      </p:sp>
      <p:sp>
        <p:nvSpPr>
          <p:cNvPr id="12" name="bullet-detail-解释弱">
            <a:extLst xmlns:a="http://schemas.openxmlformats.org/drawingml/2006/main">
              <a:ext uri="{FF2B5EF4-FFF2-40B4-BE49-F238E27FC236}">
                <a16:creationId xmlns:a16="http://schemas.microsoft.com/office/drawing/2014/main" id="{FA05D87B-0F74-4B64-82E7-D897A6C5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9189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发现结果碎片化，难以让领导和研发快速判断优先级。</a:t>
            </a:r>
          </a:p>
        </p:txBody>
      </p:sp>
      <p:sp>
        <p:nvSpPr>
          <p:cNvPr id="13" name="bullet-dot-验证弱">
            <a:extLst xmlns:a="http://schemas.openxmlformats.org/drawingml/2006/main">
              <a:ext uri="{FF2B5EF4-FFF2-40B4-BE49-F238E27FC236}">
                <a16:creationId xmlns:a16="http://schemas.microsoft.com/office/drawing/2014/main" id="{516A5528-A090-4411-A123-115880EF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062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验证弱">
            <a:extLst xmlns:a="http://schemas.openxmlformats.org/drawingml/2006/main">
              <a:ext uri="{FF2B5EF4-FFF2-40B4-BE49-F238E27FC236}">
                <a16:creationId xmlns:a16="http://schemas.microsoft.com/office/drawing/2014/main" id="{AE4A8233-D5E5-434B-ACEC-C70F2318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0624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验证弱</a:t>
            </a:r>
          </a:p>
        </p:txBody>
      </p:sp>
      <p:sp>
        <p:nvSpPr>
          <p:cNvPr id="15" name="bullet-detail-验证弱">
            <a:extLst xmlns:a="http://schemas.openxmlformats.org/drawingml/2006/main">
              <a:ext uri="{FF2B5EF4-FFF2-40B4-BE49-F238E27FC236}">
                <a16:creationId xmlns:a16="http://schemas.microsoft.com/office/drawing/2014/main" id="{AAA9588A-94B6-4E94-9E09-C4C76EFD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3865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缺少动态验证、PoC 和回放，结论往往停留在“发现”而不是“落地”。</a:t>
            </a:r>
          </a:p>
        </p:txBody>
      </p:sp>
      <p:sp>
        <p:nvSpPr>
          <p:cNvPr id="16" name="why-target-kicker">
            <a:extLst xmlns:a="http://schemas.openxmlformats.org/drawingml/2006/main">
              <a:ext uri="{FF2B5EF4-FFF2-40B4-BE49-F238E27FC236}">
                <a16:creationId xmlns:a16="http://schemas.microsoft.com/office/drawing/2014/main" id="{EF9E7044-D981-4F32-A83E-D7C0A531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62150"/>
            <a:ext cx="121148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DeepAudit 的目标</a:t>
            </a:r>
          </a:p>
        </p:txBody>
      </p:sp>
      <p:sp>
        <p:nvSpPr>
          <p:cNvPr id="17" name="why-target-title">
            <a:extLst xmlns:a="http://schemas.openxmlformats.org/drawingml/2006/main">
              <a:ext uri="{FF2B5EF4-FFF2-40B4-BE49-F238E27FC236}">
                <a16:creationId xmlns:a16="http://schemas.microsoft.com/office/drawing/2014/main" id="{7F0B6E65-83A5-4DCB-8BB3-F957ADD5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17420"/>
            <a:ext cx="6096000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把“项目接入 → 分析 → 验证 → 报告”串成闭环。</a:t>
            </a:r>
          </a:p>
        </p:txBody>
      </p:sp>
      <p:sp>
        <p:nvSpPr>
          <p:cNvPr id="18" name="why-target-subtitle">
            <a:extLst xmlns:a="http://schemas.openxmlformats.org/drawingml/2006/main">
              <a:ext uri="{FF2B5EF4-FFF2-40B4-BE49-F238E27FC236}">
                <a16:creationId xmlns:a16="http://schemas.microsoft.com/office/drawing/2014/main" id="{C4AE5A69-B287-4C31-8F79-0EFF0514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81350"/>
            <a:ext cx="60960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它不是单点工具，而是面向部门内部审计流程的智能审计工作台。</a:t>
            </a:r>
          </a:p>
        </p:txBody>
      </p:sp>
      <p:sp>
        <p:nvSpPr>
          <p:cNvPr id="19" name="why-trad">
            <a:extLst xmlns:a="http://schemas.openxmlformats.org/drawingml/2006/main">
              <a:ext uri="{FF2B5EF4-FFF2-40B4-BE49-F238E27FC236}">
                <a16:creationId xmlns:a16="http://schemas.microsoft.com/office/drawing/2014/main" id="{8BF48B05-D109-4F6D-B163-1938C66D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93770"/>
            <a:ext cx="583406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75467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475467"/>
                </a:solidFill>
                <a:latin typeface="Menlo"/>
                <a:ea typeface="Menlo"/>
                <a:cs typeface="Menlo"/>
              </a:rPr>
              <a:t>传统方式</a:t>
            </a:r>
          </a:p>
        </p:txBody>
      </p:sp>
      <p:sp>
        <p:nvSpPr>
          <p:cNvPr id="20" name="bullet-dot-扫描结果多">
            <a:extLst xmlns:a="http://schemas.openxmlformats.org/drawingml/2006/main">
              <a:ext uri="{FF2B5EF4-FFF2-40B4-BE49-F238E27FC236}">
                <a16:creationId xmlns:a16="http://schemas.microsoft.com/office/drawing/2014/main" id="{A4CDE5AF-482E-4E10-AA2D-5EFAF4A3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414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21" name="bullet-title-扫描结果多">
            <a:extLst xmlns:a="http://schemas.openxmlformats.org/drawingml/2006/main">
              <a:ext uri="{FF2B5EF4-FFF2-40B4-BE49-F238E27FC236}">
                <a16:creationId xmlns:a16="http://schemas.microsoft.com/office/drawing/2014/main" id="{02B1AB3B-7F7C-4729-B942-E63C139A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4142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扫描结果多</a:t>
            </a:r>
          </a:p>
        </p:txBody>
      </p:sp>
      <p:sp>
        <p:nvSpPr>
          <p:cNvPr id="22" name="bullet-detail-扫描结果多">
            <a:extLst xmlns:a="http://schemas.openxmlformats.org/drawingml/2006/main">
              <a:ext uri="{FF2B5EF4-FFF2-40B4-BE49-F238E27FC236}">
                <a16:creationId xmlns:a16="http://schemas.microsoft.com/office/drawing/2014/main" id="{C4EA66DB-13E4-4DD5-BB3A-48EE6154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73830"/>
            <a:ext cx="24955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但上下文弱。</a:t>
            </a:r>
          </a:p>
        </p:txBody>
      </p:sp>
      <p:sp>
        <p:nvSpPr>
          <p:cNvPr id="23" name="bullet-dot-问题能发现">
            <a:extLst xmlns:a="http://schemas.openxmlformats.org/drawingml/2006/main">
              <a:ext uri="{FF2B5EF4-FFF2-40B4-BE49-F238E27FC236}">
                <a16:creationId xmlns:a16="http://schemas.microsoft.com/office/drawing/2014/main" id="{48D448A5-CE26-4E70-BDFE-ED8C4CB3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14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24" name="bullet-title-问题能发现">
            <a:extLst xmlns:a="http://schemas.openxmlformats.org/drawingml/2006/main">
              <a:ext uri="{FF2B5EF4-FFF2-40B4-BE49-F238E27FC236}">
                <a16:creationId xmlns:a16="http://schemas.microsoft.com/office/drawing/2014/main" id="{FFEDAAD0-F58D-464C-AABD-BF5A5B57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22148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问题能发现</a:t>
            </a:r>
          </a:p>
        </p:txBody>
      </p:sp>
      <p:sp>
        <p:nvSpPr>
          <p:cNvPr id="25" name="bullet-detail-问题能发现">
            <a:extLst xmlns:a="http://schemas.openxmlformats.org/drawingml/2006/main">
              <a:ext uri="{FF2B5EF4-FFF2-40B4-BE49-F238E27FC236}">
                <a16:creationId xmlns:a16="http://schemas.microsoft.com/office/drawing/2014/main" id="{ACDC118B-326A-4125-9037-C7AD8F24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53890"/>
            <a:ext cx="24955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但无法统一解释。</a:t>
            </a:r>
          </a:p>
        </p:txBody>
      </p:sp>
      <p:sp>
        <p:nvSpPr>
          <p:cNvPr id="26" name="bullet-dot-报告能导出">
            <a:extLst xmlns:a="http://schemas.openxmlformats.org/drawingml/2006/main">
              <a:ext uri="{FF2B5EF4-FFF2-40B4-BE49-F238E27FC236}">
                <a16:creationId xmlns:a16="http://schemas.microsoft.com/office/drawing/2014/main" id="{7CD6DD2E-BD10-4E69-963A-4B0D6AE7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015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27" name="bullet-title-报告能导出">
            <a:extLst xmlns:a="http://schemas.openxmlformats.org/drawingml/2006/main">
              <a:ext uri="{FF2B5EF4-FFF2-40B4-BE49-F238E27FC236}">
                <a16:creationId xmlns:a16="http://schemas.microsoft.com/office/drawing/2014/main" id="{FFDB435E-05F1-4D9E-963D-6515FD00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70154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报告能导出</a:t>
            </a:r>
          </a:p>
        </p:txBody>
      </p:sp>
      <p:sp>
        <p:nvSpPr>
          <p:cNvPr id="28" name="bullet-detail-报告能导出">
            <a:extLst xmlns:a="http://schemas.openxmlformats.org/drawingml/2006/main">
              <a:ext uri="{FF2B5EF4-FFF2-40B4-BE49-F238E27FC236}">
                <a16:creationId xmlns:a16="http://schemas.microsoft.com/office/drawing/2014/main" id="{F02D6282-2147-41B0-B6BD-030A160E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33950"/>
            <a:ext cx="24955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但不能形成审计闭环。</a:t>
            </a:r>
          </a:p>
        </p:txBody>
      </p:sp>
      <p:sp>
        <p:nvSpPr>
          <p:cNvPr id="29" name="why-deepaudit">
            <a:extLst xmlns:a="http://schemas.openxmlformats.org/drawingml/2006/main">
              <a:ext uri="{FF2B5EF4-FFF2-40B4-BE49-F238E27FC236}">
                <a16:creationId xmlns:a16="http://schemas.microsoft.com/office/drawing/2014/main" id="{F0E1BABA-56C4-4416-BD6E-9C2E4B76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93770"/>
            <a:ext cx="774097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75467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475467"/>
                </a:solidFill>
                <a:latin typeface="Menlo"/>
                <a:ea typeface="Menlo"/>
                <a:cs typeface="Menlo"/>
              </a:rPr>
              <a:t>DeepAudit</a:t>
            </a:r>
          </a:p>
        </p:txBody>
      </p:sp>
      <p:sp>
        <p:nvSpPr>
          <p:cNvPr id="30" name="bullet-dot-接入与权限统一">
            <a:extLst xmlns:a="http://schemas.openxmlformats.org/drawingml/2006/main">
              <a:ext uri="{FF2B5EF4-FFF2-40B4-BE49-F238E27FC236}">
                <a16:creationId xmlns:a16="http://schemas.microsoft.com/office/drawing/2014/main" id="{41A2AAC4-D5F2-42C3-A152-1C878A65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414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31" name="bullet-title-接入与权限统一">
            <a:extLst xmlns:a="http://schemas.openxmlformats.org/drawingml/2006/main">
              <a:ext uri="{FF2B5EF4-FFF2-40B4-BE49-F238E27FC236}">
                <a16:creationId xmlns:a16="http://schemas.microsoft.com/office/drawing/2014/main" id="{D4DDE248-1ECF-4AE0-A2B3-7484CD5F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74142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接入与权限统一</a:t>
            </a:r>
          </a:p>
        </p:txBody>
      </p:sp>
      <p:sp>
        <p:nvSpPr>
          <p:cNvPr id="32" name="bullet-detail-接入与权限统一">
            <a:extLst xmlns:a="http://schemas.openxmlformats.org/drawingml/2006/main">
              <a:ext uri="{FF2B5EF4-FFF2-40B4-BE49-F238E27FC236}">
                <a16:creationId xmlns:a16="http://schemas.microsoft.com/office/drawing/2014/main" id="{0FE9940D-0265-46CB-819F-166C4D25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973830"/>
            <a:ext cx="2495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仓库 / ZIP / 成员 / 回收站 / 角色一体化。</a:t>
            </a:r>
          </a:p>
        </p:txBody>
      </p:sp>
      <p:sp>
        <p:nvSpPr>
          <p:cNvPr id="33" name="bullet-dot-分析过程可观测">
            <a:extLst xmlns:a="http://schemas.openxmlformats.org/drawingml/2006/main">
              <a:ext uri="{FF2B5EF4-FFF2-40B4-BE49-F238E27FC236}">
                <a16:creationId xmlns:a16="http://schemas.microsoft.com/office/drawing/2014/main" id="{977E4115-C25C-4A83-8148-AD468F62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3929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34" name="bullet-title-分析过程可观测">
            <a:extLst xmlns:a="http://schemas.openxmlformats.org/drawingml/2006/main">
              <a:ext uri="{FF2B5EF4-FFF2-40B4-BE49-F238E27FC236}">
                <a16:creationId xmlns:a16="http://schemas.microsoft.com/office/drawing/2014/main" id="{CCD6A5F0-4028-493A-B5E6-1F9E21FD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39293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分析过程可观测</a:t>
            </a:r>
          </a:p>
        </p:txBody>
      </p:sp>
      <p:sp>
        <p:nvSpPr>
          <p:cNvPr id="35" name="bullet-detail-分析过程可观测">
            <a:extLst xmlns:a="http://schemas.openxmlformats.org/drawingml/2006/main">
              <a:ext uri="{FF2B5EF4-FFF2-40B4-BE49-F238E27FC236}">
                <a16:creationId xmlns:a16="http://schemas.microsoft.com/office/drawing/2014/main" id="{06C14783-9A68-46DA-96F6-E7BE19C3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625340"/>
            <a:ext cx="2495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thinking、tool、finding、checkpoint 全程回传。</a:t>
            </a:r>
          </a:p>
        </p:txBody>
      </p:sp>
      <p:sp>
        <p:nvSpPr>
          <p:cNvPr id="36" name="bullet-dot-动态沙箱验证">
            <a:extLst xmlns:a="http://schemas.openxmlformats.org/drawingml/2006/main">
              <a:ext uri="{FF2B5EF4-FFF2-40B4-BE49-F238E27FC236}">
                <a16:creationId xmlns:a16="http://schemas.microsoft.com/office/drawing/2014/main" id="{FFBF27F3-1E8D-41C9-A0DC-E500A3A4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444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37" name="bullet-title-动态沙箱验证">
            <a:extLst xmlns:a="http://schemas.openxmlformats.org/drawingml/2006/main">
              <a:ext uri="{FF2B5EF4-FFF2-40B4-BE49-F238E27FC236}">
                <a16:creationId xmlns:a16="http://schemas.microsoft.com/office/drawing/2014/main" id="{6FFC56BB-D9B2-44EE-A5C2-BCB41AA3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04444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动态沙箱验证</a:t>
            </a:r>
          </a:p>
        </p:txBody>
      </p:sp>
      <p:sp>
        <p:nvSpPr>
          <p:cNvPr id="38" name="bullet-detail-动态沙箱验证">
            <a:extLst xmlns:a="http://schemas.openxmlformats.org/drawingml/2006/main">
              <a:ext uri="{FF2B5EF4-FFF2-40B4-BE49-F238E27FC236}">
                <a16:creationId xmlns:a16="http://schemas.microsoft.com/office/drawing/2014/main" id="{AAC4ABAD-52FD-42A9-A29B-CBEA4E1D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276850"/>
            <a:ext cx="2495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LLM 生成 PoC 并在隔离环境中验证，降低误报。</a:t>
            </a:r>
          </a:p>
        </p:txBody>
      </p:sp>
      <p:sp>
        <p:nvSpPr>
          <p:cNvPr id="39" name="bullet-dot-结果可交付">
            <a:extLst xmlns:a="http://schemas.openxmlformats.org/drawingml/2006/main">
              <a:ext uri="{FF2B5EF4-FFF2-40B4-BE49-F238E27FC236}">
                <a16:creationId xmlns:a16="http://schemas.microsoft.com/office/drawing/2014/main" id="{EC4E3555-7BBF-46F8-95D5-C096B9AE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695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40" name="bullet-title-结果可交付">
            <a:extLst xmlns:a="http://schemas.openxmlformats.org/drawingml/2006/main">
              <a:ext uri="{FF2B5EF4-FFF2-40B4-BE49-F238E27FC236}">
                <a16:creationId xmlns:a16="http://schemas.microsoft.com/office/drawing/2014/main" id="{309CAE6E-8A24-4BDF-BD16-12C0AAC1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69595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结果可交付</a:t>
            </a:r>
          </a:p>
        </p:txBody>
      </p:sp>
      <p:sp>
        <p:nvSpPr>
          <p:cNvPr id="41" name="bullet-detail-结果可交付">
            <a:extLst xmlns:a="http://schemas.openxmlformats.org/drawingml/2006/main">
              <a:ext uri="{FF2B5EF4-FFF2-40B4-BE49-F238E27FC236}">
                <a16:creationId xmlns:a16="http://schemas.microsoft.com/office/drawing/2014/main" id="{B7AD0569-48F2-4E8A-83A0-2C757A1D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928360"/>
            <a:ext cx="2495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报告页、PDF / JSON 导出、Dashboard 可直接演示。</a:t>
            </a:r>
          </a:p>
        </p:txBody>
      </p:sp>
    </p:spTree>
    <p:extLst>
      <p:ext uri="{BB962C8B-B14F-4D97-AF65-F5344CB8AC3E}">
        <p14:creationId xmlns:p14="http://schemas.microsoft.com/office/powerpoint/2010/main" val="20678501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现有功能与对象分工">
            <a:extLst xmlns:a="http://schemas.openxmlformats.org/drawingml/2006/main">
              <a:ext uri="{FF2B5EF4-FFF2-40B4-BE49-F238E27FC236}">
                <a16:creationId xmlns:a16="http://schemas.microsoft.com/office/drawing/2014/main" id="{94233723-17A7-4B29-9E56-00E6A8A4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376172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FEATURE PANORAMA</a:t>
            </a:r>
          </a:p>
        </p:txBody>
      </p:sp>
      <p:sp>
        <p:nvSpPr>
          <p:cNvPr id="2" name="header-title-现有功能与对象分工">
            <a:extLst xmlns:a="http://schemas.openxmlformats.org/drawingml/2006/main">
              <a:ext uri="{FF2B5EF4-FFF2-40B4-BE49-F238E27FC236}">
                <a16:creationId xmlns:a16="http://schemas.microsoft.com/office/drawing/2014/main" id="{0ABA5446-7EA6-4081-AB85-01B0B194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现有功能与对象分工</a:t>
            </a:r>
          </a:p>
        </p:txBody>
      </p:sp>
      <p:sp>
        <p:nvSpPr>
          <p:cNvPr id="3" name="header-subtitle-现有功能与对象分工">
            <a:extLst xmlns:a="http://schemas.openxmlformats.org/drawingml/2006/main">
              <a:ext uri="{FF2B5EF4-FFF2-40B4-BE49-F238E27FC236}">
                <a16:creationId xmlns:a16="http://schemas.microsoft.com/office/drawing/2014/main" id="{48154BF5-7387-49CE-8180-382D9305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已经形成“接入—分析—治理—交付”的完整链路，并围绕项目、任务、策略、知识和报告对象化管理。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B4423D44-B85D-42FD-94FC-DD583D8A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5" name="stage-num-01">
            <a:extLst xmlns:a="http://schemas.openxmlformats.org/drawingml/2006/main">
              <a:ext uri="{FF2B5EF4-FFF2-40B4-BE49-F238E27FC236}">
                <a16:creationId xmlns:a16="http://schemas.microsoft.com/office/drawing/2014/main" id="{E59BF46D-B853-4FAF-BE87-5EFC8CF7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366998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6" name="stage-title-项目接入">
            <a:extLst xmlns:a="http://schemas.openxmlformats.org/drawingml/2006/main">
              <a:ext uri="{FF2B5EF4-FFF2-40B4-BE49-F238E27FC236}">
                <a16:creationId xmlns:a16="http://schemas.microsoft.com/office/drawing/2014/main" id="{8AAF2A24-21F6-47DF-9176-02BD503C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61260"/>
            <a:ext cx="1011555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项目接入</a:t>
            </a:r>
          </a:p>
        </p:txBody>
      </p:sp>
      <p:sp>
        <p:nvSpPr>
          <p:cNvPr id="7" name="stage-rule-项目接入">
            <a:extLst xmlns:a="http://schemas.openxmlformats.org/drawingml/2006/main">
              <a:ext uri="{FF2B5EF4-FFF2-40B4-BE49-F238E27FC236}">
                <a16:creationId xmlns:a16="http://schemas.microsoft.com/office/drawing/2014/main" id="{F6FACABC-DCBF-43FF-BA5A-7BEC1CC4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369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8" name="bullet-dot-仓库-zip-分支">
            <a:extLst xmlns:a="http://schemas.openxmlformats.org/drawingml/2006/main">
              <a:ext uri="{FF2B5EF4-FFF2-40B4-BE49-F238E27FC236}">
                <a16:creationId xmlns:a16="http://schemas.microsoft.com/office/drawing/2014/main" id="{4CBCA447-1859-45C4-93AC-529BB5C5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679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9" name="bullet-title-仓库-zip-分支">
            <a:extLst xmlns:a="http://schemas.openxmlformats.org/drawingml/2006/main">
              <a:ext uri="{FF2B5EF4-FFF2-40B4-BE49-F238E27FC236}">
                <a16:creationId xmlns:a16="http://schemas.microsoft.com/office/drawing/2014/main" id="{20A37014-7D2A-40B4-A43B-52C833B0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799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仓库 / ZIP / 分支</a:t>
            </a:r>
          </a:p>
        </p:txBody>
      </p:sp>
      <p:sp>
        <p:nvSpPr>
          <p:cNvPr id="10" name="bullet-detail-仓库-zip-分支">
            <a:extLst xmlns:a="http://schemas.openxmlformats.org/drawingml/2006/main">
              <a:ext uri="{FF2B5EF4-FFF2-40B4-BE49-F238E27FC236}">
                <a16:creationId xmlns:a16="http://schemas.microsoft.com/office/drawing/2014/main" id="{6A0D306C-CCC3-4059-96F8-01633C26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040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兼容仓库拉取和离线包导入，统一代码上下文。</a:t>
            </a:r>
          </a:p>
        </p:txBody>
      </p:sp>
      <p:sp>
        <p:nvSpPr>
          <p:cNvPr id="11" name="bullet-dot-成员-权限">
            <a:extLst xmlns:a="http://schemas.openxmlformats.org/drawingml/2006/main">
              <a:ext uri="{FF2B5EF4-FFF2-40B4-BE49-F238E27FC236}">
                <a16:creationId xmlns:a16="http://schemas.microsoft.com/office/drawing/2014/main" id="{3A462078-B87B-4864-B8ED-B9D50821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12" name="bullet-title-成员-权限">
            <a:extLst xmlns:a="http://schemas.openxmlformats.org/drawingml/2006/main">
              <a:ext uri="{FF2B5EF4-FFF2-40B4-BE49-F238E27FC236}">
                <a16:creationId xmlns:a16="http://schemas.microsoft.com/office/drawing/2014/main" id="{31253C5B-C6AB-426C-8DAA-1782FE72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成员 / 权限</a:t>
            </a:r>
          </a:p>
        </p:txBody>
      </p:sp>
      <p:sp>
        <p:nvSpPr>
          <p:cNvPr id="13" name="bullet-detail-成员-权限">
            <a:extLst xmlns:a="http://schemas.openxmlformats.org/drawingml/2006/main">
              <a:ext uri="{FF2B5EF4-FFF2-40B4-BE49-F238E27FC236}">
                <a16:creationId xmlns:a16="http://schemas.microsoft.com/office/drawing/2014/main" id="{C3EC548E-3729-4B82-A5C7-00966E5E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7096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项目拥有者、成员角色和页面级访问码一起控制可见性。</a:t>
            </a:r>
          </a:p>
        </p:txBody>
      </p:sp>
      <p:sp>
        <p:nvSpPr>
          <p:cNvPr id="14" name="bullet-dot-回收站-工作区">
            <a:extLst xmlns:a="http://schemas.openxmlformats.org/drawingml/2006/main">
              <a:ext uri="{FF2B5EF4-FFF2-40B4-BE49-F238E27FC236}">
                <a16:creationId xmlns:a16="http://schemas.microsoft.com/office/drawing/2014/main" id="{971C2583-4005-40A9-B391-60FEF5DE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91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15" name="bullet-title-回收站-工作区">
            <a:extLst xmlns:a="http://schemas.openxmlformats.org/drawingml/2006/main">
              <a:ext uri="{FF2B5EF4-FFF2-40B4-BE49-F238E27FC236}">
                <a16:creationId xmlns:a16="http://schemas.microsoft.com/office/drawing/2014/main" id="{FBD1B95F-88C1-42D3-8342-D1B1467C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911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回收站 / 工作区</a:t>
            </a:r>
          </a:p>
        </p:txBody>
      </p:sp>
      <p:sp>
        <p:nvSpPr>
          <p:cNvPr id="16" name="bullet-detail-回收站-工作区">
            <a:extLst xmlns:a="http://schemas.openxmlformats.org/drawingml/2006/main">
              <a:ext uri="{FF2B5EF4-FFF2-40B4-BE49-F238E27FC236}">
                <a16:creationId xmlns:a16="http://schemas.microsoft.com/office/drawing/2014/main" id="{3E9840B0-AD03-4812-AEB1-6C321C59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4152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项目可恢复，运行时 workspace 独立准备和清理。</a:t>
            </a:r>
          </a:p>
        </p:txBody>
      </p:sp>
      <p:sp>
        <p:nvSpPr>
          <p:cNvPr id="17" name="stage-num-02">
            <a:extLst xmlns:a="http://schemas.openxmlformats.org/drawingml/2006/main">
              <a:ext uri="{FF2B5EF4-FFF2-40B4-BE49-F238E27FC236}">
                <a16:creationId xmlns:a16="http://schemas.microsoft.com/office/drawing/2014/main" id="{6BF61899-12EC-4781-A8E6-898A41B3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00250"/>
            <a:ext cx="366998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8" name="stage-title-审计能力">
            <a:extLst xmlns:a="http://schemas.openxmlformats.org/drawingml/2006/main">
              <a:ext uri="{FF2B5EF4-FFF2-40B4-BE49-F238E27FC236}">
                <a16:creationId xmlns:a16="http://schemas.microsoft.com/office/drawing/2014/main" id="{D67B6648-DE33-40A4-A902-9D5EB240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461260"/>
            <a:ext cx="1011555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审计能力</a:t>
            </a:r>
          </a:p>
        </p:txBody>
      </p:sp>
      <p:sp>
        <p:nvSpPr>
          <p:cNvPr id="19" name="stage-rule-审计能力">
            <a:extLst xmlns:a="http://schemas.openxmlformats.org/drawingml/2006/main">
              <a:ext uri="{FF2B5EF4-FFF2-40B4-BE49-F238E27FC236}">
                <a16:creationId xmlns:a16="http://schemas.microsoft.com/office/drawing/2014/main" id="{7A7813D6-F1CB-433F-B8AB-6984CB32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5369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20" name="bullet-dot-传统扫描">
            <a:extLst xmlns:a="http://schemas.openxmlformats.org/drawingml/2006/main">
              <a:ext uri="{FF2B5EF4-FFF2-40B4-BE49-F238E27FC236}">
                <a16:creationId xmlns:a16="http://schemas.microsoft.com/office/drawing/2014/main" id="{C2EE5BB2-DD94-48B3-B283-24CE98A6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679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21" name="bullet-title-传统扫描">
            <a:extLst xmlns:a="http://schemas.openxmlformats.org/drawingml/2006/main">
              <a:ext uri="{FF2B5EF4-FFF2-40B4-BE49-F238E27FC236}">
                <a16:creationId xmlns:a16="http://schemas.microsoft.com/office/drawing/2014/main" id="{0863B12A-D937-4B73-86C2-75D8C907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6799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传统扫描</a:t>
            </a:r>
          </a:p>
        </p:txBody>
      </p:sp>
      <p:sp>
        <p:nvSpPr>
          <p:cNvPr id="22" name="bullet-detail-传统扫描">
            <a:extLst xmlns:a="http://schemas.openxmlformats.org/drawingml/2006/main">
              <a:ext uri="{FF2B5EF4-FFF2-40B4-BE49-F238E27FC236}">
                <a16:creationId xmlns:a16="http://schemas.microsoft.com/office/drawing/2014/main" id="{9C0448D7-546A-4E1B-BC84-9694A6EC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0040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仓库扫描、ZIP 扫描、即时分析三条入口并行。</a:t>
            </a:r>
          </a:p>
        </p:txBody>
      </p:sp>
      <p:sp>
        <p:nvSpPr>
          <p:cNvPr id="23" name="bullet-dot-agent-审计">
            <a:extLst xmlns:a="http://schemas.openxmlformats.org/drawingml/2006/main">
              <a:ext uri="{FF2B5EF4-FFF2-40B4-BE49-F238E27FC236}">
                <a16:creationId xmlns:a16="http://schemas.microsoft.com/office/drawing/2014/main" id="{037A7CF8-F429-4884-B698-D9F7B32D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24" name="bullet-title-agent-审计">
            <a:extLst xmlns:a="http://schemas.openxmlformats.org/drawingml/2006/main">
              <a:ext uri="{FF2B5EF4-FFF2-40B4-BE49-F238E27FC236}">
                <a16:creationId xmlns:a16="http://schemas.microsoft.com/office/drawing/2014/main" id="{7626538E-5F5A-4A62-97B5-D1959E3E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63855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Agent 审计</a:t>
            </a:r>
          </a:p>
        </p:txBody>
      </p:sp>
      <p:sp>
        <p:nvSpPr>
          <p:cNvPr id="25" name="bullet-detail-agent-审计">
            <a:extLst xmlns:a="http://schemas.openxmlformats.org/drawingml/2006/main">
              <a:ext uri="{FF2B5EF4-FFF2-40B4-BE49-F238E27FC236}">
                <a16:creationId xmlns:a16="http://schemas.microsoft.com/office/drawing/2014/main" id="{98E5B73B-4131-4616-8146-40D15F5D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87096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多智能体推理、事件流、检查点和恢复机制一体化。</a:t>
            </a:r>
          </a:p>
        </p:txBody>
      </p:sp>
      <p:sp>
        <p:nvSpPr>
          <p:cNvPr id="26" name="bullet-dot-结果聚合">
            <a:extLst xmlns:a="http://schemas.openxmlformats.org/drawingml/2006/main">
              <a:ext uri="{FF2B5EF4-FFF2-40B4-BE49-F238E27FC236}">
                <a16:creationId xmlns:a16="http://schemas.microsoft.com/office/drawing/2014/main" id="{F151FA36-333F-441B-B74E-5BA053CB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091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27" name="bullet-title-结果聚合">
            <a:extLst xmlns:a="http://schemas.openxmlformats.org/drawingml/2006/main">
              <a:ext uri="{FF2B5EF4-FFF2-40B4-BE49-F238E27FC236}">
                <a16:creationId xmlns:a16="http://schemas.microsoft.com/office/drawing/2014/main" id="{A5FFBA15-9A66-436A-9C03-6FB4E162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30911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结果聚合</a:t>
            </a:r>
          </a:p>
        </p:txBody>
      </p:sp>
      <p:sp>
        <p:nvSpPr>
          <p:cNvPr id="28" name="bullet-detail-结果聚合">
            <a:extLst xmlns:a="http://schemas.openxmlformats.org/drawingml/2006/main">
              <a:ext uri="{FF2B5EF4-FFF2-40B4-BE49-F238E27FC236}">
                <a16:creationId xmlns:a16="http://schemas.microsoft.com/office/drawing/2014/main" id="{1FA0A476-DC1D-4503-A383-F1793877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4152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问题、Finding、摘要和报告统一收束。</a:t>
            </a:r>
          </a:p>
        </p:txBody>
      </p:sp>
      <p:sp>
        <p:nvSpPr>
          <p:cNvPr id="29" name="stage-num-03">
            <a:extLst xmlns:a="http://schemas.openxmlformats.org/drawingml/2006/main">
              <a:ext uri="{FF2B5EF4-FFF2-40B4-BE49-F238E27FC236}">
                <a16:creationId xmlns:a16="http://schemas.microsoft.com/office/drawing/2014/main" id="{66BDEC26-9658-4F08-B651-28A9255B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000250"/>
            <a:ext cx="366998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0" name="stage-title-策略治理">
            <a:extLst xmlns:a="http://schemas.openxmlformats.org/drawingml/2006/main">
              <a:ext uri="{FF2B5EF4-FFF2-40B4-BE49-F238E27FC236}">
                <a16:creationId xmlns:a16="http://schemas.microsoft.com/office/drawing/2014/main" id="{55938DBC-7A12-442A-9DAF-00F8B838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61260"/>
            <a:ext cx="1011555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策略治理</a:t>
            </a:r>
          </a:p>
        </p:txBody>
      </p:sp>
      <p:sp>
        <p:nvSpPr>
          <p:cNvPr id="31" name="stage-rule-策略治理">
            <a:extLst xmlns:a="http://schemas.openxmlformats.org/drawingml/2006/main">
              <a:ext uri="{FF2B5EF4-FFF2-40B4-BE49-F238E27FC236}">
                <a16:creationId xmlns:a16="http://schemas.microsoft.com/office/drawing/2014/main" id="{B30F9E4A-4818-42CA-B880-218BF0DD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85369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32" name="bullet-dot-规则集-规则">
            <a:extLst xmlns:a="http://schemas.openxmlformats.org/drawingml/2006/main">
              <a:ext uri="{FF2B5EF4-FFF2-40B4-BE49-F238E27FC236}">
                <a16:creationId xmlns:a16="http://schemas.microsoft.com/office/drawing/2014/main" id="{C05E3B2E-2677-4387-A877-8586CD32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9679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33" name="bullet-title-规则集-规则">
            <a:extLst xmlns:a="http://schemas.openxmlformats.org/drawingml/2006/main">
              <a:ext uri="{FF2B5EF4-FFF2-40B4-BE49-F238E27FC236}">
                <a16:creationId xmlns:a16="http://schemas.microsoft.com/office/drawing/2014/main" id="{33C1DF0F-75DE-4767-959A-AD182020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6799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规则集 / 规则</a:t>
            </a:r>
          </a:p>
        </p:txBody>
      </p:sp>
      <p:sp>
        <p:nvSpPr>
          <p:cNvPr id="34" name="bullet-detail-规则集-规则">
            <a:extLst xmlns:a="http://schemas.openxmlformats.org/drawingml/2006/main">
              <a:ext uri="{FF2B5EF4-FFF2-40B4-BE49-F238E27FC236}">
                <a16:creationId xmlns:a16="http://schemas.microsoft.com/office/drawing/2014/main" id="{21E66896-14C2-40AE-A3CA-4339C1B3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0040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规则粒度、适用范围和命中策略可配置。</a:t>
            </a:r>
          </a:p>
        </p:txBody>
      </p:sp>
      <p:sp>
        <p:nvSpPr>
          <p:cNvPr id="35" name="bullet-dot-提示词模板">
            <a:extLst xmlns:a="http://schemas.openxmlformats.org/drawingml/2006/main">
              <a:ext uri="{FF2B5EF4-FFF2-40B4-BE49-F238E27FC236}">
                <a16:creationId xmlns:a16="http://schemas.microsoft.com/office/drawing/2014/main" id="{D27DD577-681D-4BA6-8625-9768FD77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36" name="bullet-title-提示词模板">
            <a:extLst xmlns:a="http://schemas.openxmlformats.org/drawingml/2006/main">
              <a:ext uri="{FF2B5EF4-FFF2-40B4-BE49-F238E27FC236}">
                <a16:creationId xmlns:a16="http://schemas.microsoft.com/office/drawing/2014/main" id="{46AE39BA-342B-45D2-BA56-875939F2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3855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提示词模板</a:t>
            </a:r>
          </a:p>
        </p:txBody>
      </p:sp>
      <p:sp>
        <p:nvSpPr>
          <p:cNvPr id="37" name="bullet-detail-提示词模板">
            <a:extLst xmlns:a="http://schemas.openxmlformats.org/drawingml/2006/main">
              <a:ext uri="{FF2B5EF4-FFF2-40B4-BE49-F238E27FC236}">
                <a16:creationId xmlns:a16="http://schemas.microsoft.com/office/drawing/2014/main" id="{55F060DE-934C-4A27-B808-50129D1F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7096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把模型交互方式固化成可复用模板。</a:t>
            </a:r>
          </a:p>
        </p:txBody>
      </p:sp>
      <p:sp>
        <p:nvSpPr>
          <p:cNvPr id="38" name="bullet-dot-rag-系统配置">
            <a:extLst xmlns:a="http://schemas.openxmlformats.org/drawingml/2006/main">
              <a:ext uri="{FF2B5EF4-FFF2-40B4-BE49-F238E27FC236}">
                <a16:creationId xmlns:a16="http://schemas.microsoft.com/office/drawing/2014/main" id="{4B76D0F4-04DB-4ED5-9133-8D3B6C5A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091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39" name="bullet-title-rag-系统配置">
            <a:extLst xmlns:a="http://schemas.openxmlformats.org/drawingml/2006/main">
              <a:ext uri="{FF2B5EF4-FFF2-40B4-BE49-F238E27FC236}">
                <a16:creationId xmlns:a16="http://schemas.microsoft.com/office/drawing/2014/main" id="{913E92DE-5E21-46B6-BABD-DDFE6715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0911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RAG / 系统配置</a:t>
            </a:r>
          </a:p>
        </p:txBody>
      </p:sp>
      <p:sp>
        <p:nvSpPr>
          <p:cNvPr id="40" name="bullet-detail-rag-系统配置">
            <a:extLst xmlns:a="http://schemas.openxmlformats.org/drawingml/2006/main">
              <a:ext uri="{FF2B5EF4-FFF2-40B4-BE49-F238E27FC236}">
                <a16:creationId xmlns:a16="http://schemas.microsoft.com/office/drawing/2014/main" id="{091E7359-58A5-46A2-921E-6BEC2C1B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4152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知识库、LLM、Embedding、SSH 和系统参数统一治理。</a:t>
            </a:r>
          </a:p>
        </p:txBody>
      </p:sp>
      <p:sp>
        <p:nvSpPr>
          <p:cNvPr id="41" name="stage-num-04">
            <a:extLst xmlns:a="http://schemas.openxmlformats.org/drawingml/2006/main">
              <a:ext uri="{FF2B5EF4-FFF2-40B4-BE49-F238E27FC236}">
                <a16:creationId xmlns:a16="http://schemas.microsoft.com/office/drawing/2014/main" id="{9EEC9767-3BDC-40A4-A420-94B1F59B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00250"/>
            <a:ext cx="366998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2" name="stage-title-结果交付">
            <a:extLst xmlns:a="http://schemas.openxmlformats.org/drawingml/2006/main">
              <a:ext uri="{FF2B5EF4-FFF2-40B4-BE49-F238E27FC236}">
                <a16:creationId xmlns:a16="http://schemas.microsoft.com/office/drawing/2014/main" id="{83B26E0B-8551-497D-AF01-3F0DA681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61260"/>
            <a:ext cx="1011555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结果交付</a:t>
            </a:r>
          </a:p>
        </p:txBody>
      </p:sp>
      <p:sp>
        <p:nvSpPr>
          <p:cNvPr id="43" name="stage-rule-结果交付">
            <a:extLst xmlns:a="http://schemas.openxmlformats.org/drawingml/2006/main">
              <a:ext uri="{FF2B5EF4-FFF2-40B4-BE49-F238E27FC236}">
                <a16:creationId xmlns:a16="http://schemas.microsoft.com/office/drawing/2014/main" id="{E2CA5F80-7BE4-4428-BB2D-30B213D8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85369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44" name="bullet-dot-dashboard">
            <a:extLst xmlns:a="http://schemas.openxmlformats.org/drawingml/2006/main">
              <a:ext uri="{FF2B5EF4-FFF2-40B4-BE49-F238E27FC236}">
                <a16:creationId xmlns:a16="http://schemas.microsoft.com/office/drawing/2014/main" id="{A47EF2F5-66D4-4AD1-B965-54118F66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679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45" name="bullet-title-dashboard">
            <a:extLst xmlns:a="http://schemas.openxmlformats.org/drawingml/2006/main">
              <a:ext uri="{FF2B5EF4-FFF2-40B4-BE49-F238E27FC236}">
                <a16:creationId xmlns:a16="http://schemas.microsoft.com/office/drawing/2014/main" id="{A207E5B1-8D6A-4222-AB5D-06C649AC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6799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Dashboard</a:t>
            </a:r>
          </a:p>
        </p:txBody>
      </p:sp>
      <p:sp>
        <p:nvSpPr>
          <p:cNvPr id="46" name="bullet-detail-dashboard">
            <a:extLst xmlns:a="http://schemas.openxmlformats.org/drawingml/2006/main">
              <a:ext uri="{FF2B5EF4-FFF2-40B4-BE49-F238E27FC236}">
                <a16:creationId xmlns:a16="http://schemas.microsoft.com/office/drawing/2014/main" id="{1C2E2B84-F566-4CCA-BB9A-B252C507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0040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总览、最近项目、任务统计和运行状态。</a:t>
            </a:r>
          </a:p>
        </p:txBody>
      </p:sp>
      <p:sp>
        <p:nvSpPr>
          <p:cNvPr id="47" name="bullet-dot-任务详情">
            <a:extLst xmlns:a="http://schemas.openxmlformats.org/drawingml/2006/main">
              <a:ext uri="{FF2B5EF4-FFF2-40B4-BE49-F238E27FC236}">
                <a16:creationId xmlns:a16="http://schemas.microsoft.com/office/drawing/2014/main" id="{E5A0D205-DA05-449B-898C-D3503BD7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48" name="bullet-title-任务详情">
            <a:extLst xmlns:a="http://schemas.openxmlformats.org/drawingml/2006/main">
              <a:ext uri="{FF2B5EF4-FFF2-40B4-BE49-F238E27FC236}">
                <a16:creationId xmlns:a16="http://schemas.microsoft.com/office/drawing/2014/main" id="{B8C50596-EA43-4BDE-96A5-68EE8B10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3855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任务详情</a:t>
            </a:r>
          </a:p>
        </p:txBody>
      </p:sp>
      <p:sp>
        <p:nvSpPr>
          <p:cNvPr id="49" name="bullet-detail-任务详情">
            <a:extLst xmlns:a="http://schemas.openxmlformats.org/drawingml/2006/main">
              <a:ext uri="{FF2B5EF4-FFF2-40B4-BE49-F238E27FC236}">
                <a16:creationId xmlns:a16="http://schemas.microsoft.com/office/drawing/2014/main" id="{8E5733A2-EC31-44FA-AB8D-FF8C846F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7096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问题定位、过程回放、阶段结果统一查看。</a:t>
            </a:r>
          </a:p>
        </p:txBody>
      </p:sp>
      <p:sp>
        <p:nvSpPr>
          <p:cNvPr id="50" name="bullet-dot-pdf-json">
            <a:extLst xmlns:a="http://schemas.openxmlformats.org/drawingml/2006/main">
              <a:ext uri="{FF2B5EF4-FFF2-40B4-BE49-F238E27FC236}">
                <a16:creationId xmlns:a16="http://schemas.microsoft.com/office/drawing/2014/main" id="{85C94A7D-6001-452D-910F-C3AF897A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3091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51" name="bullet-title-pdf-json">
            <a:extLst xmlns:a="http://schemas.openxmlformats.org/drawingml/2006/main">
              <a:ext uri="{FF2B5EF4-FFF2-40B4-BE49-F238E27FC236}">
                <a16:creationId xmlns:a16="http://schemas.microsoft.com/office/drawing/2014/main" id="{7F42DD03-760E-49E9-A88D-5DB03BE3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0911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PDF / JSON</a:t>
            </a:r>
          </a:p>
        </p:txBody>
      </p:sp>
      <p:sp>
        <p:nvSpPr>
          <p:cNvPr id="52" name="bullet-detail-pdf-json">
            <a:extLst xmlns:a="http://schemas.openxmlformats.org/drawingml/2006/main">
              <a:ext uri="{FF2B5EF4-FFF2-40B4-BE49-F238E27FC236}">
                <a16:creationId xmlns:a16="http://schemas.microsoft.com/office/drawing/2014/main" id="{2885E2D8-4063-4BDB-A7B2-133D42D5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54152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输出标准化报告，适合汇报、留档和复盘。</a:t>
            </a:r>
          </a:p>
        </p:txBody>
      </p:sp>
      <p:sp>
        <p:nvSpPr>
          <p:cNvPr id="53" name="panorama-model-kicker">
            <a:extLst xmlns:a="http://schemas.openxmlformats.org/drawingml/2006/main">
              <a:ext uri="{FF2B5EF4-FFF2-40B4-BE49-F238E27FC236}">
                <a16:creationId xmlns:a16="http://schemas.microsoft.com/office/drawing/2014/main" id="{BC656407-F483-4661-8B73-F83B73FA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55870"/>
            <a:ext cx="95335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对象模型与主链</a:t>
            </a:r>
          </a:p>
        </p:txBody>
      </p:sp>
      <p:sp>
        <p:nvSpPr>
          <p:cNvPr id="54" name="chip-auditproject">
            <a:extLst xmlns:a="http://schemas.openxmlformats.org/drawingml/2006/main">
              <a:ext uri="{FF2B5EF4-FFF2-40B4-BE49-F238E27FC236}">
                <a16:creationId xmlns:a16="http://schemas.microsoft.com/office/drawing/2014/main" id="{8C04CA6A-4559-44A0-9282-3983F2A4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75910"/>
            <a:ext cx="254377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8000"/>
            </a:srgbClr>
          </a:solidFill>
          <a:ln xmlns:a="http://schemas.openxmlformats.org/drawingml/2006/main" w="9525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55" name="chip-text-auditproject">
            <a:extLst xmlns:a="http://schemas.openxmlformats.org/drawingml/2006/main">
              <a:ext uri="{FF2B5EF4-FFF2-40B4-BE49-F238E27FC236}">
                <a16:creationId xmlns:a16="http://schemas.microsoft.com/office/drawing/2014/main" id="{B9838A29-2900-4156-B6C2-DC0DA036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511" y="5375910"/>
            <a:ext cx="96354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AuditProject</a:t>
            </a:r>
          </a:p>
        </p:txBody>
      </p:sp>
      <p:sp>
        <p:nvSpPr>
          <p:cNvPr id="56" name="panorama-arrow-1">
            <a:extLst xmlns:a="http://schemas.openxmlformats.org/drawingml/2006/main">
              <a:ext uri="{FF2B5EF4-FFF2-40B4-BE49-F238E27FC236}">
                <a16:creationId xmlns:a16="http://schemas.microsoft.com/office/drawing/2014/main" id="{832BBBF0-CD4D-4143-8E7B-A917E664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420" y="5330190"/>
            <a:ext cx="126206" cy="2514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57" name="chip-audittask-agenttask">
            <a:extLst xmlns:a="http://schemas.openxmlformats.org/drawingml/2006/main">
              <a:ext uri="{FF2B5EF4-FFF2-40B4-BE49-F238E27FC236}">
                <a16:creationId xmlns:a16="http://schemas.microsoft.com/office/drawing/2014/main" id="{EFCEE960-6A34-428D-8F4C-C2CC0A3C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3877" y="5375910"/>
            <a:ext cx="254377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58" name="chip-text-audittask-agenttask">
            <a:extLst xmlns:a="http://schemas.openxmlformats.org/drawingml/2006/main">
              <a:ext uri="{FF2B5EF4-FFF2-40B4-BE49-F238E27FC236}">
                <a16:creationId xmlns:a16="http://schemas.microsoft.com/office/drawing/2014/main" id="{399E9F87-6A57-407E-88F7-0F422FB69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656" y="5375910"/>
            <a:ext cx="1686211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AuditTask / AgentTask</a:t>
            </a:r>
          </a:p>
        </p:txBody>
      </p:sp>
      <p:sp>
        <p:nvSpPr>
          <p:cNvPr id="59" name="panorama-arrow-2">
            <a:extLst xmlns:a="http://schemas.openxmlformats.org/drawingml/2006/main">
              <a:ext uri="{FF2B5EF4-FFF2-40B4-BE49-F238E27FC236}">
                <a16:creationId xmlns:a16="http://schemas.microsoft.com/office/drawing/2014/main" id="{9C62A297-49B1-41F1-A478-0F913AA7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2897" y="5330190"/>
            <a:ext cx="126206" cy="2514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60" name="chip-auditissue-agentfinding">
            <a:extLst xmlns:a="http://schemas.openxmlformats.org/drawingml/2006/main">
              <a:ext uri="{FF2B5EF4-FFF2-40B4-BE49-F238E27FC236}">
                <a16:creationId xmlns:a16="http://schemas.microsoft.com/office/drawing/2014/main" id="{5DD6C699-25A8-4C24-A795-D0275B6F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353" y="5375910"/>
            <a:ext cx="254377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61" name="chip-text-auditissue-agentfinding">
            <a:extLst xmlns:a="http://schemas.openxmlformats.org/drawingml/2006/main">
              <a:ext uri="{FF2B5EF4-FFF2-40B4-BE49-F238E27FC236}">
                <a16:creationId xmlns:a16="http://schemas.microsoft.com/office/drawing/2014/main" id="{4D4AB6BD-B916-4D9D-B6A9-B65749CC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2541" y="5375910"/>
            <a:ext cx="2007394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AuditIssue / AgentFinding</a:t>
            </a:r>
          </a:p>
        </p:txBody>
      </p:sp>
      <p:sp>
        <p:nvSpPr>
          <p:cNvPr id="62" name="panorama-arrow-3">
            <a:extLst xmlns:a="http://schemas.openxmlformats.org/drawingml/2006/main">
              <a:ext uri="{FF2B5EF4-FFF2-40B4-BE49-F238E27FC236}">
                <a16:creationId xmlns:a16="http://schemas.microsoft.com/office/drawing/2014/main" id="{547124BA-34A2-4744-96CF-7583991E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3373" y="5330190"/>
            <a:ext cx="126206" cy="2514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63" name="chip-auditartifact-report">
            <a:extLst xmlns:a="http://schemas.openxmlformats.org/drawingml/2006/main">
              <a:ext uri="{FF2B5EF4-FFF2-40B4-BE49-F238E27FC236}">
                <a16:creationId xmlns:a16="http://schemas.microsoft.com/office/drawing/2014/main" id="{EBBFB446-9E50-4E62-83F8-100E5E83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4830" y="5375910"/>
            <a:ext cx="254377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64" name="chip-text-auditartifact-report">
            <a:extLst xmlns:a="http://schemas.openxmlformats.org/drawingml/2006/main">
              <a:ext uri="{FF2B5EF4-FFF2-40B4-BE49-F238E27FC236}">
                <a16:creationId xmlns:a16="http://schemas.microsoft.com/office/drawing/2014/main" id="{BEFD5573-98AA-4A0E-A85D-BAA79C9A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3462" y="5375910"/>
            <a:ext cx="176650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AuditArtifact / Report</a:t>
            </a:r>
          </a:p>
        </p:txBody>
      </p:sp>
      <p:sp>
        <p:nvSpPr>
          <p:cNvPr id="65" name="chip-auditruleset">
            <a:extLst xmlns:a="http://schemas.openxmlformats.org/drawingml/2006/main">
              <a:ext uri="{FF2B5EF4-FFF2-40B4-BE49-F238E27FC236}">
                <a16:creationId xmlns:a16="http://schemas.microsoft.com/office/drawing/2014/main" id="{C798C13E-0B9D-4AF0-A02C-DA278250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95950"/>
            <a:ext cx="216408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8000"/>
            </a:srgbClr>
          </a:solidFill>
          <a:ln xmlns:a="http://schemas.openxmlformats.org/drawingml/2006/main" w="9525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66" name="chip-text-auditruleset">
            <a:extLst xmlns:a="http://schemas.openxmlformats.org/drawingml/2006/main">
              <a:ext uri="{FF2B5EF4-FFF2-40B4-BE49-F238E27FC236}">
                <a16:creationId xmlns:a16="http://schemas.microsoft.com/office/drawing/2014/main" id="{5EEAA23D-8EB8-4147-9B57-CB09F5C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665" y="5695950"/>
            <a:ext cx="96354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AuditRuleSet</a:t>
            </a:r>
          </a:p>
        </p:txBody>
      </p:sp>
      <p:sp>
        <p:nvSpPr>
          <p:cNvPr id="67" name="chip-prompttemplate">
            <a:extLst xmlns:a="http://schemas.openxmlformats.org/drawingml/2006/main">
              <a:ext uri="{FF2B5EF4-FFF2-40B4-BE49-F238E27FC236}">
                <a16:creationId xmlns:a16="http://schemas.microsoft.com/office/drawing/2014/main" id="{E6323297-C71D-4EAF-B00F-690DD098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680" y="5695950"/>
            <a:ext cx="216408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68" name="chip-text-prompttemplate">
            <a:extLst xmlns:a="http://schemas.openxmlformats.org/drawingml/2006/main">
              <a:ext uri="{FF2B5EF4-FFF2-40B4-BE49-F238E27FC236}">
                <a16:creationId xmlns:a16="http://schemas.microsoft.com/office/drawing/2014/main" id="{03768E24-6BF7-46EB-A996-40BF2D2B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650" y="5695950"/>
            <a:ext cx="1124141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PromptTemplate</a:t>
            </a:r>
          </a:p>
        </p:txBody>
      </p:sp>
      <p:sp>
        <p:nvSpPr>
          <p:cNvPr id="69" name="chip-rag-knowledge">
            <a:extLst xmlns:a="http://schemas.openxmlformats.org/drawingml/2006/main">
              <a:ext uri="{FF2B5EF4-FFF2-40B4-BE49-F238E27FC236}">
                <a16:creationId xmlns:a16="http://schemas.microsoft.com/office/drawing/2014/main" id="{C8892C89-FF65-48C8-A577-14875421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3960" y="5695950"/>
            <a:ext cx="216408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70" name="chip-text-rag-knowledge">
            <a:extLst xmlns:a="http://schemas.openxmlformats.org/drawingml/2006/main">
              <a:ext uri="{FF2B5EF4-FFF2-40B4-BE49-F238E27FC236}">
                <a16:creationId xmlns:a16="http://schemas.microsoft.com/office/drawing/2014/main" id="{35B3E851-5F30-4232-9327-9006137E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3782" y="5695950"/>
            <a:ext cx="120443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RAG / Knowledge</a:t>
            </a:r>
          </a:p>
        </p:txBody>
      </p:sp>
      <p:sp>
        <p:nvSpPr>
          <p:cNvPr id="71" name="chip-audituserconfig">
            <a:extLst xmlns:a="http://schemas.openxmlformats.org/drawingml/2006/main">
              <a:ext uri="{FF2B5EF4-FFF2-40B4-BE49-F238E27FC236}">
                <a16:creationId xmlns:a16="http://schemas.microsoft.com/office/drawing/2014/main" id="{AE381F26-9A79-45FA-990E-3AE8DBC8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4240" y="5695950"/>
            <a:ext cx="216408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72" name="chip-text-audituserconfig">
            <a:extLst xmlns:a="http://schemas.openxmlformats.org/drawingml/2006/main">
              <a:ext uri="{FF2B5EF4-FFF2-40B4-BE49-F238E27FC236}">
                <a16:creationId xmlns:a16="http://schemas.microsoft.com/office/drawing/2014/main" id="{9EBD4B6A-7B72-4691-AE50-CFA9076D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062" y="5695950"/>
            <a:ext cx="120443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AuditUserConfig</a:t>
            </a:r>
          </a:p>
        </p:txBody>
      </p:sp>
      <p:sp>
        <p:nvSpPr>
          <p:cNvPr id="73" name="chip-auditsshcredential">
            <a:extLst xmlns:a="http://schemas.openxmlformats.org/drawingml/2006/main">
              <a:ext uri="{FF2B5EF4-FFF2-40B4-BE49-F238E27FC236}">
                <a16:creationId xmlns:a16="http://schemas.microsoft.com/office/drawing/2014/main" id="{6223D2AC-899A-4102-9552-1C0640E3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4520" y="5695950"/>
            <a:ext cx="216408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74" name="chip-text-auditsshcredential">
            <a:extLst xmlns:a="http://schemas.openxmlformats.org/drawingml/2006/main">
              <a:ext uri="{FF2B5EF4-FFF2-40B4-BE49-F238E27FC236}">
                <a16:creationId xmlns:a16="http://schemas.microsoft.com/office/drawing/2014/main" id="{640D415A-8793-4D9A-B223-721F3A76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3898" y="5695950"/>
            <a:ext cx="1445324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AuditSshCredential</a:t>
            </a:r>
          </a:p>
        </p:txBody>
      </p:sp>
      <p:sp>
        <p:nvSpPr>
          <p:cNvPr id="75" name="panorama-note">
            <a:extLst xmlns:a="http://schemas.openxmlformats.org/drawingml/2006/main">
              <a:ext uri="{FF2B5EF4-FFF2-40B4-BE49-F238E27FC236}">
                <a16:creationId xmlns:a16="http://schemas.microsoft.com/office/drawing/2014/main" id="{7DCC962F-D0B4-40FF-9B8C-3491C950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70270"/>
            <a:ext cx="9334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项目是上下文根对象，任务、策略、知识和报告都围绕它展开。</a:t>
            </a:r>
          </a:p>
        </p:txBody>
      </p:sp>
    </p:spTree>
    <p:extLst>
      <p:ext uri="{BB962C8B-B14F-4D97-AF65-F5344CB8AC3E}">
        <p14:creationId xmlns:p14="http://schemas.microsoft.com/office/powerpoint/2010/main" val="19109384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架构设计">
            <a:extLst xmlns:a="http://schemas.openxmlformats.org/drawingml/2006/main">
              <a:ext uri="{FF2B5EF4-FFF2-40B4-BE49-F238E27FC236}">
                <a16:creationId xmlns:a16="http://schemas.microsoft.com/office/drawing/2014/main" id="{B3E29B72-E3A0-4983-9B03-932719C8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032129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ARCHITECTURE</a:t>
            </a:r>
          </a:p>
        </p:txBody>
      </p:sp>
      <p:sp>
        <p:nvSpPr>
          <p:cNvPr id="2" name="header-title-架构设计">
            <a:extLst xmlns:a="http://schemas.openxmlformats.org/drawingml/2006/main">
              <a:ext uri="{FF2B5EF4-FFF2-40B4-BE49-F238E27FC236}">
                <a16:creationId xmlns:a16="http://schemas.microsoft.com/office/drawing/2014/main" id="{2C347C90-2478-4140-8ED7-DCC21D25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架构设计</a:t>
            </a:r>
          </a:p>
        </p:txBody>
      </p:sp>
      <p:sp>
        <p:nvSpPr>
          <p:cNvPr id="3" name="header-subtitle-架构设计">
            <a:extLst xmlns:a="http://schemas.openxmlformats.org/drawingml/2006/main">
              <a:ext uri="{FF2B5EF4-FFF2-40B4-BE49-F238E27FC236}">
                <a16:creationId xmlns:a16="http://schemas.microsoft.com/office/drawing/2014/main" id="{9BB1ACB8-3399-4AE4-9B36-D5879212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独立前端 + Django Ninja 后端聚合 + Celery / Redis / Channels 实时链路。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73DA2AB7-C47B-4B23-AA22-DFD3A19C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90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5" name="flow-node-用户-领导">
            <a:extLst xmlns:a="http://schemas.openxmlformats.org/drawingml/2006/main">
              <a:ext uri="{FF2B5EF4-FFF2-40B4-BE49-F238E27FC236}">
                <a16:creationId xmlns:a16="http://schemas.microsoft.com/office/drawing/2014/main" id="{1A154D21-D668-4E34-B741-73FC3B9B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676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3000"/>
            </a:srgbClr>
          </a:solidFill>
          <a:ln xmlns:a="http://schemas.openxmlformats.org/drawingml/2006/main" w="9525">
            <a:solidFill>
              <a:srgbClr val="101828">
                <a:alpha val="12000"/>
              </a:srgbClr>
            </a:solidFill>
            <a:prstDash val="solid"/>
          </a:ln>
        </p:spPr>
      </p:sp>
      <p:sp>
        <p:nvSpPr>
          <p:cNvPr id="6" name="flow-node-label-用户-领导">
            <a:extLst xmlns:a="http://schemas.openxmlformats.org/drawingml/2006/main">
              <a:ext uri="{FF2B5EF4-FFF2-40B4-BE49-F238E27FC236}">
                <a16:creationId xmlns:a16="http://schemas.microsoft.com/office/drawing/2014/main" id="{154CB093-7638-4590-B01A-8D008933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74581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475467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475467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7" name="flow-node-title-用户-领导">
            <a:extLst xmlns:a="http://schemas.openxmlformats.org/drawingml/2006/main">
              <a:ext uri="{FF2B5EF4-FFF2-40B4-BE49-F238E27FC236}">
                <a16:creationId xmlns:a16="http://schemas.microsoft.com/office/drawing/2014/main" id="{5D038D31-2111-4018-99BD-BA636717A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5990"/>
            <a:ext cx="1165765" cy="2628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用户 / 领导</a:t>
            </a:r>
          </a:p>
        </p:txBody>
      </p:sp>
      <p:sp>
        <p:nvSpPr>
          <p:cNvPr id="8" name="flow-node-subtitle-用户-领导">
            <a:extLst xmlns:a="http://schemas.openxmlformats.org/drawingml/2006/main">
              <a:ext uri="{FF2B5EF4-FFF2-40B4-BE49-F238E27FC236}">
                <a16:creationId xmlns:a16="http://schemas.microsoft.com/office/drawing/2014/main" id="{A9BDE3D9-7CAA-45F1-B382-6F349AB8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26030"/>
            <a:ext cx="251145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看 Dashboard、任务、报告和演示结果。</a:t>
            </a:r>
          </a:p>
        </p:txBody>
      </p:sp>
      <p:sp>
        <p:nvSpPr>
          <p:cNvPr id="9" name="arch-arrow-1">
            <a:extLst xmlns:a="http://schemas.openxmlformats.org/drawingml/2006/main">
              <a:ext uri="{FF2B5EF4-FFF2-40B4-BE49-F238E27FC236}">
                <a16:creationId xmlns:a16="http://schemas.microsoft.com/office/drawing/2014/main" id="{8AFE902F-4B29-489A-ACAB-E1570091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00250"/>
            <a:ext cx="22860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0" name="flow-node-独立前端">
            <a:extLst xmlns:a="http://schemas.openxmlformats.org/drawingml/2006/main">
              <a:ext uri="{FF2B5EF4-FFF2-40B4-BE49-F238E27FC236}">
                <a16:creationId xmlns:a16="http://schemas.microsoft.com/office/drawing/2014/main" id="{CAA48FE0-6526-40A5-9C9C-AEAC2DDA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00250"/>
            <a:ext cx="1676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10000"/>
            </a:srgbClr>
          </a:solidFill>
          <a:ln xmlns:a="http://schemas.openxmlformats.org/drawingml/2006/main" w="9525">
            <a:solidFill>
              <a:srgbClr val="E60012">
                <a:alpha val="28000"/>
              </a:srgbClr>
            </a:solidFill>
            <a:prstDash val="solid"/>
          </a:ln>
        </p:spPr>
      </p:sp>
      <p:sp>
        <p:nvSpPr>
          <p:cNvPr id="11" name="flow-node-label-独立前端">
            <a:extLst xmlns:a="http://schemas.openxmlformats.org/drawingml/2006/main">
              <a:ext uri="{FF2B5EF4-FFF2-40B4-BE49-F238E27FC236}">
                <a16:creationId xmlns:a16="http://schemas.microsoft.com/office/drawing/2014/main" id="{5B6F520A-8C92-464C-B4F3-0A7DBADD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00250"/>
            <a:ext cx="74581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12" name="flow-node-title-独立前端">
            <a:extLst xmlns:a="http://schemas.openxmlformats.org/drawingml/2006/main">
              <a:ext uri="{FF2B5EF4-FFF2-40B4-BE49-F238E27FC236}">
                <a16:creationId xmlns:a16="http://schemas.microsoft.com/office/drawing/2014/main" id="{6B49864C-9442-43E7-AAB1-5C41A3B8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205990"/>
            <a:ext cx="894874" cy="2628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独立前端</a:t>
            </a:r>
          </a:p>
        </p:txBody>
      </p:sp>
      <p:sp>
        <p:nvSpPr>
          <p:cNvPr id="13" name="flow-node-subtitle-独立前端">
            <a:extLst xmlns:a="http://schemas.openxmlformats.org/drawingml/2006/main">
              <a:ext uri="{FF2B5EF4-FFF2-40B4-BE49-F238E27FC236}">
                <a16:creationId xmlns:a16="http://schemas.microsoft.com/office/drawing/2014/main" id="{B00BBF8C-AF19-48BC-BE8C-DE4F1DF9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26030"/>
            <a:ext cx="2321624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/deepaudit-app/，页面级权限控制。</a:t>
            </a:r>
          </a:p>
        </p:txBody>
      </p:sp>
      <p:sp>
        <p:nvSpPr>
          <p:cNvPr id="14" name="arch-arrow-2">
            <a:extLst xmlns:a="http://schemas.openxmlformats.org/drawingml/2006/main">
              <a:ext uri="{FF2B5EF4-FFF2-40B4-BE49-F238E27FC236}">
                <a16:creationId xmlns:a16="http://schemas.microsoft.com/office/drawing/2014/main" id="{8CFE286B-A2DF-4683-8C7D-DFA689CE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00250"/>
            <a:ext cx="22860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flow-node-api-聚合">
            <a:extLst xmlns:a="http://schemas.openxmlformats.org/drawingml/2006/main">
              <a:ext uri="{FF2B5EF4-FFF2-40B4-BE49-F238E27FC236}">
                <a16:creationId xmlns:a16="http://schemas.microsoft.com/office/drawing/2014/main" id="{B7696E89-19C7-4FD7-BCD3-DA773233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00250"/>
            <a:ext cx="1676400" cy="11087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3000"/>
            </a:srgbClr>
          </a:solidFill>
          <a:ln xmlns:a="http://schemas.openxmlformats.org/drawingml/2006/main" w="9525">
            <a:solidFill>
              <a:srgbClr val="101828">
                <a:alpha val="12000"/>
              </a:srgbClr>
            </a:solidFill>
            <a:prstDash val="solid"/>
          </a:ln>
        </p:spPr>
      </p:sp>
      <p:sp>
        <p:nvSpPr>
          <p:cNvPr id="16" name="flow-node-label-api-聚合">
            <a:extLst xmlns:a="http://schemas.openxmlformats.org/drawingml/2006/main">
              <a:ext uri="{FF2B5EF4-FFF2-40B4-BE49-F238E27FC236}">
                <a16:creationId xmlns:a16="http://schemas.microsoft.com/office/drawing/2014/main" id="{0846012E-F716-4FD7-8CAB-B72765D6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00250"/>
            <a:ext cx="74581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475467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475467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17" name="flow-node-title-api-聚合">
            <a:extLst xmlns:a="http://schemas.openxmlformats.org/drawingml/2006/main">
              <a:ext uri="{FF2B5EF4-FFF2-40B4-BE49-F238E27FC236}">
                <a16:creationId xmlns:a16="http://schemas.microsoft.com/office/drawing/2014/main" id="{DCBD6B97-957F-46C3-B36C-C4D598E3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205990"/>
            <a:ext cx="895921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API 聚合</a:t>
            </a:r>
          </a:p>
        </p:txBody>
      </p:sp>
      <p:sp>
        <p:nvSpPr>
          <p:cNvPr id="18" name="flow-node-subtitle-api-聚合">
            <a:extLst xmlns:a="http://schemas.openxmlformats.org/drawingml/2006/main">
              <a:ext uri="{FF2B5EF4-FFF2-40B4-BE49-F238E27FC236}">
                <a16:creationId xmlns:a16="http://schemas.microsoft.com/office/drawing/2014/main" id="{46D2934B-884B-4A0C-AD98-F939A696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88920"/>
            <a:ext cx="2193988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/api/deepaudit/*，按业务域拆分。</a:t>
            </a:r>
          </a:p>
        </p:txBody>
      </p:sp>
      <p:sp>
        <p:nvSpPr>
          <p:cNvPr id="19" name="arch-arrow-3">
            <a:extLst xmlns:a="http://schemas.openxmlformats.org/drawingml/2006/main">
              <a:ext uri="{FF2B5EF4-FFF2-40B4-BE49-F238E27FC236}">
                <a16:creationId xmlns:a16="http://schemas.microsoft.com/office/drawing/2014/main" id="{DDD99E60-EF1C-4AA3-AD5B-6B6068E1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00250"/>
            <a:ext cx="22860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0" name="flow-node-worker">
            <a:extLst xmlns:a="http://schemas.openxmlformats.org/drawingml/2006/main">
              <a:ext uri="{FF2B5EF4-FFF2-40B4-BE49-F238E27FC236}">
                <a16:creationId xmlns:a16="http://schemas.microsoft.com/office/drawing/2014/main" id="{349A32D2-D380-43F4-98D2-C326AB57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00250"/>
            <a:ext cx="1676400" cy="84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3000"/>
            </a:srgbClr>
          </a:solidFill>
          <a:ln xmlns:a="http://schemas.openxmlformats.org/drawingml/2006/main" w="9525">
            <a:solidFill>
              <a:srgbClr val="101828">
                <a:alpha val="12000"/>
              </a:srgbClr>
            </a:solidFill>
            <a:prstDash val="solid"/>
          </a:ln>
        </p:spPr>
      </p:sp>
      <p:sp>
        <p:nvSpPr>
          <p:cNvPr id="21" name="flow-node-label-worker">
            <a:extLst xmlns:a="http://schemas.openxmlformats.org/drawingml/2006/main">
              <a:ext uri="{FF2B5EF4-FFF2-40B4-BE49-F238E27FC236}">
                <a16:creationId xmlns:a16="http://schemas.microsoft.com/office/drawing/2014/main" id="{011E15DA-F4A1-44CA-8A85-26A354E7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00250"/>
            <a:ext cx="74581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475467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475467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22" name="flow-node-title-worker">
            <a:extLst xmlns:a="http://schemas.openxmlformats.org/drawingml/2006/main">
              <a:ext uri="{FF2B5EF4-FFF2-40B4-BE49-F238E27FC236}">
                <a16:creationId xmlns:a16="http://schemas.microsoft.com/office/drawing/2014/main" id="{FE9A99EE-E2C3-4301-9991-3D3A8FD6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05990"/>
            <a:ext cx="792861" cy="2628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Worker</a:t>
            </a:r>
          </a:p>
        </p:txBody>
      </p:sp>
      <p:sp>
        <p:nvSpPr>
          <p:cNvPr id="23" name="flow-node-subtitle-worker">
            <a:extLst xmlns:a="http://schemas.openxmlformats.org/drawingml/2006/main">
              <a:ext uri="{FF2B5EF4-FFF2-40B4-BE49-F238E27FC236}">
                <a16:creationId xmlns:a16="http://schemas.microsoft.com/office/drawing/2014/main" id="{AE3029E8-FDE8-4D0A-B51B-AF81A3C4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26030"/>
            <a:ext cx="2279904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Celery + AgentRunner 执行长任务。</a:t>
            </a:r>
          </a:p>
        </p:txBody>
      </p:sp>
      <p:sp>
        <p:nvSpPr>
          <p:cNvPr id="24" name="arch-arrow-4">
            <a:extLst xmlns:a="http://schemas.openxmlformats.org/drawingml/2006/main">
              <a:ext uri="{FF2B5EF4-FFF2-40B4-BE49-F238E27FC236}">
                <a16:creationId xmlns:a16="http://schemas.microsoft.com/office/drawing/2014/main" id="{6CE983E4-DF5F-45E2-8A3C-C36D77B2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00250"/>
            <a:ext cx="22860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5" name="flow-node-sse-ws">
            <a:extLst xmlns:a="http://schemas.openxmlformats.org/drawingml/2006/main">
              <a:ext uri="{FF2B5EF4-FFF2-40B4-BE49-F238E27FC236}">
                <a16:creationId xmlns:a16="http://schemas.microsoft.com/office/drawing/2014/main" id="{D2236913-6F18-4288-A18E-83013EE5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00250"/>
            <a:ext cx="1676400" cy="84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10000"/>
            </a:srgbClr>
          </a:solidFill>
          <a:ln xmlns:a="http://schemas.openxmlformats.org/drawingml/2006/main" w="9525">
            <a:solidFill>
              <a:srgbClr val="E60012">
                <a:alpha val="28000"/>
              </a:srgbClr>
            </a:solidFill>
            <a:prstDash val="solid"/>
          </a:ln>
        </p:spPr>
      </p:sp>
      <p:sp>
        <p:nvSpPr>
          <p:cNvPr id="26" name="flow-node-label-sse-ws">
            <a:extLst xmlns:a="http://schemas.openxmlformats.org/drawingml/2006/main">
              <a:ext uri="{FF2B5EF4-FFF2-40B4-BE49-F238E27FC236}">
                <a16:creationId xmlns:a16="http://schemas.microsoft.com/office/drawing/2014/main" id="{C3EC148E-8371-4C49-95A2-3EA0FAA6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00250"/>
            <a:ext cx="74581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27" name="flow-node-title-sse-ws">
            <a:extLst xmlns:a="http://schemas.openxmlformats.org/drawingml/2006/main">
              <a:ext uri="{FF2B5EF4-FFF2-40B4-BE49-F238E27FC236}">
                <a16:creationId xmlns:a16="http://schemas.microsoft.com/office/drawing/2014/main" id="{72A2F937-A03A-42D8-A45F-42359605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05990"/>
            <a:ext cx="1081088" cy="2628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SSE / WS</a:t>
            </a:r>
          </a:p>
        </p:txBody>
      </p:sp>
      <p:sp>
        <p:nvSpPr>
          <p:cNvPr id="28" name="flow-node-subtitle-sse-ws">
            <a:extLst xmlns:a="http://schemas.openxmlformats.org/drawingml/2006/main">
              <a:ext uri="{FF2B5EF4-FFF2-40B4-BE49-F238E27FC236}">
                <a16:creationId xmlns:a16="http://schemas.microsoft.com/office/drawing/2014/main" id="{EB599D44-1496-4F7E-9CA9-C97DE5BB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26030"/>
            <a:ext cx="1770602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事件流回传到前端实时渲染。</a:t>
            </a:r>
          </a:p>
        </p:txBody>
      </p:sp>
      <p:sp>
        <p:nvSpPr>
          <p:cNvPr id="29" name="arch-support-kicker">
            <a:extLst xmlns:a="http://schemas.openxmlformats.org/drawingml/2006/main">
              <a:ext uri="{FF2B5EF4-FFF2-40B4-BE49-F238E27FC236}">
                <a16:creationId xmlns:a16="http://schemas.microsoft.com/office/drawing/2014/main" id="{EF2C420E-4AF1-46D3-95D3-970F45A0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80410"/>
            <a:ext cx="68094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运行支撑层</a:t>
            </a:r>
          </a:p>
        </p:txBody>
      </p:sp>
      <p:sp>
        <p:nvSpPr>
          <p:cNvPr id="30" name="chip-asgi">
            <a:extLst xmlns:a="http://schemas.openxmlformats.org/drawingml/2006/main">
              <a:ext uri="{FF2B5EF4-FFF2-40B4-BE49-F238E27FC236}">
                <a16:creationId xmlns:a16="http://schemas.microsoft.com/office/drawing/2014/main" id="{E33855C0-E8A3-4E8E-A080-4D9D5EB4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3568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31" name="chip-text-asgi">
            <a:extLst xmlns:a="http://schemas.openxmlformats.org/drawingml/2006/main">
              <a:ext uri="{FF2B5EF4-FFF2-40B4-BE49-F238E27FC236}">
                <a16:creationId xmlns:a16="http://schemas.microsoft.com/office/drawing/2014/main" id="{221B1075-8E70-4D46-A4ED-979813B3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358" y="3535680"/>
            <a:ext cx="321183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ASGI</a:t>
            </a:r>
          </a:p>
        </p:txBody>
      </p:sp>
      <p:sp>
        <p:nvSpPr>
          <p:cNvPr id="32" name="chip-celery">
            <a:extLst xmlns:a="http://schemas.openxmlformats.org/drawingml/2006/main">
              <a:ext uri="{FF2B5EF4-FFF2-40B4-BE49-F238E27FC236}">
                <a16:creationId xmlns:a16="http://schemas.microsoft.com/office/drawing/2014/main" id="{14A30876-A1DA-455B-BDF7-E9190886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3568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33" name="chip-text-celery">
            <a:extLst xmlns:a="http://schemas.openxmlformats.org/drawingml/2006/main">
              <a:ext uri="{FF2B5EF4-FFF2-40B4-BE49-F238E27FC236}">
                <a16:creationId xmlns:a16="http://schemas.microsoft.com/office/drawing/2014/main" id="{3685B2EF-E6BB-4766-A00D-17514846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0363" y="3535680"/>
            <a:ext cx="48177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Celery</a:t>
            </a:r>
          </a:p>
        </p:txBody>
      </p:sp>
      <p:sp>
        <p:nvSpPr>
          <p:cNvPr id="34" name="chip-redis">
            <a:extLst xmlns:a="http://schemas.openxmlformats.org/drawingml/2006/main">
              <a:ext uri="{FF2B5EF4-FFF2-40B4-BE49-F238E27FC236}">
                <a16:creationId xmlns:a16="http://schemas.microsoft.com/office/drawing/2014/main" id="{236E2B3D-5C5C-41A3-B4D4-F6993E47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3568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35" name="chip-text-redis">
            <a:extLst xmlns:a="http://schemas.openxmlformats.org/drawingml/2006/main">
              <a:ext uri="{FF2B5EF4-FFF2-40B4-BE49-F238E27FC236}">
                <a16:creationId xmlns:a16="http://schemas.microsoft.com/office/drawing/2014/main" id="{4909F421-39AA-46DE-B095-9D2DEFF4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7811" y="3535680"/>
            <a:ext cx="40147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Redis</a:t>
            </a:r>
          </a:p>
        </p:txBody>
      </p:sp>
      <p:sp>
        <p:nvSpPr>
          <p:cNvPr id="36" name="chip-channels">
            <a:extLst xmlns:a="http://schemas.openxmlformats.org/drawingml/2006/main">
              <a:ext uri="{FF2B5EF4-FFF2-40B4-BE49-F238E27FC236}">
                <a16:creationId xmlns:a16="http://schemas.microsoft.com/office/drawing/2014/main" id="{9E2F9FD3-541F-4B95-8AAC-757559EF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53568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37" name="chip-text-channels">
            <a:extLst xmlns:a="http://schemas.openxmlformats.org/drawingml/2006/main">
              <a:ext uri="{FF2B5EF4-FFF2-40B4-BE49-F238E27FC236}">
                <a16:creationId xmlns:a16="http://schemas.microsoft.com/office/drawing/2014/main" id="{AE06957D-BBD0-4ADF-82E6-0CE3CA10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4667" y="3535680"/>
            <a:ext cx="64236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Channels</a:t>
            </a:r>
          </a:p>
        </p:txBody>
      </p:sp>
      <p:sp>
        <p:nvSpPr>
          <p:cNvPr id="38" name="chip-nginx">
            <a:extLst xmlns:a="http://schemas.openxmlformats.org/drawingml/2006/main">
              <a:ext uri="{FF2B5EF4-FFF2-40B4-BE49-F238E27FC236}">
                <a16:creationId xmlns:a16="http://schemas.microsoft.com/office/drawing/2014/main" id="{DB6EA372-C772-4011-A368-6C078104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39" name="chip-text-nginx">
            <a:extLst xmlns:a="http://schemas.openxmlformats.org/drawingml/2006/main">
              <a:ext uri="{FF2B5EF4-FFF2-40B4-BE49-F238E27FC236}">
                <a16:creationId xmlns:a16="http://schemas.microsoft.com/office/drawing/2014/main" id="{406655C6-5784-44C5-A550-F76127C8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211" y="3771900"/>
            <a:ext cx="40147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Nginx</a:t>
            </a:r>
          </a:p>
        </p:txBody>
      </p:sp>
      <p:sp>
        <p:nvSpPr>
          <p:cNvPr id="40" name="chip-workspace">
            <a:extLst xmlns:a="http://schemas.openxmlformats.org/drawingml/2006/main">
              <a:ext uri="{FF2B5EF4-FFF2-40B4-BE49-F238E27FC236}">
                <a16:creationId xmlns:a16="http://schemas.microsoft.com/office/drawing/2014/main" id="{06CF05DE-6DD9-4843-8ECE-F7120801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77190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41" name="chip-text-workspace">
            <a:extLst xmlns:a="http://schemas.openxmlformats.org/drawingml/2006/main">
              <a:ext uri="{FF2B5EF4-FFF2-40B4-BE49-F238E27FC236}">
                <a16:creationId xmlns:a16="http://schemas.microsoft.com/office/drawing/2014/main" id="{2545D24D-E15D-4715-BF91-BBA5C754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919" y="3771900"/>
            <a:ext cx="72266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Workspace</a:t>
            </a:r>
          </a:p>
        </p:txBody>
      </p:sp>
      <p:sp>
        <p:nvSpPr>
          <p:cNvPr id="42" name="chip-rag">
            <a:extLst xmlns:a="http://schemas.openxmlformats.org/drawingml/2006/main">
              <a:ext uri="{FF2B5EF4-FFF2-40B4-BE49-F238E27FC236}">
                <a16:creationId xmlns:a16="http://schemas.microsoft.com/office/drawing/2014/main" id="{D894888A-59E5-4BBF-9B3C-33849F57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77190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43" name="chip-text-rag">
            <a:extLst xmlns:a="http://schemas.openxmlformats.org/drawingml/2006/main">
              <a:ext uri="{FF2B5EF4-FFF2-40B4-BE49-F238E27FC236}">
                <a16:creationId xmlns:a16="http://schemas.microsoft.com/office/drawing/2014/main" id="{68DEFFD3-9216-4A47-9F88-46212E60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8106" y="3771900"/>
            <a:ext cx="24088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RAG</a:t>
            </a:r>
          </a:p>
        </p:txBody>
      </p:sp>
      <p:sp>
        <p:nvSpPr>
          <p:cNvPr id="44" name="chip-reports">
            <a:extLst xmlns:a="http://schemas.openxmlformats.org/drawingml/2006/main">
              <a:ext uri="{FF2B5EF4-FFF2-40B4-BE49-F238E27FC236}">
                <a16:creationId xmlns:a16="http://schemas.microsoft.com/office/drawing/2014/main" id="{0CCB771A-CB30-464D-A51B-EA82B388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7190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45" name="chip-text-reports">
            <a:extLst xmlns:a="http://schemas.openxmlformats.org/drawingml/2006/main">
              <a:ext uri="{FF2B5EF4-FFF2-40B4-BE49-F238E27FC236}">
                <a16:creationId xmlns:a16="http://schemas.microsoft.com/office/drawing/2014/main" id="{A987B24D-16DD-4BAA-B348-E148B66A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815" y="3771900"/>
            <a:ext cx="56207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Reports</a:t>
            </a:r>
          </a:p>
        </p:txBody>
      </p:sp>
      <p:sp>
        <p:nvSpPr>
          <p:cNvPr id="46" name="arch-summary">
            <a:extLst xmlns:a="http://schemas.openxmlformats.org/drawingml/2006/main">
              <a:ext uri="{FF2B5EF4-FFF2-40B4-BE49-F238E27FC236}">
                <a16:creationId xmlns:a16="http://schemas.microsoft.com/office/drawing/2014/main" id="{7634330B-8FA9-405B-9C74-DF36DCB9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27170"/>
            <a:ext cx="4762500" cy="3886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前端只关心事件流；后端把“执行”和“回传”拆开，保证长任务能持续可观测。</a:t>
            </a:r>
          </a:p>
        </p:txBody>
      </p:sp>
      <p:sp>
        <p:nvSpPr>
          <p:cNvPr id="47" name="arch-domain-kicker">
            <a:extLst xmlns:a="http://schemas.openxmlformats.org/drawingml/2006/main">
              <a:ext uri="{FF2B5EF4-FFF2-40B4-BE49-F238E27FC236}">
                <a16:creationId xmlns:a16="http://schemas.microsoft.com/office/drawing/2014/main" id="{C5E9AB41-6A50-455C-ADB0-40DA90BF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8041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后端子域</a:t>
            </a:r>
          </a:p>
        </p:txBody>
      </p:sp>
      <p:sp>
        <p:nvSpPr>
          <p:cNvPr id="48" name="chip-project">
            <a:extLst xmlns:a="http://schemas.openxmlformats.org/drawingml/2006/main">
              <a:ext uri="{FF2B5EF4-FFF2-40B4-BE49-F238E27FC236}">
                <a16:creationId xmlns:a16="http://schemas.microsoft.com/office/drawing/2014/main" id="{41C0D93F-4A91-4D3E-8527-CA4062C3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55473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49" name="chip-text-project">
            <a:extLst xmlns:a="http://schemas.openxmlformats.org/drawingml/2006/main">
              <a:ext uri="{FF2B5EF4-FFF2-40B4-BE49-F238E27FC236}">
                <a16:creationId xmlns:a16="http://schemas.microsoft.com/office/drawing/2014/main" id="{4187DE00-2755-4334-A2E8-B3356A78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8340" y="3554730"/>
            <a:ext cx="56207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project</a:t>
            </a:r>
          </a:p>
        </p:txBody>
      </p:sp>
      <p:sp>
        <p:nvSpPr>
          <p:cNvPr id="50" name="chip-scan-task">
            <a:extLst xmlns:a="http://schemas.openxmlformats.org/drawingml/2006/main">
              <a:ext uri="{FF2B5EF4-FFF2-40B4-BE49-F238E27FC236}">
                <a16:creationId xmlns:a16="http://schemas.microsoft.com/office/drawing/2014/main" id="{3E053BC2-6146-4A0A-9FEE-6F80D50A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5473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51" name="chip-text-scan-task">
            <a:extLst xmlns:a="http://schemas.openxmlformats.org/drawingml/2006/main">
              <a:ext uri="{FF2B5EF4-FFF2-40B4-BE49-F238E27FC236}">
                <a16:creationId xmlns:a16="http://schemas.microsoft.com/office/drawing/2014/main" id="{E80C4C84-B929-49EE-B40C-A66D6F91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994" y="3554730"/>
            <a:ext cx="72266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scan_task</a:t>
            </a:r>
          </a:p>
        </p:txBody>
      </p:sp>
      <p:sp>
        <p:nvSpPr>
          <p:cNvPr id="52" name="chip-agent-task">
            <a:extLst xmlns:a="http://schemas.openxmlformats.org/drawingml/2006/main">
              <a:ext uri="{FF2B5EF4-FFF2-40B4-BE49-F238E27FC236}">
                <a16:creationId xmlns:a16="http://schemas.microsoft.com/office/drawing/2014/main" id="{2F536C0F-5368-4DF0-9BC8-875C3B75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55473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53" name="chip-text-agent-task">
            <a:extLst xmlns:a="http://schemas.openxmlformats.org/drawingml/2006/main">
              <a:ext uri="{FF2B5EF4-FFF2-40B4-BE49-F238E27FC236}">
                <a16:creationId xmlns:a16="http://schemas.microsoft.com/office/drawing/2014/main" id="{42DA5EF8-D46D-485A-8F93-32FFFEB3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7796" y="3554730"/>
            <a:ext cx="802958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agent_task</a:t>
            </a:r>
          </a:p>
        </p:txBody>
      </p:sp>
      <p:sp>
        <p:nvSpPr>
          <p:cNvPr id="54" name="chip-rag">
            <a:extLst xmlns:a="http://schemas.openxmlformats.org/drawingml/2006/main">
              <a:ext uri="{FF2B5EF4-FFF2-40B4-BE49-F238E27FC236}">
                <a16:creationId xmlns:a16="http://schemas.microsoft.com/office/drawing/2014/main" id="{764B60EE-4FD8-4C75-B7FA-67AF24FE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55473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55" name="chip-text-rag">
            <a:extLst xmlns:a="http://schemas.openxmlformats.org/drawingml/2006/main">
              <a:ext uri="{FF2B5EF4-FFF2-40B4-BE49-F238E27FC236}">
                <a16:creationId xmlns:a16="http://schemas.microsoft.com/office/drawing/2014/main" id="{C8A93DC6-CA72-4C7A-B43C-98BFEB64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3781" y="3554730"/>
            <a:ext cx="24088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rag</a:t>
            </a:r>
          </a:p>
        </p:txBody>
      </p:sp>
      <p:sp>
        <p:nvSpPr>
          <p:cNvPr id="56" name="chip-audit-rule">
            <a:extLst xmlns:a="http://schemas.openxmlformats.org/drawingml/2006/main">
              <a:ext uri="{FF2B5EF4-FFF2-40B4-BE49-F238E27FC236}">
                <a16:creationId xmlns:a16="http://schemas.microsoft.com/office/drawing/2014/main" id="{380566A9-5562-4E90-8221-DC884A71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79095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57" name="chip-text-audit-rule">
            <a:extLst xmlns:a="http://schemas.openxmlformats.org/drawingml/2006/main">
              <a:ext uri="{FF2B5EF4-FFF2-40B4-BE49-F238E27FC236}">
                <a16:creationId xmlns:a16="http://schemas.microsoft.com/office/drawing/2014/main" id="{17ECD210-3272-41B8-9A96-92D5FD40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7896" y="3790950"/>
            <a:ext cx="802958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audit_rule</a:t>
            </a:r>
          </a:p>
        </p:txBody>
      </p:sp>
      <p:sp>
        <p:nvSpPr>
          <p:cNvPr id="58" name="chip-prompt-template">
            <a:extLst xmlns:a="http://schemas.openxmlformats.org/drawingml/2006/main">
              <a:ext uri="{FF2B5EF4-FFF2-40B4-BE49-F238E27FC236}">
                <a16:creationId xmlns:a16="http://schemas.microsoft.com/office/drawing/2014/main" id="{BA25ECC8-8423-4A0D-8795-271809DC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9095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59" name="chip-text-prompt-template">
            <a:extLst xmlns:a="http://schemas.openxmlformats.org/drawingml/2006/main">
              <a:ext uri="{FF2B5EF4-FFF2-40B4-BE49-F238E27FC236}">
                <a16:creationId xmlns:a16="http://schemas.microsoft.com/office/drawing/2014/main" id="{F122B072-D559-4388-9951-1A13451E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107" y="3790950"/>
            <a:ext cx="120443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prompt_template</a:t>
            </a:r>
          </a:p>
        </p:txBody>
      </p:sp>
      <p:sp>
        <p:nvSpPr>
          <p:cNvPr id="60" name="chip-user-config">
            <a:extLst xmlns:a="http://schemas.openxmlformats.org/drawingml/2006/main">
              <a:ext uri="{FF2B5EF4-FFF2-40B4-BE49-F238E27FC236}">
                <a16:creationId xmlns:a16="http://schemas.microsoft.com/office/drawing/2014/main" id="{0F26F6B9-AF25-4156-A1C0-4A3075AA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9095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61" name="chip-text-user-config">
            <a:extLst xmlns:a="http://schemas.openxmlformats.org/drawingml/2006/main">
              <a:ext uri="{FF2B5EF4-FFF2-40B4-BE49-F238E27FC236}">
                <a16:creationId xmlns:a16="http://schemas.microsoft.com/office/drawing/2014/main" id="{0130ACE3-2BEA-492F-AC2C-17C4731D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48" y="3790950"/>
            <a:ext cx="883253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user_config</a:t>
            </a:r>
          </a:p>
        </p:txBody>
      </p:sp>
      <p:sp>
        <p:nvSpPr>
          <p:cNvPr id="62" name="chip-dashboard">
            <a:extLst xmlns:a="http://schemas.openxmlformats.org/drawingml/2006/main">
              <a:ext uri="{FF2B5EF4-FFF2-40B4-BE49-F238E27FC236}">
                <a16:creationId xmlns:a16="http://schemas.microsoft.com/office/drawing/2014/main" id="{74C35E09-A10C-47BE-A844-10543A65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79095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63" name="chip-text-dashboard">
            <a:extLst xmlns:a="http://schemas.openxmlformats.org/drawingml/2006/main">
              <a:ext uri="{FF2B5EF4-FFF2-40B4-BE49-F238E27FC236}">
                <a16:creationId xmlns:a16="http://schemas.microsoft.com/office/drawing/2014/main" id="{08CDF925-AEBA-44DF-87D5-93BF397F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894" y="3790950"/>
            <a:ext cx="72266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dashboard</a:t>
            </a:r>
          </a:p>
        </p:txBody>
      </p:sp>
      <p:sp>
        <p:nvSpPr>
          <p:cNvPr id="64" name="arch-domain-note">
            <a:extLst xmlns:a="http://schemas.openxmlformats.org/drawingml/2006/main">
              <a:ext uri="{FF2B5EF4-FFF2-40B4-BE49-F238E27FC236}">
                <a16:creationId xmlns:a16="http://schemas.microsoft.com/office/drawing/2014/main" id="{66DCB6CB-4F46-40E4-917F-D0EDB1ED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65270"/>
            <a:ext cx="5143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这些子域分别负责项目、传统扫描、Agent 审计、策略、知识和结果交付。</a:t>
            </a:r>
          </a:p>
        </p:txBody>
      </p:sp>
      <p:sp>
        <p:nvSpPr>
          <p:cNvPr id="65" name="arch-entity-kicker">
            <a:extLst xmlns:a="http://schemas.openxmlformats.org/drawingml/2006/main">
              <a:ext uri="{FF2B5EF4-FFF2-40B4-BE49-F238E27FC236}">
                <a16:creationId xmlns:a16="http://schemas.microsoft.com/office/drawing/2014/main" id="{8D8457FE-32A1-4B1F-BDEF-C4562961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5102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核心对象</a:t>
            </a:r>
          </a:p>
        </p:txBody>
      </p:sp>
      <p:sp>
        <p:nvSpPr>
          <p:cNvPr id="66" name="chip-auditproject">
            <a:extLst xmlns:a="http://schemas.openxmlformats.org/drawingml/2006/main">
              <a:ext uri="{FF2B5EF4-FFF2-40B4-BE49-F238E27FC236}">
                <a16:creationId xmlns:a16="http://schemas.microsoft.com/office/drawing/2014/main" id="{35D1C991-72B5-46FF-A405-32B8806C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62534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67" name="chip-text-auditproject">
            <a:extLst xmlns:a="http://schemas.openxmlformats.org/drawingml/2006/main">
              <a:ext uri="{FF2B5EF4-FFF2-40B4-BE49-F238E27FC236}">
                <a16:creationId xmlns:a16="http://schemas.microsoft.com/office/drawing/2014/main" id="{13959190-AED0-4A1E-A449-FF1FD8C9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7600" y="4625340"/>
            <a:ext cx="96354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AuditProject</a:t>
            </a:r>
          </a:p>
        </p:txBody>
      </p:sp>
      <p:sp>
        <p:nvSpPr>
          <p:cNvPr id="68" name="chip-audittask">
            <a:extLst xmlns:a="http://schemas.openxmlformats.org/drawingml/2006/main">
              <a:ext uri="{FF2B5EF4-FFF2-40B4-BE49-F238E27FC236}">
                <a16:creationId xmlns:a16="http://schemas.microsoft.com/office/drawing/2014/main" id="{CE512802-40E7-4817-9D61-BFF4C183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62534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69" name="chip-text-audittask">
            <a:extLst xmlns:a="http://schemas.openxmlformats.org/drawingml/2006/main">
              <a:ext uri="{FF2B5EF4-FFF2-40B4-BE49-F238E27FC236}">
                <a16:creationId xmlns:a16="http://schemas.microsoft.com/office/drawing/2014/main" id="{BFB47706-6EBC-4946-A219-C09E3DD4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994" y="4625340"/>
            <a:ext cx="72266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AuditTask</a:t>
            </a:r>
          </a:p>
        </p:txBody>
      </p:sp>
      <p:sp>
        <p:nvSpPr>
          <p:cNvPr id="70" name="chip-agenttask">
            <a:extLst xmlns:a="http://schemas.openxmlformats.org/drawingml/2006/main">
              <a:ext uri="{FF2B5EF4-FFF2-40B4-BE49-F238E27FC236}">
                <a16:creationId xmlns:a16="http://schemas.microsoft.com/office/drawing/2014/main" id="{661D23A0-BFE2-4732-896C-BB05FF6C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62534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71" name="chip-text-agenttask">
            <a:extLst xmlns:a="http://schemas.openxmlformats.org/drawingml/2006/main">
              <a:ext uri="{FF2B5EF4-FFF2-40B4-BE49-F238E27FC236}">
                <a16:creationId xmlns:a16="http://schemas.microsoft.com/office/drawing/2014/main" id="{CBBC543C-221C-4603-9C73-A18AF659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944" y="4625340"/>
            <a:ext cx="72266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AgentTask</a:t>
            </a:r>
          </a:p>
        </p:txBody>
      </p:sp>
      <p:sp>
        <p:nvSpPr>
          <p:cNvPr id="72" name="chip-agentcheckpoint">
            <a:extLst xmlns:a="http://schemas.openxmlformats.org/drawingml/2006/main">
              <a:ext uri="{FF2B5EF4-FFF2-40B4-BE49-F238E27FC236}">
                <a16:creationId xmlns:a16="http://schemas.microsoft.com/office/drawing/2014/main" id="{A3D760A9-ED21-46C1-A7F5-7439AEA9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62534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73" name="chip-text-agentcheckpoint">
            <a:extLst xmlns:a="http://schemas.openxmlformats.org/drawingml/2006/main">
              <a:ext uri="{FF2B5EF4-FFF2-40B4-BE49-F238E27FC236}">
                <a16:creationId xmlns:a16="http://schemas.microsoft.com/office/drawing/2014/main" id="{D9B0FF98-485C-419C-A752-A7DAC4FA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2007" y="4625340"/>
            <a:ext cx="120443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AgentCheckpoint</a:t>
            </a:r>
          </a:p>
        </p:txBody>
      </p:sp>
      <p:sp>
        <p:nvSpPr>
          <p:cNvPr id="74" name="chip-agentevent">
            <a:extLst xmlns:a="http://schemas.openxmlformats.org/drawingml/2006/main">
              <a:ext uri="{FF2B5EF4-FFF2-40B4-BE49-F238E27FC236}">
                <a16:creationId xmlns:a16="http://schemas.microsoft.com/office/drawing/2014/main" id="{14260616-CC6F-4987-B52B-868D9CCF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6156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75" name="chip-text-agentevent">
            <a:extLst xmlns:a="http://schemas.openxmlformats.org/drawingml/2006/main">
              <a:ext uri="{FF2B5EF4-FFF2-40B4-BE49-F238E27FC236}">
                <a16:creationId xmlns:a16="http://schemas.microsoft.com/office/drawing/2014/main" id="{02969691-19D7-4710-91EC-9549D5D3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7896" y="4861560"/>
            <a:ext cx="802958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AgentEvent</a:t>
            </a:r>
          </a:p>
        </p:txBody>
      </p:sp>
      <p:sp>
        <p:nvSpPr>
          <p:cNvPr id="76" name="chip-agentfinding">
            <a:extLst xmlns:a="http://schemas.openxmlformats.org/drawingml/2006/main">
              <a:ext uri="{FF2B5EF4-FFF2-40B4-BE49-F238E27FC236}">
                <a16:creationId xmlns:a16="http://schemas.microsoft.com/office/drawing/2014/main" id="{6A878046-A377-4882-AC02-2F3B29C9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86156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77" name="chip-text-agentfinding">
            <a:extLst xmlns:a="http://schemas.openxmlformats.org/drawingml/2006/main">
              <a:ext uri="{FF2B5EF4-FFF2-40B4-BE49-F238E27FC236}">
                <a16:creationId xmlns:a16="http://schemas.microsoft.com/office/drawing/2014/main" id="{ACC632F0-1030-4467-9144-FDEB865B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550" y="4861560"/>
            <a:ext cx="96354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AgentFinding</a:t>
            </a:r>
          </a:p>
        </p:txBody>
      </p:sp>
      <p:sp>
        <p:nvSpPr>
          <p:cNvPr id="78" name="chip-auditruleset">
            <a:extLst xmlns:a="http://schemas.openxmlformats.org/drawingml/2006/main">
              <a:ext uri="{FF2B5EF4-FFF2-40B4-BE49-F238E27FC236}">
                <a16:creationId xmlns:a16="http://schemas.microsoft.com/office/drawing/2014/main" id="{1DAE90FE-CE22-4691-94DF-C477BD03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86156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79" name="chip-text-auditruleset">
            <a:extLst xmlns:a="http://schemas.openxmlformats.org/drawingml/2006/main">
              <a:ext uri="{FF2B5EF4-FFF2-40B4-BE49-F238E27FC236}">
                <a16:creationId xmlns:a16="http://schemas.microsoft.com/office/drawing/2014/main" id="{8361A32E-3F7B-4A84-B459-0AAEEC2E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7500" y="4861560"/>
            <a:ext cx="96354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AuditRuleSet</a:t>
            </a:r>
          </a:p>
        </p:txBody>
      </p:sp>
      <p:sp>
        <p:nvSpPr>
          <p:cNvPr id="80" name="chip-prompttemplate">
            <a:extLst xmlns:a="http://schemas.openxmlformats.org/drawingml/2006/main">
              <a:ext uri="{FF2B5EF4-FFF2-40B4-BE49-F238E27FC236}">
                <a16:creationId xmlns:a16="http://schemas.microsoft.com/office/drawing/2014/main" id="{DFB87031-1B2C-44CB-8227-C2BCBED4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86156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81" name="chip-text-prompttemplate">
            <a:extLst xmlns:a="http://schemas.openxmlformats.org/drawingml/2006/main">
              <a:ext uri="{FF2B5EF4-FFF2-40B4-BE49-F238E27FC236}">
                <a16:creationId xmlns:a16="http://schemas.microsoft.com/office/drawing/2014/main" id="{3407E7AA-6482-435E-9F3C-4F9C8C80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155" y="4861560"/>
            <a:ext cx="1124141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PromptTemplate</a:t>
            </a:r>
          </a:p>
        </p:txBody>
      </p:sp>
      <p:sp>
        <p:nvSpPr>
          <p:cNvPr id="82" name="arch-note">
            <a:extLst xmlns:a="http://schemas.openxmlformats.org/drawingml/2006/main">
              <a:ext uri="{FF2B5EF4-FFF2-40B4-BE49-F238E27FC236}">
                <a16:creationId xmlns:a16="http://schemas.microsoft.com/office/drawing/2014/main" id="{B310C26B-8666-4974-99D5-9F7B0F3F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93030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入口 `/deepaudit-app/` 对接 Focus 主平台 token；SSE `/stream` 与 WebSocket `/ws/` 都依赖 ASGI + Redis + Nginx 的同一条链路。</a:t>
            </a:r>
          </a:p>
        </p:txBody>
      </p:sp>
    </p:spTree>
    <p:extLst>
      <p:ext uri="{BB962C8B-B14F-4D97-AF65-F5344CB8AC3E}">
        <p14:creationId xmlns:p14="http://schemas.microsoft.com/office/powerpoint/2010/main" val="1604224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多智能体编排架构">
            <a:extLst xmlns:a="http://schemas.openxmlformats.org/drawingml/2006/main">
              <a:ext uri="{FF2B5EF4-FFF2-40B4-BE49-F238E27FC236}">
                <a16:creationId xmlns:a16="http://schemas.microsoft.com/office/drawing/2014/main" id="{D2795546-3432-43E7-9F61-AA1977D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946118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MULTI-AGENT</a:t>
            </a:r>
          </a:p>
        </p:txBody>
      </p:sp>
      <p:sp>
        <p:nvSpPr>
          <p:cNvPr id="2" name="header-title-多智能体编排架构">
            <a:extLst xmlns:a="http://schemas.openxmlformats.org/drawingml/2006/main">
              <a:ext uri="{FF2B5EF4-FFF2-40B4-BE49-F238E27FC236}">
                <a16:creationId xmlns:a16="http://schemas.microsoft.com/office/drawing/2014/main" id="{7145B654-EDC7-4AA8-9742-49603E33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多智能体编排架构</a:t>
            </a:r>
          </a:p>
        </p:txBody>
      </p:sp>
      <p:sp>
        <p:nvSpPr>
          <p:cNvPr id="3" name="header-subtitle-多智能体编排架构">
            <a:extLst xmlns:a="http://schemas.openxmlformats.org/drawingml/2006/main">
              <a:ext uri="{FF2B5EF4-FFF2-40B4-BE49-F238E27FC236}">
                <a16:creationId xmlns:a16="http://schemas.microsoft.com/office/drawing/2014/main" id="{5A4A7864-F503-459B-885E-737ACC83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基于 LLM 的 ReAct 循环，实现动态策略适应与子领域专业化。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724FF731-C87F-49D8-88C1-1640BA33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9E7065-11D0-4E5E-AA93-AA11E66D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核心大脑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8BCE16-F12C-4656-8DCB-4751EFF8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4570"/>
            <a:ext cx="3560445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Orchestrator 编排器</a:t>
            </a:r>
          </a:p>
        </p:txBody>
      </p:sp>
      <p:sp>
        <p:nvSpPr>
          <p:cNvPr id="7" name="bullet-dot-自主决策">
            <a:extLst xmlns:a="http://schemas.openxmlformats.org/drawingml/2006/main">
              <a:ext uri="{FF2B5EF4-FFF2-40B4-BE49-F238E27FC236}">
                <a16:creationId xmlns:a16="http://schemas.microsoft.com/office/drawing/2014/main" id="{EF559343-A069-4F30-99BF-1F282105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自主决策">
            <a:extLst xmlns:a="http://schemas.openxmlformats.org/drawingml/2006/main">
              <a:ext uri="{FF2B5EF4-FFF2-40B4-BE49-F238E27FC236}">
                <a16:creationId xmlns:a16="http://schemas.microsoft.com/office/drawing/2014/main" id="{F5231965-A788-4A55-9860-2DBCDF0E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2321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自主决策</a:t>
            </a:r>
          </a:p>
        </p:txBody>
      </p:sp>
      <p:sp>
        <p:nvSpPr>
          <p:cNvPr id="9" name="bullet-detail-自主决策">
            <a:extLst xmlns:a="http://schemas.openxmlformats.org/drawingml/2006/main">
              <a:ext uri="{FF2B5EF4-FFF2-40B4-BE49-F238E27FC236}">
                <a16:creationId xmlns:a16="http://schemas.microsoft.com/office/drawing/2014/main" id="{2BB54F91-4A99-41BE-A66E-0F875168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5620"/>
            <a:ext cx="3143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LLM 作为系统大脑，不再是固定的规则流，而是动态调度。</a:t>
            </a:r>
          </a:p>
        </p:txBody>
      </p:sp>
      <p:sp>
        <p:nvSpPr>
          <p:cNvPr id="10" name="bullet-dot-react-循环">
            <a:extLst xmlns:a="http://schemas.openxmlformats.org/drawingml/2006/main">
              <a:ext uri="{FF2B5EF4-FFF2-40B4-BE49-F238E27FC236}">
                <a16:creationId xmlns:a16="http://schemas.microsoft.com/office/drawing/2014/main" id="{29F0D305-BE7A-4A52-8E46-306BA9F1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842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react-循环">
            <a:extLst xmlns:a="http://schemas.openxmlformats.org/drawingml/2006/main">
              <a:ext uri="{FF2B5EF4-FFF2-40B4-BE49-F238E27FC236}">
                <a16:creationId xmlns:a16="http://schemas.microsoft.com/office/drawing/2014/main" id="{F9C2BF48-F4C2-4C5B-BA95-7665F94E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8427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ReAct 循环</a:t>
            </a:r>
          </a:p>
        </p:txBody>
      </p:sp>
      <p:sp>
        <p:nvSpPr>
          <p:cNvPr id="12" name="bullet-detail-react-循环">
            <a:extLst xmlns:a="http://schemas.openxmlformats.org/drawingml/2006/main">
              <a:ext uri="{FF2B5EF4-FFF2-40B4-BE49-F238E27FC236}">
                <a16:creationId xmlns:a16="http://schemas.microsoft.com/office/drawing/2014/main" id="{197980CC-29ED-4AF2-94F1-B7B65F87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16680"/>
            <a:ext cx="3143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Thought (思考) → Action (派发/工具) → Observation (观察反馈)。</a:t>
            </a:r>
          </a:p>
        </p:txBody>
      </p:sp>
      <p:sp>
        <p:nvSpPr>
          <p:cNvPr id="13" name="bullet-dot-任务交接">
            <a:extLst xmlns:a="http://schemas.openxmlformats.org/drawingml/2006/main">
              <a:ext uri="{FF2B5EF4-FFF2-40B4-BE49-F238E27FC236}">
                <a16:creationId xmlns:a16="http://schemas.microsoft.com/office/drawing/2014/main" id="{6233EE09-EE99-458A-8506-38791847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738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任务交接">
            <a:extLst xmlns:a="http://schemas.openxmlformats.org/drawingml/2006/main">
              <a:ext uri="{FF2B5EF4-FFF2-40B4-BE49-F238E27FC236}">
                <a16:creationId xmlns:a16="http://schemas.microsoft.com/office/drawing/2014/main" id="{A7FE5734-6FA3-4728-96E1-787831B8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388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任务交接</a:t>
            </a:r>
          </a:p>
        </p:txBody>
      </p:sp>
      <p:sp>
        <p:nvSpPr>
          <p:cNvPr id="15" name="bullet-detail-任务交接">
            <a:extLst xmlns:a="http://schemas.openxmlformats.org/drawingml/2006/main">
              <a:ext uri="{FF2B5EF4-FFF2-40B4-BE49-F238E27FC236}">
                <a16:creationId xmlns:a16="http://schemas.microsoft.com/office/drawing/2014/main" id="{DA9E52CA-45FD-4799-9129-D27B85D6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06290"/>
            <a:ext cx="3143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通过 TaskHandoff 协议，在不同 Agent 间传递上下文与高优区域。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963D5B-C838-473D-9D99-30E4D140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00250"/>
            <a:ext cx="89030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专业子 Agent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FC633F-53D6-443A-A553-94A17D01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74570"/>
            <a:ext cx="221742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领域专家分离</a:t>
            </a:r>
          </a:p>
        </p:txBody>
      </p:sp>
      <p:sp>
        <p:nvSpPr>
          <p:cNvPr id="18" name="bullet-dot-recon-agent-侦察">
            <a:extLst xmlns:a="http://schemas.openxmlformats.org/drawingml/2006/main">
              <a:ext uri="{FF2B5EF4-FFF2-40B4-BE49-F238E27FC236}">
                <a16:creationId xmlns:a16="http://schemas.microsoft.com/office/drawing/2014/main" id="{6FF3E0E3-360E-4BA3-B396-31A7B192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bullet-title-recon-agent-侦察">
            <a:extLst xmlns:a="http://schemas.openxmlformats.org/drawingml/2006/main">
              <a:ext uri="{FF2B5EF4-FFF2-40B4-BE49-F238E27FC236}">
                <a16:creationId xmlns:a16="http://schemas.microsoft.com/office/drawing/2014/main" id="{54BEBFB1-C7CE-40E9-8E06-BF852B7B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2321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Recon Agent (侦察)</a:t>
            </a:r>
          </a:p>
        </p:txBody>
      </p:sp>
      <p:sp>
        <p:nvSpPr>
          <p:cNvPr id="20" name="bullet-detail-recon-agent-侦察">
            <a:extLst xmlns:a="http://schemas.openxmlformats.org/drawingml/2006/main">
              <a:ext uri="{FF2B5EF4-FFF2-40B4-BE49-F238E27FC236}">
                <a16:creationId xmlns:a16="http://schemas.microsoft.com/office/drawing/2014/main" id="{005AA43D-3303-4B86-881F-713907F7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55620"/>
            <a:ext cx="342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收集项目结构、识别技术栈和定位高危入口点。</a:t>
            </a:r>
          </a:p>
        </p:txBody>
      </p:sp>
      <p:sp>
        <p:nvSpPr>
          <p:cNvPr id="21" name="bullet-dot-analysis-agent-分析">
            <a:extLst xmlns:a="http://schemas.openxmlformats.org/drawingml/2006/main">
              <a:ext uri="{FF2B5EF4-FFF2-40B4-BE49-F238E27FC236}">
                <a16:creationId xmlns:a16="http://schemas.microsoft.com/office/drawing/2014/main" id="{27E87DA4-B827-4759-9037-36D449BB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413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22" name="bullet-title-analysis-agent-分析">
            <a:extLst xmlns:a="http://schemas.openxmlformats.org/drawingml/2006/main">
              <a:ext uri="{FF2B5EF4-FFF2-40B4-BE49-F238E27FC236}">
                <a16:creationId xmlns:a16="http://schemas.microsoft.com/office/drawing/2014/main" id="{4B4F3C03-1938-427C-A247-1C96B26E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4137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Analysis Agent (分析)</a:t>
            </a:r>
          </a:p>
        </p:txBody>
      </p:sp>
      <p:sp>
        <p:nvSpPr>
          <p:cNvPr id="23" name="bullet-detail-analysis-agent-分析">
            <a:extLst xmlns:a="http://schemas.openxmlformats.org/drawingml/2006/main">
              <a:ext uri="{FF2B5EF4-FFF2-40B4-BE49-F238E27FC236}">
                <a16:creationId xmlns:a16="http://schemas.microsoft.com/office/drawing/2014/main" id="{313F54B1-E563-432E-9EA3-2F003902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7378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挂载 SmartScan、Semgrep 等工具，进行深度漏洞挖掘。</a:t>
            </a:r>
          </a:p>
        </p:txBody>
      </p:sp>
      <p:sp>
        <p:nvSpPr>
          <p:cNvPr id="24" name="bullet-dot-verification-agent-验证">
            <a:extLst xmlns:a="http://schemas.openxmlformats.org/drawingml/2006/main">
              <a:ext uri="{FF2B5EF4-FFF2-40B4-BE49-F238E27FC236}">
                <a16:creationId xmlns:a16="http://schemas.microsoft.com/office/drawing/2014/main" id="{9E4AAD2E-37DC-4A85-8C0A-3E3EB5C4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309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bullet-title-verification-agent-验证">
            <a:extLst xmlns:a="http://schemas.openxmlformats.org/drawingml/2006/main">
              <a:ext uri="{FF2B5EF4-FFF2-40B4-BE49-F238E27FC236}">
                <a16:creationId xmlns:a16="http://schemas.microsoft.com/office/drawing/2014/main" id="{4D7DB1E5-2B0C-4DE9-977A-8E82C036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3098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Verification Agent (验证)</a:t>
            </a:r>
          </a:p>
        </p:txBody>
      </p:sp>
      <p:sp>
        <p:nvSpPr>
          <p:cNvPr id="26" name="bullet-detail-verification-agent-验证">
            <a:extLst xmlns:a="http://schemas.openxmlformats.org/drawingml/2006/main">
              <a:ext uri="{FF2B5EF4-FFF2-40B4-BE49-F238E27FC236}">
                <a16:creationId xmlns:a16="http://schemas.microsoft.com/office/drawing/2014/main" id="{5A07C670-A28F-4581-9674-308E48AE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6339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负责减少误报，生成 PoC 并在隔离沙箱中验证可利用性。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5269BD-99AA-41C8-B7C8-EF13B271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00250"/>
            <a:ext cx="68094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动态任务流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7CF95A-9BEA-4C36-B3CA-2E3AF540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74570"/>
            <a:ext cx="3714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3000"/>
            </a:srgbClr>
          </a:solidFill>
          <a:ln xmlns:a="http://schemas.openxmlformats.org/drawingml/2006/main" w="9525">
            <a:solidFill>
              <a:srgbClr val="101828">
                <a:alpha val="1200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5251B3-FCFC-4FAE-87AF-03E17E42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26970"/>
            <a:ext cx="1237869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475467"/>
                </a:solidFill>
                <a:latin typeface="Menlo"/>
                <a:ea typeface="Menlo"/>
                <a:cs typeface="Menlo"/>
              </a:rPr>
              <a:t>LLM Output 示例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48666C-D918-461E-B1ED-90FA479F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93670"/>
            <a:ext cx="3771138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Thought: 这是一个 Django 项目，我应该先派发 Recon。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61D1E3-EC00-437B-9F17-B04317B7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60370"/>
            <a:ext cx="1892236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Action: dispatch_agent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514446-4749-48C8-824C-0C68C3BB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27070"/>
            <a:ext cx="2153888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Action Input: {"agent": "recon"}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260938-9AF3-48B6-A542-FCA27EBC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36670"/>
            <a:ext cx="2857500" cy="5829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通过熔断器(Circuit Breaker)和重试机制保证协作的健壮性。</a:t>
            </a:r>
          </a:p>
        </p:txBody>
      </p:sp>
    </p:spTree>
    <p:extLst>
      <p:ext uri="{BB962C8B-B14F-4D97-AF65-F5344CB8AC3E}">
        <p14:creationId xmlns:p14="http://schemas.microsoft.com/office/powerpoint/2010/main" val="20706918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实现方法与关键技术">
            <a:extLst xmlns:a="http://schemas.openxmlformats.org/drawingml/2006/main">
              <a:ext uri="{FF2B5EF4-FFF2-40B4-BE49-F238E27FC236}">
                <a16:creationId xmlns:a16="http://schemas.microsoft.com/office/drawing/2014/main" id="{AB0C3FE0-71E4-4DCF-A9D6-3FE83890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2041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IMPLEMENTATION</a:t>
            </a:r>
          </a:p>
        </p:txBody>
      </p:sp>
      <p:sp>
        <p:nvSpPr>
          <p:cNvPr id="2" name="header-title-实现方法与关键技术">
            <a:extLst xmlns:a="http://schemas.openxmlformats.org/drawingml/2006/main">
              <a:ext uri="{FF2B5EF4-FFF2-40B4-BE49-F238E27FC236}">
                <a16:creationId xmlns:a16="http://schemas.microsoft.com/office/drawing/2014/main" id="{75290890-E092-421D-9608-40558B3B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实现方法与关键技术</a:t>
            </a:r>
          </a:p>
        </p:txBody>
      </p:sp>
      <p:sp>
        <p:nvSpPr>
          <p:cNvPr id="3" name="header-subtitle-实现方法与关键技术">
            <a:extLst xmlns:a="http://schemas.openxmlformats.org/drawingml/2006/main">
              <a:ext uri="{FF2B5EF4-FFF2-40B4-BE49-F238E27FC236}">
                <a16:creationId xmlns:a16="http://schemas.microsoft.com/office/drawing/2014/main" id="{7FF0A39F-CA9F-43E7-A7DE-D5592AB6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先工具、再推理；先收敛、再验证；先回传、再报告。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536718CB-3AF4-45C3-BD87-A1E73157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5" name="impl-exec-kicker">
            <a:extLst xmlns:a="http://schemas.openxmlformats.org/drawingml/2006/main">
              <a:ext uri="{FF2B5EF4-FFF2-40B4-BE49-F238E27FC236}">
                <a16:creationId xmlns:a16="http://schemas.microsoft.com/office/drawing/2014/main" id="{D6DFAE3A-717E-4627-9136-C8B1D29E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40852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执行链</a:t>
            </a:r>
          </a:p>
        </p:txBody>
      </p:sp>
      <p:sp>
        <p:nvSpPr>
          <p:cNvPr id="6" name="impl-exec-title">
            <a:extLst xmlns:a="http://schemas.openxmlformats.org/drawingml/2006/main">
              <a:ext uri="{FF2B5EF4-FFF2-40B4-BE49-F238E27FC236}">
                <a16:creationId xmlns:a16="http://schemas.microsoft.com/office/drawing/2014/main" id="{313C69DF-B959-4ED2-AEA0-FD64BE87C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4570"/>
            <a:ext cx="295656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任务入口与运行时</a:t>
            </a:r>
          </a:p>
        </p:txBody>
      </p:sp>
      <p:sp>
        <p:nvSpPr>
          <p:cNvPr id="7" name="bullet-dot-任务入口分域">
            <a:extLst xmlns:a="http://schemas.openxmlformats.org/drawingml/2006/main">
              <a:ext uri="{FF2B5EF4-FFF2-40B4-BE49-F238E27FC236}">
                <a16:creationId xmlns:a16="http://schemas.microsoft.com/office/drawing/2014/main" id="{B77C47A3-C4DF-41B6-A41A-984122FF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任务入口分域">
            <a:extLst xmlns:a="http://schemas.openxmlformats.org/drawingml/2006/main">
              <a:ext uri="{FF2B5EF4-FFF2-40B4-BE49-F238E27FC236}">
                <a16:creationId xmlns:a16="http://schemas.microsoft.com/office/drawing/2014/main" id="{D294FAD0-B1FA-45AB-B11F-7A9877D7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23210"/>
            <a:ext cx="2952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任务入口分域</a:t>
            </a:r>
          </a:p>
        </p:txBody>
      </p:sp>
      <p:sp>
        <p:nvSpPr>
          <p:cNvPr id="9" name="bullet-detail-任务入口分域">
            <a:extLst xmlns:a="http://schemas.openxmlformats.org/drawingml/2006/main">
              <a:ext uri="{FF2B5EF4-FFF2-40B4-BE49-F238E27FC236}">
                <a16:creationId xmlns:a16="http://schemas.microsoft.com/office/drawing/2014/main" id="{58B779BC-DB5A-41EC-8C82-93FBBF7D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5620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project_services、scan_task_services、agent_task_services 分别处理项目、传统扫描和 Agent 审计。</a:t>
            </a:r>
          </a:p>
        </p:txBody>
      </p:sp>
      <p:sp>
        <p:nvSpPr>
          <p:cNvPr id="10" name="bullet-dot-工作区准备">
            <a:extLst xmlns:a="http://schemas.openxmlformats.org/drawingml/2006/main">
              <a:ext uri="{FF2B5EF4-FFF2-40B4-BE49-F238E27FC236}">
                <a16:creationId xmlns:a16="http://schemas.microsoft.com/office/drawing/2014/main" id="{88E3DD54-22DB-4ACF-B98E-6543CC68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842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工作区准备">
            <a:extLst xmlns:a="http://schemas.openxmlformats.org/drawingml/2006/main">
              <a:ext uri="{FF2B5EF4-FFF2-40B4-BE49-F238E27FC236}">
                <a16:creationId xmlns:a16="http://schemas.microsoft.com/office/drawing/2014/main" id="{939CEE70-75A9-432B-9DA4-116A0655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84270"/>
            <a:ext cx="2952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工作区准备</a:t>
            </a:r>
          </a:p>
        </p:txBody>
      </p:sp>
      <p:sp>
        <p:nvSpPr>
          <p:cNvPr id="12" name="bullet-detail-工作区准备">
            <a:extLst xmlns:a="http://schemas.openxmlformats.org/drawingml/2006/main">
              <a:ext uri="{FF2B5EF4-FFF2-40B4-BE49-F238E27FC236}">
                <a16:creationId xmlns:a16="http://schemas.microsoft.com/office/drawing/2014/main" id="{447EFC20-7C00-4B29-8A50-BF774601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16680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runtime.py + storage.py 负责 workspace、git worktree、ZIP、SSH 和目录清理。</a:t>
            </a:r>
          </a:p>
        </p:txBody>
      </p:sp>
      <p:sp>
        <p:nvSpPr>
          <p:cNvPr id="13" name="bullet-dot-结果输出">
            <a:extLst xmlns:a="http://schemas.openxmlformats.org/drawingml/2006/main">
              <a:ext uri="{FF2B5EF4-FFF2-40B4-BE49-F238E27FC236}">
                <a16:creationId xmlns:a16="http://schemas.microsoft.com/office/drawing/2014/main" id="{FE129980-D4AB-4CE8-B6E5-5213760A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53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结果输出">
            <a:extLst xmlns:a="http://schemas.openxmlformats.org/drawingml/2006/main">
              <a:ext uri="{FF2B5EF4-FFF2-40B4-BE49-F238E27FC236}">
                <a16:creationId xmlns:a16="http://schemas.microsoft.com/office/drawing/2014/main" id="{2512384A-9109-45D6-97C3-81DC43AF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45330"/>
            <a:ext cx="2952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结果输出</a:t>
            </a:r>
          </a:p>
        </p:txBody>
      </p:sp>
      <p:sp>
        <p:nvSpPr>
          <p:cNvPr id="15" name="bullet-detail-结果输出">
            <a:extLst xmlns:a="http://schemas.openxmlformats.org/drawingml/2006/main">
              <a:ext uri="{FF2B5EF4-FFF2-40B4-BE49-F238E27FC236}">
                <a16:creationId xmlns:a16="http://schemas.microsoft.com/office/drawing/2014/main" id="{56A8575A-DF6E-4D6A-855B-8D219672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77740"/>
            <a:ext cx="2952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reporting.py 生成 PDF / JSON，AgentCheckpoint 支持恢复和重跑。</a:t>
            </a:r>
          </a:p>
        </p:txBody>
      </p:sp>
      <p:sp>
        <p:nvSpPr>
          <p:cNvPr id="16" name="impl-orch-kicker">
            <a:extLst xmlns:a="http://schemas.openxmlformats.org/drawingml/2006/main">
              <a:ext uri="{FF2B5EF4-FFF2-40B4-BE49-F238E27FC236}">
                <a16:creationId xmlns:a16="http://schemas.microsoft.com/office/drawing/2014/main" id="{BEDB7910-2496-404D-8300-D379E107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8171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遥测与健壮性</a:t>
            </a:r>
          </a:p>
        </p:txBody>
      </p:sp>
      <p:sp>
        <p:nvSpPr>
          <p:cNvPr id="17" name="impl-orch-title">
            <a:extLst xmlns:a="http://schemas.openxmlformats.org/drawingml/2006/main">
              <a:ext uri="{FF2B5EF4-FFF2-40B4-BE49-F238E27FC236}">
                <a16:creationId xmlns:a16="http://schemas.microsoft.com/office/drawing/2014/main" id="{E6482039-5AD4-44AF-8B32-17B1610D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74570"/>
            <a:ext cx="295656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分布式追踪与熔断</a:t>
            </a:r>
          </a:p>
        </p:txBody>
      </p:sp>
      <p:sp>
        <p:nvSpPr>
          <p:cNvPr id="18" name="bullet-dot-event-manager">
            <a:extLst xmlns:a="http://schemas.openxmlformats.org/drawingml/2006/main">
              <a:ext uri="{FF2B5EF4-FFF2-40B4-BE49-F238E27FC236}">
                <a16:creationId xmlns:a16="http://schemas.microsoft.com/office/drawing/2014/main" id="{1B849CD6-57C3-4B0A-8F9C-9F7CA8FE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bullet-title-event-manager">
            <a:extLst xmlns:a="http://schemas.openxmlformats.org/drawingml/2006/main">
              <a:ext uri="{FF2B5EF4-FFF2-40B4-BE49-F238E27FC236}">
                <a16:creationId xmlns:a16="http://schemas.microsoft.com/office/drawing/2014/main" id="{6291E06F-E13D-4BFB-B0F4-6C54EDD7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23210"/>
            <a:ext cx="3238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Event Manager</a:t>
            </a:r>
          </a:p>
        </p:txBody>
      </p:sp>
      <p:sp>
        <p:nvSpPr>
          <p:cNvPr id="20" name="bullet-detail-event-manager">
            <a:extLst xmlns:a="http://schemas.openxmlformats.org/drawingml/2006/main">
              <a:ext uri="{FF2B5EF4-FFF2-40B4-BE49-F238E27FC236}">
                <a16:creationId xmlns:a16="http://schemas.microsoft.com/office/drawing/2014/main" id="{811AB2CD-AC1C-4485-859F-7F9F26F4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55620"/>
            <a:ext cx="3238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内存队列 + SSE 异步迭代，实现高并发下的低延迟事件分发。</a:t>
            </a:r>
          </a:p>
        </p:txBody>
      </p:sp>
      <p:sp>
        <p:nvSpPr>
          <p:cNvPr id="21" name="impl-orch-panel">
            <a:extLst xmlns:a="http://schemas.openxmlformats.org/drawingml/2006/main">
              <a:ext uri="{FF2B5EF4-FFF2-40B4-BE49-F238E27FC236}">
                <a16:creationId xmlns:a16="http://schemas.microsoft.com/office/drawing/2014/main" id="{1EB875CA-56B7-4F19-B198-FC1390D9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12820"/>
            <a:ext cx="342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3000"/>
            </a:srgbClr>
          </a:solidFill>
          <a:ln xmlns:a="http://schemas.openxmlformats.org/drawingml/2006/main" w="9525">
            <a:solidFill>
              <a:srgbClr val="101828">
                <a:alpha val="12000"/>
              </a:srgbClr>
            </a:solidFill>
            <a:prstDash val="solid"/>
          </a:ln>
        </p:spPr>
      </p:sp>
      <p:sp>
        <p:nvSpPr>
          <p:cNvPr id="22" name="impl-orch-tree-title">
            <a:extLst xmlns:a="http://schemas.openxmlformats.org/drawingml/2006/main">
              <a:ext uri="{FF2B5EF4-FFF2-40B4-BE49-F238E27FC236}">
                <a16:creationId xmlns:a16="http://schemas.microsoft.com/office/drawing/2014/main" id="{255EEF26-A9F4-4512-AACE-AA25B154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12820"/>
            <a:ext cx="2118931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Circuit Breaker (熔断器)</a:t>
            </a:r>
          </a:p>
        </p:txBody>
      </p:sp>
      <p:sp>
        <p:nvSpPr>
          <p:cNvPr id="23" name="impl-orch-tree-body">
            <a:extLst xmlns:a="http://schemas.openxmlformats.org/drawingml/2006/main">
              <a:ext uri="{FF2B5EF4-FFF2-40B4-BE49-F238E27FC236}">
                <a16:creationId xmlns:a16="http://schemas.microsoft.com/office/drawing/2014/main" id="{6B0B6F54-891D-4F5A-B6DB-7FF172C7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71900"/>
            <a:ext cx="273005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CLOSED → OPEN → HALF_OPEN → CLOSED</a:t>
            </a:r>
          </a:p>
        </p:txBody>
      </p:sp>
      <p:sp>
        <p:nvSpPr>
          <p:cNvPr id="24" name="impl-orch-tree-note">
            <a:extLst xmlns:a="http://schemas.openxmlformats.org/drawingml/2006/main">
              <a:ext uri="{FF2B5EF4-FFF2-40B4-BE49-F238E27FC236}">
                <a16:creationId xmlns:a16="http://schemas.microsoft.com/office/drawing/2014/main" id="{BAF1AF2C-D8FB-4C4C-B8C7-35CD7038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08120"/>
            <a:ext cx="3114008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失败阈值 5 次，恢复超时 30s，防止级联故障。</a:t>
            </a:r>
          </a:p>
        </p:txBody>
      </p:sp>
      <p:sp>
        <p:nvSpPr>
          <p:cNvPr id="25" name="bullet-dot-分布式追踪-tracer">
            <a:extLst xmlns:a="http://schemas.openxmlformats.org/drawingml/2006/main">
              <a:ext uri="{FF2B5EF4-FFF2-40B4-BE49-F238E27FC236}">
                <a16:creationId xmlns:a16="http://schemas.microsoft.com/office/drawing/2014/main" id="{E63A55E5-E67C-4721-81E4-CA676A46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4653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26" name="bullet-title-分布式追踪-tracer">
            <a:extLst xmlns:a="http://schemas.openxmlformats.org/drawingml/2006/main">
              <a:ext uri="{FF2B5EF4-FFF2-40B4-BE49-F238E27FC236}">
                <a16:creationId xmlns:a16="http://schemas.microsoft.com/office/drawing/2014/main" id="{610B6E34-5039-4111-A592-520F4DCB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65320"/>
            <a:ext cx="3238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分布式追踪 (Tracer)</a:t>
            </a:r>
          </a:p>
        </p:txBody>
      </p:sp>
      <p:sp>
        <p:nvSpPr>
          <p:cNvPr id="27" name="bullet-detail-分布式追踪-tracer">
            <a:extLst xmlns:a="http://schemas.openxmlformats.org/drawingml/2006/main">
              <a:ext uri="{FF2B5EF4-FFF2-40B4-BE49-F238E27FC236}">
                <a16:creationId xmlns:a16="http://schemas.microsoft.com/office/drawing/2014/main" id="{BB9D9F43-DD32-47F2-B3F6-6542F589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97730"/>
            <a:ext cx="3238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记录执行时间、Token使用量和关联ID，构建完整的追踪树。</a:t>
            </a:r>
          </a:p>
        </p:txBody>
      </p:sp>
      <p:sp>
        <p:nvSpPr>
          <p:cNvPr id="28" name="bullet-dot-速率限制-rate-limiter">
            <a:extLst xmlns:a="http://schemas.openxmlformats.org/drawingml/2006/main">
              <a:ext uri="{FF2B5EF4-FFF2-40B4-BE49-F238E27FC236}">
                <a16:creationId xmlns:a16="http://schemas.microsoft.com/office/drawing/2014/main" id="{3A4F4DFE-65E5-42FE-977A-708B5C56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49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29" name="bullet-title-速率限制-rate-limiter">
            <a:extLst xmlns:a="http://schemas.openxmlformats.org/drawingml/2006/main">
              <a:ext uri="{FF2B5EF4-FFF2-40B4-BE49-F238E27FC236}">
                <a16:creationId xmlns:a16="http://schemas.microsoft.com/office/drawing/2014/main" id="{B8579B7B-EBB8-4BBC-B7CB-A02AA8A7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54930"/>
            <a:ext cx="3238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速率限制 (Rate Limiter)</a:t>
            </a:r>
          </a:p>
        </p:txBody>
      </p:sp>
      <p:sp>
        <p:nvSpPr>
          <p:cNvPr id="30" name="bullet-detail-速率限制-rate-limiter">
            <a:extLst xmlns:a="http://schemas.openxmlformats.org/drawingml/2006/main">
              <a:ext uri="{FF2B5EF4-FFF2-40B4-BE49-F238E27FC236}">
                <a16:creationId xmlns:a16="http://schemas.microsoft.com/office/drawing/2014/main" id="{46B2DA58-DDFC-45C5-9852-937F8A41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87340"/>
            <a:ext cx="3238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基于令牌桶算法，平滑控制 LLM 和外部工具的并发请求频率。</a:t>
            </a:r>
          </a:p>
        </p:txBody>
      </p:sp>
      <p:sp>
        <p:nvSpPr>
          <p:cNvPr id="31" name="impl-realtime-kicker">
            <a:extLst xmlns:a="http://schemas.openxmlformats.org/drawingml/2006/main">
              <a:ext uri="{FF2B5EF4-FFF2-40B4-BE49-F238E27FC236}">
                <a16:creationId xmlns:a16="http://schemas.microsoft.com/office/drawing/2014/main" id="{4B9948F6-5682-48EE-9DE5-5F156670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00250"/>
            <a:ext cx="40852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实时层</a:t>
            </a:r>
          </a:p>
        </p:txBody>
      </p:sp>
      <p:sp>
        <p:nvSpPr>
          <p:cNvPr id="32" name="impl-realtime-title">
            <a:extLst xmlns:a="http://schemas.openxmlformats.org/drawingml/2006/main">
              <a:ext uri="{FF2B5EF4-FFF2-40B4-BE49-F238E27FC236}">
                <a16:creationId xmlns:a16="http://schemas.microsoft.com/office/drawing/2014/main" id="{5082EBDC-D31D-4F5A-A963-4A42C2A1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74570"/>
            <a:ext cx="2707576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可观测 + 可恢复</a:t>
            </a:r>
          </a:p>
        </p:txBody>
      </p:sp>
      <p:sp>
        <p:nvSpPr>
          <p:cNvPr id="33" name="bullet-dot-流式事件">
            <a:extLst xmlns:a="http://schemas.openxmlformats.org/drawingml/2006/main">
              <a:ext uri="{FF2B5EF4-FFF2-40B4-BE49-F238E27FC236}">
                <a16:creationId xmlns:a16="http://schemas.microsoft.com/office/drawing/2014/main" id="{5D6874FC-D447-4D9F-BF1F-54EEC252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34" name="bullet-title-流式事件">
            <a:extLst xmlns:a="http://schemas.openxmlformats.org/drawingml/2006/main">
              <a:ext uri="{FF2B5EF4-FFF2-40B4-BE49-F238E27FC236}">
                <a16:creationId xmlns:a16="http://schemas.microsoft.com/office/drawing/2014/main" id="{F6658368-5E7A-42D3-8716-7678FBDE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5755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流式事件</a:t>
            </a:r>
          </a:p>
        </p:txBody>
      </p:sp>
      <p:sp>
        <p:nvSpPr>
          <p:cNvPr id="35" name="bullet-detail-流式事件">
            <a:extLst xmlns:a="http://schemas.openxmlformats.org/drawingml/2006/main">
              <a:ext uri="{FF2B5EF4-FFF2-40B4-BE49-F238E27FC236}">
                <a16:creationId xmlns:a16="http://schemas.microsoft.com/office/drawing/2014/main" id="{B0D02504-F186-4C20-9AD3-756174C0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8996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thinking、tool_call、node_start、phase_start、finding、heartbeat、task_end 持续回传。</a:t>
            </a:r>
          </a:p>
        </p:txBody>
      </p:sp>
      <p:sp>
        <p:nvSpPr>
          <p:cNvPr id="36" name="bullet-dot-前端重连">
            <a:extLst xmlns:a="http://schemas.openxmlformats.org/drawingml/2006/main">
              <a:ext uri="{FF2B5EF4-FFF2-40B4-BE49-F238E27FC236}">
                <a16:creationId xmlns:a16="http://schemas.microsoft.com/office/drawing/2014/main" id="{6E57EECF-E0F5-4D8E-984A-15358A2D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94716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37" name="bullet-title-前端重连">
            <a:extLst xmlns:a="http://schemas.openxmlformats.org/drawingml/2006/main">
              <a:ext uri="{FF2B5EF4-FFF2-40B4-BE49-F238E27FC236}">
                <a16:creationId xmlns:a16="http://schemas.microsoft.com/office/drawing/2014/main" id="{031C8983-33D6-45F6-B6BD-8CBB9B5B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4716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前端重连</a:t>
            </a:r>
          </a:p>
        </p:txBody>
      </p:sp>
      <p:sp>
        <p:nvSpPr>
          <p:cNvPr id="38" name="bullet-detail-前端重连">
            <a:extLst xmlns:a="http://schemas.openxmlformats.org/drawingml/2006/main">
              <a:ext uri="{FF2B5EF4-FFF2-40B4-BE49-F238E27FC236}">
                <a16:creationId xmlns:a16="http://schemas.microsoft.com/office/drawing/2014/main" id="{00464379-53AF-45C0-AEEB-DAB150EB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7957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fetch + ReadableStream + afterSequence 续传，配合 heartbeat 和指数退避重连。</a:t>
            </a:r>
          </a:p>
        </p:txBody>
      </p:sp>
      <p:sp>
        <p:nvSpPr>
          <p:cNvPr id="39" name="bullet-dot-任务恢复">
            <a:extLst xmlns:a="http://schemas.openxmlformats.org/drawingml/2006/main">
              <a:ext uri="{FF2B5EF4-FFF2-40B4-BE49-F238E27FC236}">
                <a16:creationId xmlns:a16="http://schemas.microsoft.com/office/drawing/2014/main" id="{0D3CA0DA-F240-404F-B053-8794EF68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367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40" name="bullet-title-任务恢复">
            <a:extLst xmlns:a="http://schemas.openxmlformats.org/drawingml/2006/main">
              <a:ext uri="{FF2B5EF4-FFF2-40B4-BE49-F238E27FC236}">
                <a16:creationId xmlns:a16="http://schemas.microsoft.com/office/drawing/2014/main" id="{5C4F40D3-F600-4A77-9FAA-73C31028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3677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任务恢复</a:t>
            </a:r>
          </a:p>
        </p:txBody>
      </p:sp>
      <p:sp>
        <p:nvSpPr>
          <p:cNvPr id="41" name="bullet-detail-任务恢复">
            <a:extLst xmlns:a="http://schemas.openxmlformats.org/drawingml/2006/main">
              <a:ext uri="{FF2B5EF4-FFF2-40B4-BE49-F238E27FC236}">
                <a16:creationId xmlns:a16="http://schemas.microsoft.com/office/drawing/2014/main" id="{CBB40F8F-55C9-40B9-9935-45349C38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6918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checkpoint、snapshot、workspace 缓存让长任务中断后仍能恢复。</a:t>
            </a:r>
          </a:p>
        </p:txBody>
      </p:sp>
      <p:sp>
        <p:nvSpPr>
          <p:cNvPr id="42" name="impl-realtime-note">
            <a:extLst xmlns:a="http://schemas.openxmlformats.org/drawingml/2006/main">
              <a:ext uri="{FF2B5EF4-FFF2-40B4-BE49-F238E27FC236}">
                <a16:creationId xmlns:a16="http://schemas.microsoft.com/office/drawing/2014/main" id="{A25BC802-12C8-4BCE-AD30-3A62F9A8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32638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SSE 负责主链流式输出，WebSocket 负责任务事件推送，两者共同支撑现场演示。</a:t>
            </a:r>
          </a:p>
        </p:txBody>
      </p:sp>
      <p:sp>
        <p:nvSpPr>
          <p:cNvPr id="43" name="impl-note">
            <a:extLst xmlns:a="http://schemas.openxmlformats.org/drawingml/2006/main">
              <a:ext uri="{FF2B5EF4-FFF2-40B4-BE49-F238E27FC236}">
                <a16:creationId xmlns:a16="http://schemas.microsoft.com/office/drawing/2014/main" id="{63562320-C2A2-4CFA-8018-E78D8021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1690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核心思路是“工具覆盖 + 模型解释 + 检查点恢复 + 事件流回传”，而不是只给一个静态最终结果。</a:t>
            </a:r>
          </a:p>
        </p:txBody>
      </p:sp>
    </p:spTree>
    <p:extLst>
      <p:ext uri="{BB962C8B-B14F-4D97-AF65-F5344CB8AC3E}">
        <p14:creationId xmlns:p14="http://schemas.microsoft.com/office/powerpoint/2010/main" val="7712959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安全工具生态与沙箱验证">
            <a:extLst xmlns:a="http://schemas.openxmlformats.org/drawingml/2006/main">
              <a:ext uri="{FF2B5EF4-FFF2-40B4-BE49-F238E27FC236}">
                <a16:creationId xmlns:a16="http://schemas.microsoft.com/office/drawing/2014/main" id="{0A4E1292-556E-4103-AB98-C32271DB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29016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TOOLS &amp; SANDBOX</a:t>
            </a:r>
          </a:p>
        </p:txBody>
      </p:sp>
      <p:sp>
        <p:nvSpPr>
          <p:cNvPr id="2" name="header-title-安全工具生态与沙箱验证">
            <a:extLst xmlns:a="http://schemas.openxmlformats.org/drawingml/2006/main">
              <a:ext uri="{FF2B5EF4-FFF2-40B4-BE49-F238E27FC236}">
                <a16:creationId xmlns:a16="http://schemas.microsoft.com/office/drawing/2014/main" id="{3306102C-A0BB-4971-94AA-4AA41D38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安全工具生态与沙箱验证</a:t>
            </a:r>
          </a:p>
        </p:txBody>
      </p:sp>
      <p:sp>
        <p:nvSpPr>
          <p:cNvPr id="3" name="header-subtitle-安全工具生态与沙箱验证">
            <a:extLst xmlns:a="http://schemas.openxmlformats.org/drawingml/2006/main">
              <a:ext uri="{FF2B5EF4-FFF2-40B4-BE49-F238E27FC236}">
                <a16:creationId xmlns:a16="http://schemas.microsoft.com/office/drawing/2014/main" id="{AF77EE0A-4949-4707-9C7F-2EF1025E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集成 20+ 专业分析工具，结合隔离沙箱完成“发现到验证”的闭环。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890AB672-19B2-4429-AE12-3F697BDB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8EDC0-6FF6-41C3-8A4A-5E8A1CDB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8171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安全工具生态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786994-F778-46F3-A7C9-89C66B78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4570"/>
            <a:ext cx="295656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内置与外部工具链</a:t>
            </a:r>
          </a:p>
        </p:txBody>
      </p:sp>
      <p:sp>
        <p:nvSpPr>
          <p:cNvPr id="7" name="bullet-dot-智能分析工具">
            <a:extLst xmlns:a="http://schemas.openxmlformats.org/drawingml/2006/main">
              <a:ext uri="{FF2B5EF4-FFF2-40B4-BE49-F238E27FC236}">
                <a16:creationId xmlns:a16="http://schemas.microsoft.com/office/drawing/2014/main" id="{6DC3A6D0-7FF8-4170-B9D2-4CFFBFD9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智能分析工具">
            <a:extLst xmlns:a="http://schemas.openxmlformats.org/drawingml/2006/main">
              <a:ext uri="{FF2B5EF4-FFF2-40B4-BE49-F238E27FC236}">
                <a16:creationId xmlns:a16="http://schemas.microsoft.com/office/drawing/2014/main" id="{FF32C85F-8F15-494D-9DF4-A4AA34C4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23210"/>
            <a:ext cx="4095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智能分析工具</a:t>
            </a:r>
          </a:p>
        </p:txBody>
      </p:sp>
      <p:sp>
        <p:nvSpPr>
          <p:cNvPr id="9" name="bullet-detail-智能分析工具">
            <a:extLst xmlns:a="http://schemas.openxmlformats.org/drawingml/2006/main">
              <a:ext uri="{FF2B5EF4-FFF2-40B4-BE49-F238E27FC236}">
                <a16:creationId xmlns:a16="http://schemas.microsoft.com/office/drawing/2014/main" id="{4FA58E32-BACB-42CB-BA1F-61A31BF7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5620"/>
            <a:ext cx="4095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SmartScanTool (推荐首选) / DataFlowAnalysisTool。</a:t>
            </a:r>
          </a:p>
        </p:txBody>
      </p:sp>
      <p:sp>
        <p:nvSpPr>
          <p:cNvPr id="10" name="bullet-dot-外部扫描器">
            <a:extLst xmlns:a="http://schemas.openxmlformats.org/drawingml/2006/main">
              <a:ext uri="{FF2B5EF4-FFF2-40B4-BE49-F238E27FC236}">
                <a16:creationId xmlns:a16="http://schemas.microsoft.com/office/drawing/2014/main" id="{E241BECB-5181-496A-82A0-F05B2B93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413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外部扫描器">
            <a:extLst xmlns:a="http://schemas.openxmlformats.org/drawingml/2006/main">
              <a:ext uri="{FF2B5EF4-FFF2-40B4-BE49-F238E27FC236}">
                <a16:creationId xmlns:a16="http://schemas.microsoft.com/office/drawing/2014/main" id="{15B739BB-72C0-4A38-8465-B42EDB63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41370"/>
            <a:ext cx="4095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外部扫描器</a:t>
            </a:r>
          </a:p>
        </p:txBody>
      </p:sp>
      <p:sp>
        <p:nvSpPr>
          <p:cNvPr id="12" name="bullet-detail-外部扫描器">
            <a:extLst xmlns:a="http://schemas.openxmlformats.org/drawingml/2006/main">
              <a:ext uri="{FF2B5EF4-FFF2-40B4-BE49-F238E27FC236}">
                <a16:creationId xmlns:a16="http://schemas.microsoft.com/office/drawing/2014/main" id="{C2236825-70BD-449D-A6BD-98746BAD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3780"/>
            <a:ext cx="4095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Semgrep (多语言), Bandit (Python), Gitleaks (密钥检测)。</a:t>
            </a:r>
          </a:p>
        </p:txBody>
      </p:sp>
      <p:sp>
        <p:nvSpPr>
          <p:cNvPr id="13" name="bullet-dot-后备方案">
            <a:extLst xmlns:a="http://schemas.openxmlformats.org/drawingml/2006/main">
              <a:ext uri="{FF2B5EF4-FFF2-40B4-BE49-F238E27FC236}">
                <a16:creationId xmlns:a16="http://schemas.microsoft.com/office/drawing/2014/main" id="{3314D1C0-3DCC-4C49-AEA8-9F112135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595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后备方案">
            <a:extLst xmlns:a="http://schemas.openxmlformats.org/drawingml/2006/main">
              <a:ext uri="{FF2B5EF4-FFF2-40B4-BE49-F238E27FC236}">
                <a16:creationId xmlns:a16="http://schemas.microsoft.com/office/drawing/2014/main" id="{3E9CE0D8-27F1-4E69-9B1D-C85C0A65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9530"/>
            <a:ext cx="4095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后备方案</a:t>
            </a:r>
          </a:p>
        </p:txBody>
      </p:sp>
      <p:sp>
        <p:nvSpPr>
          <p:cNvPr id="15" name="bullet-detail-后备方案">
            <a:extLst xmlns:a="http://schemas.openxmlformats.org/drawingml/2006/main">
              <a:ext uri="{FF2B5EF4-FFF2-40B4-BE49-F238E27FC236}">
                <a16:creationId xmlns:a16="http://schemas.microsoft.com/office/drawing/2014/main" id="{2839C9E9-F5D2-4DFD-A8B1-061B2C5B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1940"/>
            <a:ext cx="4095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工具超时或失败时(如 120s 限制)，自动降级至 PatternMatchTool。</a:t>
            </a:r>
          </a:p>
        </p:txBody>
      </p:sp>
      <p:sp>
        <p:nvSpPr>
          <p:cNvPr id="16" name="bullet-dot-ast-语义解析">
            <a:extLst xmlns:a="http://schemas.openxmlformats.org/drawingml/2006/main">
              <a:ext uri="{FF2B5EF4-FFF2-40B4-BE49-F238E27FC236}">
                <a16:creationId xmlns:a16="http://schemas.microsoft.com/office/drawing/2014/main" id="{BEBA552E-B44C-4C44-B16F-35749255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91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17" name="bullet-title-ast-语义解析">
            <a:extLst xmlns:a="http://schemas.openxmlformats.org/drawingml/2006/main">
              <a:ext uri="{FF2B5EF4-FFF2-40B4-BE49-F238E27FC236}">
                <a16:creationId xmlns:a16="http://schemas.microsoft.com/office/drawing/2014/main" id="{7BC8F97C-9CD5-4E24-9042-120B426B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49140"/>
            <a:ext cx="4095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AST 语义解析</a:t>
            </a:r>
          </a:p>
        </p:txBody>
      </p:sp>
      <p:sp>
        <p:nvSpPr>
          <p:cNvPr id="18" name="bullet-detail-ast-语义解析">
            <a:extLst xmlns:a="http://schemas.openxmlformats.org/drawingml/2006/main">
              <a:ext uri="{FF2B5EF4-FFF2-40B4-BE49-F238E27FC236}">
                <a16:creationId xmlns:a16="http://schemas.microsoft.com/office/drawing/2014/main" id="{824D8C0A-E8DA-40BE-9E13-2CCE8208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4095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Tree-sitter 保留完整的函数/类语义，配合 ChromaDB 构建向量。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7AC760-6525-4AC9-B6DD-54803D74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00250"/>
            <a:ext cx="68094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沙箱验证层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DE6F4B-F16A-4821-8CE4-E7214708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74570"/>
            <a:ext cx="221742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从发现到确认</a:t>
            </a:r>
          </a:p>
        </p:txBody>
      </p:sp>
      <p:sp>
        <p:nvSpPr>
          <p:cNvPr id="21" name="bullet-dot-poc-自动生成">
            <a:extLst xmlns:a="http://schemas.openxmlformats.org/drawingml/2006/main">
              <a:ext uri="{FF2B5EF4-FFF2-40B4-BE49-F238E27FC236}">
                <a16:creationId xmlns:a16="http://schemas.microsoft.com/office/drawing/2014/main" id="{25691DE9-5DF6-470A-8FCC-44EB6C5C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22" name="bullet-title-poc-自动生成">
            <a:extLst xmlns:a="http://schemas.openxmlformats.org/drawingml/2006/main">
              <a:ext uri="{FF2B5EF4-FFF2-40B4-BE49-F238E27FC236}">
                <a16:creationId xmlns:a16="http://schemas.microsoft.com/office/drawing/2014/main" id="{BD67635F-C41C-488A-AEC5-E71210E8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23210"/>
            <a:ext cx="64198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PoC 自动生成</a:t>
            </a:r>
          </a:p>
        </p:txBody>
      </p:sp>
      <p:sp>
        <p:nvSpPr>
          <p:cNvPr id="23" name="bullet-detail-poc-自动生成">
            <a:extLst xmlns:a="http://schemas.openxmlformats.org/drawingml/2006/main">
              <a:ext uri="{FF2B5EF4-FFF2-40B4-BE49-F238E27FC236}">
                <a16:creationId xmlns:a16="http://schemas.microsoft.com/office/drawing/2014/main" id="{0579852F-4A25-4C3E-BB85-959917AC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55620"/>
            <a:ext cx="6419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LLM 根据漏洞上下文，自动编写概念验证（Exploit/PoC）代码。</a:t>
            </a:r>
          </a:p>
        </p:txBody>
      </p:sp>
      <p:sp>
        <p:nvSpPr>
          <p:cNvPr id="24" name="bullet-dot-docker-隔离执行">
            <a:extLst xmlns:a="http://schemas.openxmlformats.org/drawingml/2006/main">
              <a:ext uri="{FF2B5EF4-FFF2-40B4-BE49-F238E27FC236}">
                <a16:creationId xmlns:a16="http://schemas.microsoft.com/office/drawing/2014/main" id="{E8B0F96D-CEA2-40BC-9FD2-3F1706DF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413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bullet-title-docker-隔离执行">
            <a:extLst xmlns:a="http://schemas.openxmlformats.org/drawingml/2006/main">
              <a:ext uri="{FF2B5EF4-FFF2-40B4-BE49-F238E27FC236}">
                <a16:creationId xmlns:a16="http://schemas.microsoft.com/office/drawing/2014/main" id="{FDD76C7E-CD3B-48AF-A9CE-BAD39B05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341370"/>
            <a:ext cx="64198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Docker 隔离执行</a:t>
            </a:r>
          </a:p>
        </p:txBody>
      </p:sp>
      <p:sp>
        <p:nvSpPr>
          <p:cNvPr id="26" name="bullet-detail-docker-隔离执行">
            <a:extLst xmlns:a="http://schemas.openxmlformats.org/drawingml/2006/main">
              <a:ext uri="{FF2B5EF4-FFF2-40B4-BE49-F238E27FC236}">
                <a16:creationId xmlns:a16="http://schemas.microsoft.com/office/drawing/2014/main" id="{D45CAA7E-FE00-4AB8-B15D-A3FBCC6B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73780"/>
            <a:ext cx="6419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限制网络出站、内存(512MB)、CPU，通过 seccomp 限制系统调用。</a:t>
            </a:r>
          </a:p>
        </p:txBody>
      </p:sp>
      <p:sp>
        <p:nvSpPr>
          <p:cNvPr id="27" name="bullet-dot-置信度打分">
            <a:extLst xmlns:a="http://schemas.openxmlformats.org/drawingml/2006/main">
              <a:ext uri="{FF2B5EF4-FFF2-40B4-BE49-F238E27FC236}">
                <a16:creationId xmlns:a16="http://schemas.microsoft.com/office/drawing/2014/main" id="{3AE4378E-3A9C-4DA1-8A9E-7DF655A14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595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28" name="bullet-title-置信度打分">
            <a:extLst xmlns:a="http://schemas.openxmlformats.org/drawingml/2006/main">
              <a:ext uri="{FF2B5EF4-FFF2-40B4-BE49-F238E27FC236}">
                <a16:creationId xmlns:a16="http://schemas.microsoft.com/office/drawing/2014/main" id="{35C3CEC9-DB5F-46AA-A9D3-9593D4EC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859530"/>
            <a:ext cx="64198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置信度打分</a:t>
            </a:r>
          </a:p>
        </p:txBody>
      </p:sp>
      <p:sp>
        <p:nvSpPr>
          <p:cNvPr id="29" name="bullet-detail-置信度打分">
            <a:extLst xmlns:a="http://schemas.openxmlformats.org/drawingml/2006/main">
              <a:ext uri="{FF2B5EF4-FFF2-40B4-BE49-F238E27FC236}">
                <a16:creationId xmlns:a16="http://schemas.microsoft.com/office/drawing/2014/main" id="{9C7EBE93-8896-45A1-B55C-689807BF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91940"/>
            <a:ext cx="6419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根据沙箱执行的 Observation，动态计算漏洞的可利用性与置信度。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E7BA66-7252-4ABE-9BF4-1CEBAF72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77690"/>
            <a:ext cx="6610350" cy="67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5000"/>
            </a:srgbClr>
          </a:solidFill>
          <a:ln xmlns:a="http://schemas.openxmlformats.org/drawingml/2006/main" w="9525">
            <a:solidFill>
              <a:srgbClr val="E60012">
                <a:alpha val="2000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985A30-E3B4-43E3-B3E3-009BD5EA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530090"/>
            <a:ext cx="4992052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验证结果使得安全报告的准确率大幅提升，真正做到“可解释、可验证”。</a:t>
            </a:r>
          </a:p>
        </p:txBody>
      </p:sp>
    </p:spTree>
    <p:extLst>
      <p:ext uri="{BB962C8B-B14F-4D97-AF65-F5344CB8AC3E}">
        <p14:creationId xmlns:p14="http://schemas.microsoft.com/office/powerpoint/2010/main" val="17393690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知识库与模型配置">
            <a:extLst xmlns:a="http://schemas.openxmlformats.org/drawingml/2006/main">
              <a:ext uri="{FF2B5EF4-FFF2-40B4-BE49-F238E27FC236}">
                <a16:creationId xmlns:a16="http://schemas.microsoft.com/office/drawing/2014/main" id="{2C2629F0-10A2-4B9D-A79A-58D98D05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29016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RAG &amp; KNOWLEDGE</a:t>
            </a:r>
          </a:p>
        </p:txBody>
      </p:sp>
      <p:sp>
        <p:nvSpPr>
          <p:cNvPr id="2" name="header-title-知识库与模型配置">
            <a:extLst xmlns:a="http://schemas.openxmlformats.org/drawingml/2006/main">
              <a:ext uri="{FF2B5EF4-FFF2-40B4-BE49-F238E27FC236}">
                <a16:creationId xmlns:a16="http://schemas.microsoft.com/office/drawing/2014/main" id="{BF5F85B6-0140-45BE-865E-61F122F9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知识库与模型配置</a:t>
            </a:r>
          </a:p>
        </p:txBody>
      </p:sp>
      <p:sp>
        <p:nvSpPr>
          <p:cNvPr id="3" name="header-subtitle-知识库与模型配置">
            <a:extLst xmlns:a="http://schemas.openxmlformats.org/drawingml/2006/main">
              <a:ext uri="{FF2B5EF4-FFF2-40B4-BE49-F238E27FC236}">
                <a16:creationId xmlns:a16="http://schemas.microsoft.com/office/drawing/2014/main" id="{677C69AA-85E8-4F24-9E18-9837590A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把通用漏洞知识、项目专项知识和用户级模型配置拆开，避免经验散落。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E93D9AF9-80AB-4562-BCF2-3BB79110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5" name="knowledge-layer-kicker">
            <a:extLst xmlns:a="http://schemas.openxmlformats.org/drawingml/2006/main">
              <a:ext uri="{FF2B5EF4-FFF2-40B4-BE49-F238E27FC236}">
                <a16:creationId xmlns:a16="http://schemas.microsoft.com/office/drawing/2014/main" id="{8793E52E-5D17-4258-B2E2-BF980512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知识分层</a:t>
            </a:r>
          </a:p>
        </p:txBody>
      </p:sp>
      <p:sp>
        <p:nvSpPr>
          <p:cNvPr id="6" name="knowledge-layer-title">
            <a:extLst xmlns:a="http://schemas.openxmlformats.org/drawingml/2006/main">
              <a:ext uri="{FF2B5EF4-FFF2-40B4-BE49-F238E27FC236}">
                <a16:creationId xmlns:a16="http://schemas.microsoft.com/office/drawing/2014/main" id="{7CD89CF5-E45F-43FC-A472-BE04A815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6470"/>
            <a:ext cx="3446716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共享基线 + 项目专项</a:t>
            </a:r>
          </a:p>
        </p:txBody>
      </p:sp>
      <p:sp>
        <p:nvSpPr>
          <p:cNvPr id="7" name="bullet-dot-共享基线知识">
            <a:extLst xmlns:a="http://schemas.openxmlformats.org/drawingml/2006/main">
              <a:ext uri="{FF2B5EF4-FFF2-40B4-BE49-F238E27FC236}">
                <a16:creationId xmlns:a16="http://schemas.microsoft.com/office/drawing/2014/main" id="{D1B25E2A-A7C2-4064-A5AF-CE381BDF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共享基线知识">
            <a:extLst xmlns:a="http://schemas.openxmlformats.org/drawingml/2006/main">
              <a:ext uri="{FF2B5EF4-FFF2-40B4-BE49-F238E27FC236}">
                <a16:creationId xmlns:a16="http://schemas.microsoft.com/office/drawing/2014/main" id="{2AFE636E-9008-4326-AD5A-B09D668F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2952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共享基线知识</a:t>
            </a:r>
          </a:p>
        </p:txBody>
      </p:sp>
      <p:sp>
        <p:nvSpPr>
          <p:cNvPr id="9" name="bullet-detail-共享基线知识">
            <a:extLst xmlns:a="http://schemas.openxmlformats.org/drawingml/2006/main">
              <a:ext uri="{FF2B5EF4-FFF2-40B4-BE49-F238E27FC236}">
                <a16:creationId xmlns:a16="http://schemas.microsoft.com/office/drawing/2014/main" id="{10BABB9E-F4DC-466C-80FD-CDE32F2B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51860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vulnerabilities / frameworks 继续维护在内置模块里，适合通用漏洞模式和长期稳定规则。</a:t>
            </a:r>
          </a:p>
        </p:txBody>
      </p:sp>
      <p:sp>
        <p:nvSpPr>
          <p:cNvPr id="10" name="bullet-dot-项目-团队知识">
            <a:extLst xmlns:a="http://schemas.openxmlformats.org/drawingml/2006/main">
              <a:ext uri="{FF2B5EF4-FFF2-40B4-BE49-F238E27FC236}">
                <a16:creationId xmlns:a16="http://schemas.microsoft.com/office/drawing/2014/main" id="{C10BC173-6AD1-407F-B76A-67B275B91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805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项目-团队知识">
            <a:extLst xmlns:a="http://schemas.openxmlformats.org/drawingml/2006/main">
              <a:ext uri="{FF2B5EF4-FFF2-40B4-BE49-F238E27FC236}">
                <a16:creationId xmlns:a16="http://schemas.microsoft.com/office/drawing/2014/main" id="{6A2E1E5B-168D-4E67-8473-BE8D7FA9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0510"/>
            <a:ext cx="2952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项目 / 团队知识</a:t>
            </a:r>
          </a:p>
        </p:txBody>
      </p:sp>
      <p:sp>
        <p:nvSpPr>
          <p:cNvPr id="12" name="bullet-detail-项目-团队知识">
            <a:extLst xmlns:a="http://schemas.openxmlformats.org/drawingml/2006/main">
              <a:ext uri="{FF2B5EF4-FFF2-40B4-BE49-F238E27FC236}">
                <a16:creationId xmlns:a16="http://schemas.microsoft.com/office/drawing/2014/main" id="{65051082-A273-4621-904F-7ABF9A96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12920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custom 条目写入 media/deepaudit/knowledge/*.json，适合误报边界、内部规范和项目坑点。</a:t>
            </a:r>
          </a:p>
        </p:txBody>
      </p:sp>
      <p:sp>
        <p:nvSpPr>
          <p:cNvPr id="13" name="bullet-dot-项目-rag">
            <a:extLst xmlns:a="http://schemas.openxmlformats.org/drawingml/2006/main">
              <a:ext uri="{FF2B5EF4-FFF2-40B4-BE49-F238E27FC236}">
                <a16:creationId xmlns:a16="http://schemas.microsoft.com/office/drawing/2014/main" id="{5A89DEA9-7E0B-4CD7-BEE8-63AF89D9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415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项目-rag">
            <a:extLst xmlns:a="http://schemas.openxmlformats.org/drawingml/2006/main">
              <a:ext uri="{FF2B5EF4-FFF2-40B4-BE49-F238E27FC236}">
                <a16:creationId xmlns:a16="http://schemas.microsoft.com/office/drawing/2014/main" id="{29643AF5-AD8E-414B-8549-9F24C1F9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41570"/>
            <a:ext cx="2952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项目 RAG</a:t>
            </a:r>
          </a:p>
        </p:txBody>
      </p:sp>
      <p:sp>
        <p:nvSpPr>
          <p:cNvPr id="15" name="bullet-detail-项目-rag">
            <a:extLst xmlns:a="http://schemas.openxmlformats.org/drawingml/2006/main">
              <a:ext uri="{FF2B5EF4-FFF2-40B4-BE49-F238E27FC236}">
                <a16:creationId xmlns:a16="http://schemas.microsoft.com/office/drawing/2014/main" id="{519DB65B-5001-42DF-A8EF-E46D11ED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73980"/>
            <a:ext cx="2952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项目代码索引面向事实，负责“当前仓库里有什么”。</a:t>
            </a:r>
          </a:p>
        </p:txBody>
      </p:sp>
      <p:sp>
        <p:nvSpPr>
          <p:cNvPr id="16" name="knowledge-schema-kicker">
            <a:extLst xmlns:a="http://schemas.openxmlformats.org/drawingml/2006/main">
              <a:ext uri="{FF2B5EF4-FFF2-40B4-BE49-F238E27FC236}">
                <a16:creationId xmlns:a16="http://schemas.microsoft.com/office/drawing/2014/main" id="{1D59C81A-35FA-4EDB-9E7F-06DC3B56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96215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条目规范</a:t>
            </a:r>
          </a:p>
        </p:txBody>
      </p:sp>
      <p:sp>
        <p:nvSpPr>
          <p:cNvPr id="17" name="knowledge-schema-title">
            <a:extLst xmlns:a="http://schemas.openxmlformats.org/drawingml/2006/main">
              <a:ext uri="{FF2B5EF4-FFF2-40B4-BE49-F238E27FC236}">
                <a16:creationId xmlns:a16="http://schemas.microsoft.com/office/drawing/2014/main" id="{4379434C-04B7-4F77-B05D-931598C3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36470"/>
            <a:ext cx="3055334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id 是真正的模块名</a:t>
            </a:r>
          </a:p>
        </p:txBody>
      </p:sp>
      <p:sp>
        <p:nvSpPr>
          <p:cNvPr id="18" name="bullet-dot-命名规则">
            <a:extLst xmlns:a="http://schemas.openxmlformats.org/drawingml/2006/main">
              <a:ext uri="{FF2B5EF4-FFF2-40B4-BE49-F238E27FC236}">
                <a16:creationId xmlns:a16="http://schemas.microsoft.com/office/drawing/2014/main" id="{FCE9CAE1-9068-4291-ADEC-D8C05666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19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bullet-title-命名规则">
            <a:extLst xmlns:a="http://schemas.openxmlformats.org/drawingml/2006/main">
              <a:ext uri="{FF2B5EF4-FFF2-40B4-BE49-F238E27FC236}">
                <a16:creationId xmlns:a16="http://schemas.microsoft.com/office/drawing/2014/main" id="{B7084D72-0242-4CBC-B8A7-6EB7E349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19450"/>
            <a:ext cx="3238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命名规则</a:t>
            </a:r>
          </a:p>
        </p:txBody>
      </p:sp>
      <p:sp>
        <p:nvSpPr>
          <p:cNvPr id="20" name="bullet-detail-命名规则">
            <a:extLst xmlns:a="http://schemas.openxmlformats.org/drawingml/2006/main">
              <a:ext uri="{FF2B5EF4-FFF2-40B4-BE49-F238E27FC236}">
                <a16:creationId xmlns:a16="http://schemas.microsoft.com/office/drawing/2014/main" id="{82BAE0D4-2FD1-46F7-B38E-1C348A15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51860"/>
            <a:ext cx="3238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推荐使用 custom_&lt;name&gt;_&lt;topic&gt;、team_&lt;domain&gt;_&lt;topic&gt;、proj_&lt;project&gt;_&lt;topic&gt;。</a:t>
            </a:r>
          </a:p>
        </p:txBody>
      </p:sp>
      <p:sp>
        <p:nvSpPr>
          <p:cNvPr id="21" name="bullet-dot-字段结构">
            <a:extLst xmlns:a="http://schemas.openxmlformats.org/drawingml/2006/main">
              <a:ext uri="{FF2B5EF4-FFF2-40B4-BE49-F238E27FC236}">
                <a16:creationId xmlns:a16="http://schemas.microsoft.com/office/drawing/2014/main" id="{A15A517A-CA15-4D4A-A80E-794A0AE3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805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22" name="bullet-title-字段结构">
            <a:extLst xmlns:a="http://schemas.openxmlformats.org/drawingml/2006/main">
              <a:ext uri="{FF2B5EF4-FFF2-40B4-BE49-F238E27FC236}">
                <a16:creationId xmlns:a16="http://schemas.microsoft.com/office/drawing/2014/main" id="{CD560688-E7B2-4DC1-8EAE-519FB962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80510"/>
            <a:ext cx="3238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字段结构</a:t>
            </a:r>
          </a:p>
        </p:txBody>
      </p:sp>
      <p:sp>
        <p:nvSpPr>
          <p:cNvPr id="23" name="bullet-detail-字段结构">
            <a:extLst xmlns:a="http://schemas.openxmlformats.org/drawingml/2006/main">
              <a:ext uri="{FF2B5EF4-FFF2-40B4-BE49-F238E27FC236}">
                <a16:creationId xmlns:a16="http://schemas.microsoft.com/office/drawing/2014/main" id="{80E2A31E-8932-4149-A817-62A3AE7A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12920"/>
            <a:ext cx="3238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id / title / content / category / tags 为基础字段，必要时再加 severity、cwe_ids、owasp_ids。</a:t>
            </a:r>
          </a:p>
        </p:txBody>
      </p:sp>
      <p:sp>
        <p:nvSpPr>
          <p:cNvPr id="24" name="bullet-dot-内容模板">
            <a:extLst xmlns:a="http://schemas.openxmlformats.org/drawingml/2006/main">
              <a:ext uri="{FF2B5EF4-FFF2-40B4-BE49-F238E27FC236}">
                <a16:creationId xmlns:a16="http://schemas.microsoft.com/office/drawing/2014/main" id="{F0AACE56-23C3-4026-9F8E-456B8FB6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9415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bullet-title-内容模板">
            <a:extLst xmlns:a="http://schemas.openxmlformats.org/drawingml/2006/main">
              <a:ext uri="{FF2B5EF4-FFF2-40B4-BE49-F238E27FC236}">
                <a16:creationId xmlns:a16="http://schemas.microsoft.com/office/drawing/2014/main" id="{76E0FE24-9AD8-45D8-AE32-5ECAE14C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41570"/>
            <a:ext cx="3238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内容模板</a:t>
            </a:r>
          </a:p>
        </p:txBody>
      </p:sp>
      <p:sp>
        <p:nvSpPr>
          <p:cNvPr id="26" name="bullet-detail-内容模板">
            <a:extLst xmlns:a="http://schemas.openxmlformats.org/drawingml/2006/main">
              <a:ext uri="{FF2B5EF4-FFF2-40B4-BE49-F238E27FC236}">
                <a16:creationId xmlns:a16="http://schemas.microsoft.com/office/drawing/2014/main" id="{3A7D3374-813E-4306-8A88-5BD542AD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73980"/>
            <a:ext cx="3238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场景 / 风险模式 / 检测信号 / 误报边界 / 修复建议 / 最小示例。</a:t>
            </a:r>
          </a:p>
        </p:txBody>
      </p:sp>
      <p:sp>
        <p:nvSpPr>
          <p:cNvPr id="27" name="knowledge-llm-kicker">
            <a:extLst xmlns:a="http://schemas.openxmlformats.org/drawingml/2006/main">
              <a:ext uri="{FF2B5EF4-FFF2-40B4-BE49-F238E27FC236}">
                <a16:creationId xmlns:a16="http://schemas.microsoft.com/office/drawing/2014/main" id="{BDE78FB9-2609-4B9F-9D14-FE024EDD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62150"/>
            <a:ext cx="122577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私有模型与运行参数</a:t>
            </a:r>
          </a:p>
        </p:txBody>
      </p:sp>
      <p:sp>
        <p:nvSpPr>
          <p:cNvPr id="28" name="knowledge-llm-title">
            <a:extLst xmlns:a="http://schemas.openxmlformats.org/drawingml/2006/main">
              <a:ext uri="{FF2B5EF4-FFF2-40B4-BE49-F238E27FC236}">
                <a16:creationId xmlns:a16="http://schemas.microsoft.com/office/drawing/2014/main" id="{7747E158-9BB6-4244-90D6-00F7EC73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36470"/>
            <a:ext cx="4468082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LLM / Embedding / 缓存</a:t>
            </a:r>
          </a:p>
        </p:txBody>
      </p:sp>
      <p:sp>
        <p:nvSpPr>
          <p:cNvPr id="29" name="bullet-dot-内网网关">
            <a:extLst xmlns:a="http://schemas.openxmlformats.org/drawingml/2006/main">
              <a:ext uri="{FF2B5EF4-FFF2-40B4-BE49-F238E27FC236}">
                <a16:creationId xmlns:a16="http://schemas.microsoft.com/office/drawing/2014/main" id="{4F71730C-8CA3-417A-A401-6D30B0FD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219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30" name="bullet-title-内网网关">
            <a:extLst xmlns:a="http://schemas.openxmlformats.org/drawingml/2006/main">
              <a:ext uri="{FF2B5EF4-FFF2-40B4-BE49-F238E27FC236}">
                <a16:creationId xmlns:a16="http://schemas.microsoft.com/office/drawing/2014/main" id="{A0BF6087-6607-4D68-BED3-2D2C029B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19450"/>
            <a:ext cx="3905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内网网关</a:t>
            </a:r>
          </a:p>
        </p:txBody>
      </p:sp>
      <p:sp>
        <p:nvSpPr>
          <p:cNvPr id="31" name="bullet-detail-内网网关">
            <a:extLst xmlns:a="http://schemas.openxmlformats.org/drawingml/2006/main">
              <a:ext uri="{FF2B5EF4-FFF2-40B4-BE49-F238E27FC236}">
                <a16:creationId xmlns:a16="http://schemas.microsoft.com/office/drawing/2014/main" id="{B2BFE7C5-4854-416C-AEF5-FFADFE1A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51860"/>
            <a:ext cx="3905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LLM_BASE_URL 和 EMBEDDING_BASE_URL 都应指向内网地址，避免生产流量出网。</a:t>
            </a:r>
          </a:p>
        </p:txBody>
      </p:sp>
      <p:sp>
        <p:nvSpPr>
          <p:cNvPr id="32" name="bullet-dot-超时控制">
            <a:extLst xmlns:a="http://schemas.openxmlformats.org/drawingml/2006/main">
              <a:ext uri="{FF2B5EF4-FFF2-40B4-BE49-F238E27FC236}">
                <a16:creationId xmlns:a16="http://schemas.microsoft.com/office/drawing/2014/main" id="{04785020-1C88-4731-ACD3-B56D39F2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90906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33" name="bullet-title-超时控制">
            <a:extLst xmlns:a="http://schemas.openxmlformats.org/drawingml/2006/main">
              <a:ext uri="{FF2B5EF4-FFF2-40B4-BE49-F238E27FC236}">
                <a16:creationId xmlns:a16="http://schemas.microsoft.com/office/drawing/2014/main" id="{544C122A-3EA3-417C-92FF-487A0FA6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9060"/>
            <a:ext cx="3905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超时控制</a:t>
            </a:r>
          </a:p>
        </p:txBody>
      </p:sp>
      <p:sp>
        <p:nvSpPr>
          <p:cNvPr id="34" name="bullet-detail-超时控制">
            <a:extLst xmlns:a="http://schemas.openxmlformats.org/drawingml/2006/main">
              <a:ext uri="{FF2B5EF4-FFF2-40B4-BE49-F238E27FC236}">
                <a16:creationId xmlns:a16="http://schemas.microsoft.com/office/drawing/2014/main" id="{6CC5F1EB-C4FA-40FA-BD8F-AD7883C7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41470"/>
            <a:ext cx="3905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LLM_FIRST_TOKEN_TIMEOUT 与 LLM_STREAM_TIMEOUT 保障首包和持续流式输出。</a:t>
            </a:r>
          </a:p>
        </p:txBody>
      </p:sp>
      <p:sp>
        <p:nvSpPr>
          <p:cNvPr id="35" name="bullet-dot-离线缓存">
            <a:extLst xmlns:a="http://schemas.openxmlformats.org/drawingml/2006/main">
              <a:ext uri="{FF2B5EF4-FFF2-40B4-BE49-F238E27FC236}">
                <a16:creationId xmlns:a16="http://schemas.microsoft.com/office/drawing/2014/main" id="{0D8A3E00-9264-4C81-A9E0-C2ED841E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986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36" name="bullet-title-离线缓存">
            <a:extLst xmlns:a="http://schemas.openxmlformats.org/drawingml/2006/main">
              <a:ext uri="{FF2B5EF4-FFF2-40B4-BE49-F238E27FC236}">
                <a16:creationId xmlns:a16="http://schemas.microsoft.com/office/drawing/2014/main" id="{1A8CC963-7694-4003-9B3E-0CFFDFDC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98670"/>
            <a:ext cx="3905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离线缓存</a:t>
            </a:r>
          </a:p>
        </p:txBody>
      </p:sp>
      <p:sp>
        <p:nvSpPr>
          <p:cNvPr id="37" name="bullet-detail-离线缓存">
            <a:extLst xmlns:a="http://schemas.openxmlformats.org/drawingml/2006/main">
              <a:ext uri="{FF2B5EF4-FFF2-40B4-BE49-F238E27FC236}">
                <a16:creationId xmlns:a16="http://schemas.microsoft.com/office/drawing/2014/main" id="{F9AC7DF9-7FB7-4A7B-BABC-ED587F24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31080"/>
            <a:ext cx="3905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DEEPAUDIT_TIKTOKEN_MODE=local，TIKTOKEN_CACHE_DIR 需被 Django 与 Celery 同时读取。</a:t>
            </a:r>
          </a:p>
        </p:txBody>
      </p:sp>
      <p:sp>
        <p:nvSpPr>
          <p:cNvPr id="38" name="bullet-dot-用户级覆盖">
            <a:extLst xmlns:a="http://schemas.openxmlformats.org/drawingml/2006/main">
              <a:ext uri="{FF2B5EF4-FFF2-40B4-BE49-F238E27FC236}">
                <a16:creationId xmlns:a16="http://schemas.microsoft.com/office/drawing/2014/main" id="{7B642D6D-796E-41DD-9B4E-25E6D147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2882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39" name="bullet-title-用户级覆盖">
            <a:extLst xmlns:a="http://schemas.openxmlformats.org/drawingml/2006/main">
              <a:ext uri="{FF2B5EF4-FFF2-40B4-BE49-F238E27FC236}">
                <a16:creationId xmlns:a16="http://schemas.microsoft.com/office/drawing/2014/main" id="{33B8C6D3-9C19-4635-A3DF-5965CAE0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288280"/>
            <a:ext cx="3905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用户级覆盖</a:t>
            </a:r>
          </a:p>
        </p:txBody>
      </p:sp>
      <p:sp>
        <p:nvSpPr>
          <p:cNvPr id="40" name="bullet-detail-用户级覆盖">
            <a:extLst xmlns:a="http://schemas.openxmlformats.org/drawingml/2006/main">
              <a:ext uri="{FF2B5EF4-FFF2-40B4-BE49-F238E27FC236}">
                <a16:creationId xmlns:a16="http://schemas.microsoft.com/office/drawing/2014/main" id="{9F7A46F9-BE3B-4B1D-A856-D3F3FDF0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520690"/>
            <a:ext cx="3905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deepaudit_user_config 里的 LLM / Embedding 配置可以覆盖系统默认值，密钥入库前加密。</a:t>
            </a:r>
          </a:p>
        </p:txBody>
      </p:sp>
      <p:sp>
        <p:nvSpPr>
          <p:cNvPr id="41" name="knowledge-callout-lite">
            <a:extLst xmlns:a="http://schemas.openxmlformats.org/drawingml/2006/main">
              <a:ext uri="{FF2B5EF4-FFF2-40B4-BE49-F238E27FC236}">
                <a16:creationId xmlns:a16="http://schemas.microsoft.com/office/drawing/2014/main" id="{3BEFCD64-B400-485C-AF2D-41CC8272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977890"/>
            <a:ext cx="3619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一句话：知识库负责经验，项目 RAG 负责事实，两个一起用才完整。</a:t>
            </a:r>
          </a:p>
        </p:txBody>
      </p:sp>
    </p:spTree>
    <p:extLst>
      <p:ext uri="{BB962C8B-B14F-4D97-AF65-F5344CB8AC3E}">
        <p14:creationId xmlns:p14="http://schemas.microsoft.com/office/powerpoint/2010/main" val="13980408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项目演示-推荐现场操作顺序">
            <a:extLst xmlns:a="http://schemas.openxmlformats.org/drawingml/2006/main">
              <a:ext uri="{FF2B5EF4-FFF2-40B4-BE49-F238E27FC236}">
                <a16:creationId xmlns:a16="http://schemas.microsoft.com/office/drawing/2014/main" id="{4C8B73DD-25DD-49D4-A577-30A66123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774097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LIVE DEMO</a:t>
            </a:r>
          </a:p>
        </p:txBody>
      </p:sp>
      <p:sp>
        <p:nvSpPr>
          <p:cNvPr id="2" name="header-title-项目演示-推荐现场操作顺序">
            <a:extLst xmlns:a="http://schemas.openxmlformats.org/drawingml/2006/main">
              <a:ext uri="{FF2B5EF4-FFF2-40B4-BE49-F238E27FC236}">
                <a16:creationId xmlns:a16="http://schemas.microsoft.com/office/drawing/2014/main" id="{F6606621-3D8D-4715-AA2D-185B009B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项目演示：推荐现场操作顺序</a:t>
            </a:r>
          </a:p>
        </p:txBody>
      </p:sp>
      <p:sp>
        <p:nvSpPr>
          <p:cNvPr id="3" name="header-subtitle-项目演示-推荐现场操作顺序">
            <a:extLst xmlns:a="http://schemas.openxmlformats.org/drawingml/2006/main">
              <a:ext uri="{FF2B5EF4-FFF2-40B4-BE49-F238E27FC236}">
                <a16:creationId xmlns:a16="http://schemas.microsoft.com/office/drawing/2014/main" id="{5291D40B-677D-4AAF-9F03-AA342DC3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现场演示以 live demo 为主，截图作为兜底；优先展示闭环，而不是逐个点按钮。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921A0663-51D6-4954-A83B-97F88130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5" name="demo-statement">
            <a:extLst xmlns:a="http://schemas.openxmlformats.org/drawingml/2006/main">
              <a:ext uri="{FF2B5EF4-FFF2-40B4-BE49-F238E27FC236}">
                <a16:creationId xmlns:a16="http://schemas.microsoft.com/office/drawing/2014/main" id="{FFCE8509-9583-4A15-B252-2D7D9E6F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3333750" cy="3886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建议按这个顺序走，领导只需要先看到结果，再看到过程。</a:t>
            </a:r>
          </a:p>
        </p:txBody>
      </p:sp>
      <p:sp>
        <p:nvSpPr>
          <p:cNvPr id="6" name="bullet-dot-1-dashboard">
            <a:extLst xmlns:a="http://schemas.openxmlformats.org/drawingml/2006/main">
              <a:ext uri="{FF2B5EF4-FFF2-40B4-BE49-F238E27FC236}">
                <a16:creationId xmlns:a16="http://schemas.microsoft.com/office/drawing/2014/main" id="{C0742E8C-6E6C-46BB-B4BA-E7F706D9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41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bullet-title-1-dashboard">
            <a:extLst xmlns:a="http://schemas.openxmlformats.org/drawingml/2006/main">
              <a:ext uri="{FF2B5EF4-FFF2-40B4-BE49-F238E27FC236}">
                <a16:creationId xmlns:a16="http://schemas.microsoft.com/office/drawing/2014/main" id="{25DD6655-E0D0-45D8-A31E-5FD14ED8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412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1. Dashboard</a:t>
            </a:r>
          </a:p>
        </p:txBody>
      </p:sp>
      <p:sp>
        <p:nvSpPr>
          <p:cNvPr id="8" name="bullet-detail-1-dashboard">
            <a:extLst xmlns:a="http://schemas.openxmlformats.org/drawingml/2006/main">
              <a:ext uri="{FF2B5EF4-FFF2-40B4-BE49-F238E27FC236}">
                <a16:creationId xmlns:a16="http://schemas.microsoft.com/office/drawing/2014/main" id="{8D827593-C0B2-4F69-87FB-595BA005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6530"/>
            <a:ext cx="342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先展示总览、最近项目、任务、规则 / 模板统计。</a:t>
            </a:r>
          </a:p>
        </p:txBody>
      </p:sp>
      <p:sp>
        <p:nvSpPr>
          <p:cNvPr id="9" name="bullet-dot-2-项目管理">
            <a:extLst xmlns:a="http://schemas.openxmlformats.org/drawingml/2006/main">
              <a:ext uri="{FF2B5EF4-FFF2-40B4-BE49-F238E27FC236}">
                <a16:creationId xmlns:a16="http://schemas.microsoft.com/office/drawing/2014/main" id="{3B050845-8197-44B6-85E6-EC85AB39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213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10" name="bullet-title-2-项目管理">
            <a:extLst xmlns:a="http://schemas.openxmlformats.org/drawingml/2006/main">
              <a:ext uri="{FF2B5EF4-FFF2-40B4-BE49-F238E27FC236}">
                <a16:creationId xmlns:a16="http://schemas.microsoft.com/office/drawing/2014/main" id="{F5F4B256-4F06-4B63-9B29-6D50C7B3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133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2. 项目管理</a:t>
            </a:r>
          </a:p>
        </p:txBody>
      </p:sp>
      <p:sp>
        <p:nvSpPr>
          <p:cNvPr id="11" name="bullet-detail-2-项目管理">
            <a:extLst xmlns:a="http://schemas.openxmlformats.org/drawingml/2006/main">
              <a:ext uri="{FF2B5EF4-FFF2-40B4-BE49-F238E27FC236}">
                <a16:creationId xmlns:a16="http://schemas.microsoft.com/office/drawing/2014/main" id="{7FE55256-29F2-4131-99A5-7232F8EA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3740"/>
            <a:ext cx="342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再看仓库 / ZIP、分支、成员、项目详情。</a:t>
            </a:r>
          </a:p>
        </p:txBody>
      </p:sp>
      <p:sp>
        <p:nvSpPr>
          <p:cNvPr id="12" name="bullet-dot-3-agent-审计">
            <a:extLst xmlns:a="http://schemas.openxmlformats.org/drawingml/2006/main">
              <a:ext uri="{FF2B5EF4-FFF2-40B4-BE49-F238E27FC236}">
                <a16:creationId xmlns:a16="http://schemas.microsoft.com/office/drawing/2014/main" id="{48850F4B-BC3C-4CB7-8FA6-E879C98A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585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13" name="bullet-title-3-agent-审计">
            <a:extLst xmlns:a="http://schemas.openxmlformats.org/drawingml/2006/main">
              <a:ext uri="{FF2B5EF4-FFF2-40B4-BE49-F238E27FC236}">
                <a16:creationId xmlns:a16="http://schemas.microsoft.com/office/drawing/2014/main" id="{FC14655C-C853-4549-8A0F-BC977DC4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854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3. Agent 审计</a:t>
            </a:r>
          </a:p>
        </p:txBody>
      </p:sp>
      <p:sp>
        <p:nvSpPr>
          <p:cNvPr id="14" name="bullet-detail-3-agent-审计">
            <a:extLst xmlns:a="http://schemas.openxmlformats.org/drawingml/2006/main">
              <a:ext uri="{FF2B5EF4-FFF2-40B4-BE49-F238E27FC236}">
                <a16:creationId xmlns:a16="http://schemas.microsoft.com/office/drawing/2014/main" id="{F35AE659-E8C0-472C-9F29-8E914628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重点看实时事件流、任务树、Finding、Checkpoint。</a:t>
            </a:r>
          </a:p>
        </p:txBody>
      </p:sp>
      <p:sp>
        <p:nvSpPr>
          <p:cNvPr id="15" name="bullet-dot-4-报告页">
            <a:extLst xmlns:a="http://schemas.openxmlformats.org/drawingml/2006/main">
              <a:ext uri="{FF2B5EF4-FFF2-40B4-BE49-F238E27FC236}">
                <a16:creationId xmlns:a16="http://schemas.microsoft.com/office/drawing/2014/main" id="{55BCDFA6-8A38-47AE-AE4E-E2114B62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16" name="bullet-title-4-报告页">
            <a:extLst xmlns:a="http://schemas.openxmlformats.org/drawingml/2006/main">
              <a:ext uri="{FF2B5EF4-FFF2-40B4-BE49-F238E27FC236}">
                <a16:creationId xmlns:a16="http://schemas.microsoft.com/office/drawing/2014/main" id="{E0E28381-6CBD-474E-BDF4-1C70D4F8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4. 报告页</a:t>
            </a:r>
          </a:p>
        </p:txBody>
      </p:sp>
      <p:sp>
        <p:nvSpPr>
          <p:cNvPr id="17" name="bullet-detail-4-报告页">
            <a:extLst xmlns:a="http://schemas.openxmlformats.org/drawingml/2006/main">
              <a:ext uri="{FF2B5EF4-FFF2-40B4-BE49-F238E27FC236}">
                <a16:creationId xmlns:a16="http://schemas.microsoft.com/office/drawing/2014/main" id="{75498E8B-C33F-4522-B8C6-5149923E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961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最后打开任务报告，展示问题定位和 PDF / JSON 导出。</a:t>
            </a:r>
          </a:p>
        </p:txBody>
      </p:sp>
      <p:sp>
        <p:nvSpPr>
          <p:cNvPr id="18" name="bullet-dot-5-截图兜底">
            <a:extLst xmlns:a="http://schemas.openxmlformats.org/drawingml/2006/main">
              <a:ext uri="{FF2B5EF4-FFF2-40B4-BE49-F238E27FC236}">
                <a16:creationId xmlns:a16="http://schemas.microsoft.com/office/drawing/2014/main" id="{692ECA7D-FCA3-44F0-B872-6281E2CE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7586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bullet-title-5-截图兜底">
            <a:extLst xmlns:a="http://schemas.openxmlformats.org/drawingml/2006/main">
              <a:ext uri="{FF2B5EF4-FFF2-40B4-BE49-F238E27FC236}">
                <a16:creationId xmlns:a16="http://schemas.microsoft.com/office/drawing/2014/main" id="{30E3E631-DB82-4F43-A2F0-61D2D532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586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5. 截图兜底</a:t>
            </a:r>
          </a:p>
        </p:txBody>
      </p:sp>
      <p:sp>
        <p:nvSpPr>
          <p:cNvPr id="20" name="bullet-detail-5-截图兜底">
            <a:extLst xmlns:a="http://schemas.openxmlformats.org/drawingml/2006/main">
              <a:ext uri="{FF2B5EF4-FFF2-40B4-BE49-F238E27FC236}">
                <a16:creationId xmlns:a16="http://schemas.microsoft.com/office/drawing/2014/main" id="{F33A1898-CFB2-4664-9865-8443FD21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827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如果实时流不稳，直接切报告页截图，不影响主结论。</a:t>
            </a:r>
          </a:p>
        </p:txBody>
      </p:sp>
      <p:sp>
        <p:nvSpPr>
          <p:cNvPr id="21" name="demo-image-kicker">
            <a:extLst xmlns:a="http://schemas.openxmlformats.org/drawingml/2006/main">
              <a:ext uri="{FF2B5EF4-FFF2-40B4-BE49-F238E27FC236}">
                <a16:creationId xmlns:a16="http://schemas.microsoft.com/office/drawing/2014/main" id="{96F0C4D7-E3B6-423B-BABC-651F7D4B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62150"/>
            <a:ext cx="119414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报告页 / 兜底截图</a:t>
            </a:r>
          </a:p>
        </p:txBody>
      </p:sp>
      <p:sp>
        <p:nvSpPr>
          <p:cNvPr id="22" name="demo-image-panel">
            <a:extLst xmlns:a="http://schemas.openxmlformats.org/drawingml/2006/main">
              <a:ext uri="{FF2B5EF4-FFF2-40B4-BE49-F238E27FC236}">
                <a16:creationId xmlns:a16="http://schemas.microsoft.com/office/drawing/2014/main" id="{51C8A176-5C22-4FDB-8803-154049DF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1742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101828">
                <a:alpha val="12000"/>
              </a:srgbClr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987269dad4a3a"/>
          <a:stretch xmlns:a="http://schemas.openxmlformats.org/drawingml/2006/main"/>
        </p:blipFill>
        <p:spPr>
          <a:xfrm xmlns:a="http://schemas.openxmlformats.org/drawingml/2006/main">
            <a:off x="5267325" y="2172756"/>
            <a:ext cx="5467350" cy="386503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90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阶段成果与下一步">
            <a:extLst xmlns:a="http://schemas.openxmlformats.org/drawingml/2006/main">
              <a:ext uri="{FF2B5EF4-FFF2-40B4-BE49-F238E27FC236}">
                <a16:creationId xmlns:a16="http://schemas.microsoft.com/office/drawing/2014/main" id="{9C076770-04AF-43C2-B64C-43D30BD5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774097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MILESTONE</a:t>
            </a:r>
          </a:p>
        </p:txBody>
      </p:sp>
      <p:sp>
        <p:nvSpPr>
          <p:cNvPr id="2" name="header-title-阶段成果与下一步">
            <a:extLst xmlns:a="http://schemas.openxmlformats.org/drawingml/2006/main">
              <a:ext uri="{FF2B5EF4-FFF2-40B4-BE49-F238E27FC236}">
                <a16:creationId xmlns:a16="http://schemas.microsoft.com/office/drawing/2014/main" id="{B08630FD-C2EB-43E3-AAAB-3B30D60F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阶段成果与下一步</a:t>
            </a:r>
          </a:p>
        </p:txBody>
      </p:sp>
      <p:sp>
        <p:nvSpPr>
          <p:cNvPr id="3" name="header-subtitle-阶段成果与下一步">
            <a:extLst xmlns:a="http://schemas.openxmlformats.org/drawingml/2006/main">
              <a:ext uri="{FF2B5EF4-FFF2-40B4-BE49-F238E27FC236}">
                <a16:creationId xmlns:a16="http://schemas.microsoft.com/office/drawing/2014/main" id="{9FA9F765-7CC6-46E8-9CAA-4EEC23EA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当前成果已经形成闭环，下一步重点放在知识、规则、监控和真实指标沉淀。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F2722AD9-7F5A-4744-9F22-5C794324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5" name="results-left-kicker">
            <a:extLst xmlns:a="http://schemas.openxmlformats.org/drawingml/2006/main">
              <a:ext uri="{FF2B5EF4-FFF2-40B4-BE49-F238E27FC236}">
                <a16:creationId xmlns:a16="http://schemas.microsoft.com/office/drawing/2014/main" id="{C267B286-C777-4D0D-8C06-82D9AFE1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已经跑通</a:t>
            </a:r>
          </a:p>
        </p:txBody>
      </p:sp>
      <p:sp>
        <p:nvSpPr>
          <p:cNvPr id="6" name="results-left-title">
            <a:extLst xmlns:a="http://schemas.openxmlformats.org/drawingml/2006/main">
              <a:ext uri="{FF2B5EF4-FFF2-40B4-BE49-F238E27FC236}">
                <a16:creationId xmlns:a16="http://schemas.microsoft.com/office/drawing/2014/main" id="{C0FBBC63-3E0C-4E4F-8AA5-748B1B0B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4570"/>
            <a:ext cx="3333750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DeepAudit 主线闭环已成立。</a:t>
            </a:r>
          </a:p>
        </p:txBody>
      </p:sp>
      <p:sp>
        <p:nvSpPr>
          <p:cNvPr id="7" name="bullet-dot-项目接入">
            <a:extLst xmlns:a="http://schemas.openxmlformats.org/drawingml/2006/main">
              <a:ext uri="{FF2B5EF4-FFF2-40B4-BE49-F238E27FC236}">
                <a16:creationId xmlns:a16="http://schemas.microsoft.com/office/drawing/2014/main" id="{DC4ED274-A528-4E0D-986B-C8F11DA4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项目接入">
            <a:extLst xmlns:a="http://schemas.openxmlformats.org/drawingml/2006/main">
              <a:ext uri="{FF2B5EF4-FFF2-40B4-BE49-F238E27FC236}">
                <a16:creationId xmlns:a16="http://schemas.microsoft.com/office/drawing/2014/main" id="{2D387C3B-1B32-403D-ADBC-BBC67E9C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项目接入</a:t>
            </a:r>
          </a:p>
        </p:txBody>
      </p:sp>
      <p:sp>
        <p:nvSpPr>
          <p:cNvPr id="9" name="bullet-detail-项目接入">
            <a:extLst xmlns:a="http://schemas.openxmlformats.org/drawingml/2006/main">
              <a:ext uri="{FF2B5EF4-FFF2-40B4-BE49-F238E27FC236}">
                <a16:creationId xmlns:a16="http://schemas.microsoft.com/office/drawing/2014/main" id="{9BA25C84-E1E1-44CB-A299-EEA4CA77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996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仓库 / ZIP / 分支 / 成员 / 回收站都已可用。</a:t>
            </a:r>
          </a:p>
        </p:txBody>
      </p:sp>
      <p:sp>
        <p:nvSpPr>
          <p:cNvPr id="10" name="bullet-dot-智能分析">
            <a:extLst xmlns:a="http://schemas.openxmlformats.org/drawingml/2006/main">
              <a:ext uri="{FF2B5EF4-FFF2-40B4-BE49-F238E27FC236}">
                <a16:creationId xmlns:a16="http://schemas.microsoft.com/office/drawing/2014/main" id="{FC2408D5-2BE4-4345-BFD0-CC101672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57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智能分析">
            <a:extLst xmlns:a="http://schemas.openxmlformats.org/drawingml/2006/main">
              <a:ext uri="{FF2B5EF4-FFF2-40B4-BE49-F238E27FC236}">
                <a16:creationId xmlns:a16="http://schemas.microsoft.com/office/drawing/2014/main" id="{637DA135-088B-47A4-BA96-EF5C77AE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571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智能分析</a:t>
            </a:r>
          </a:p>
        </p:txBody>
      </p:sp>
      <p:sp>
        <p:nvSpPr>
          <p:cNvPr id="12" name="bullet-detail-智能分析">
            <a:extLst xmlns:a="http://schemas.openxmlformats.org/drawingml/2006/main">
              <a:ext uri="{FF2B5EF4-FFF2-40B4-BE49-F238E27FC236}">
                <a16:creationId xmlns:a16="http://schemas.microsoft.com/office/drawing/2014/main" id="{D00227F0-877A-47DA-8623-61AC577B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8120"/>
            <a:ext cx="3143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多智能体 + 外部工具优先 + RAG 形成稳定分析链。</a:t>
            </a:r>
          </a:p>
        </p:txBody>
      </p:sp>
      <p:sp>
        <p:nvSpPr>
          <p:cNvPr id="13" name="bullet-dot-实时回传">
            <a:extLst xmlns:a="http://schemas.openxmlformats.org/drawingml/2006/main">
              <a:ext uri="{FF2B5EF4-FFF2-40B4-BE49-F238E27FC236}">
                <a16:creationId xmlns:a16="http://schemas.microsoft.com/office/drawing/2014/main" id="{0A04786B-CD8A-4EE6-9ED9-DDBF3188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653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实时回传">
            <a:extLst xmlns:a="http://schemas.openxmlformats.org/drawingml/2006/main">
              <a:ext uri="{FF2B5EF4-FFF2-40B4-BE49-F238E27FC236}">
                <a16:creationId xmlns:a16="http://schemas.microsoft.com/office/drawing/2014/main" id="{73521CEA-CDD8-4311-8894-59C8B16E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6532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实时回传</a:t>
            </a:r>
          </a:p>
        </p:txBody>
      </p:sp>
      <p:sp>
        <p:nvSpPr>
          <p:cNvPr id="15" name="bullet-detail-实时回传">
            <a:extLst xmlns:a="http://schemas.openxmlformats.org/drawingml/2006/main">
              <a:ext uri="{FF2B5EF4-FFF2-40B4-BE49-F238E27FC236}">
                <a16:creationId xmlns:a16="http://schemas.microsoft.com/office/drawing/2014/main" id="{7B6ECB5A-22BB-4E9A-8C22-FF7B6570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7730"/>
            <a:ext cx="3143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SSE / WebSocket / heartbeat / reconnect 已接通。</a:t>
            </a:r>
          </a:p>
        </p:txBody>
      </p:sp>
      <p:sp>
        <p:nvSpPr>
          <p:cNvPr id="16" name="bullet-dot-报告交付">
            <a:extLst xmlns:a="http://schemas.openxmlformats.org/drawingml/2006/main">
              <a:ext uri="{FF2B5EF4-FFF2-40B4-BE49-F238E27FC236}">
                <a16:creationId xmlns:a16="http://schemas.microsoft.com/office/drawing/2014/main" id="{23A8AF2A-E1B9-4816-8FA1-263C71DE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549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17" name="bullet-title-报告交付">
            <a:extLst xmlns:a="http://schemas.openxmlformats.org/drawingml/2006/main">
              <a:ext uri="{FF2B5EF4-FFF2-40B4-BE49-F238E27FC236}">
                <a16:creationId xmlns:a16="http://schemas.microsoft.com/office/drawing/2014/main" id="{0F6EF78F-9E66-4AA3-8CE0-928B56C0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5493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报告交付</a:t>
            </a:r>
          </a:p>
        </p:txBody>
      </p:sp>
      <p:sp>
        <p:nvSpPr>
          <p:cNvPr id="18" name="bullet-detail-报告交付">
            <a:extLst xmlns:a="http://schemas.openxmlformats.org/drawingml/2006/main">
              <a:ext uri="{FF2B5EF4-FFF2-40B4-BE49-F238E27FC236}">
                <a16:creationId xmlns:a16="http://schemas.microsoft.com/office/drawing/2014/main" id="{CFA5FF71-7AD3-456C-9305-75193146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87340"/>
            <a:ext cx="3143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任务详情、问题定位、PDF / JSON 导出闭环完整。</a:t>
            </a:r>
          </a:p>
        </p:txBody>
      </p:sp>
      <p:sp>
        <p:nvSpPr>
          <p:cNvPr id="19" name="results-right-kicker">
            <a:extLst xmlns:a="http://schemas.openxmlformats.org/drawingml/2006/main">
              <a:ext uri="{FF2B5EF4-FFF2-40B4-BE49-F238E27FC236}">
                <a16:creationId xmlns:a16="http://schemas.microsoft.com/office/drawing/2014/main" id="{9A28F23B-CA2E-44C9-A8C0-987234F3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00250"/>
            <a:ext cx="40852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下一步</a:t>
            </a:r>
          </a:p>
        </p:txBody>
      </p:sp>
      <p:sp>
        <p:nvSpPr>
          <p:cNvPr id="20" name="results-right-title">
            <a:extLst xmlns:a="http://schemas.openxmlformats.org/drawingml/2006/main">
              <a:ext uri="{FF2B5EF4-FFF2-40B4-BE49-F238E27FC236}">
                <a16:creationId xmlns:a16="http://schemas.microsoft.com/office/drawing/2014/main" id="{36D28A31-DBE6-4D27-998E-7E140607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74570"/>
            <a:ext cx="3333750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把平台化能力沉淀成可持续运营能力。</a:t>
            </a:r>
          </a:p>
        </p:txBody>
      </p:sp>
      <p:sp>
        <p:nvSpPr>
          <p:cNvPr id="21" name="bullet-dot-知识库">
            <a:extLst xmlns:a="http://schemas.openxmlformats.org/drawingml/2006/main">
              <a:ext uri="{FF2B5EF4-FFF2-40B4-BE49-F238E27FC236}">
                <a16:creationId xmlns:a16="http://schemas.microsoft.com/office/drawing/2014/main" id="{0B3CBD04-61F5-4E43-9DA5-00D72C30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22" name="bullet-title-知识库">
            <a:extLst xmlns:a="http://schemas.openxmlformats.org/drawingml/2006/main">
              <a:ext uri="{FF2B5EF4-FFF2-40B4-BE49-F238E27FC236}">
                <a16:creationId xmlns:a16="http://schemas.microsoft.com/office/drawing/2014/main" id="{85C2E2C0-171C-442A-B50C-7BD94292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知识库</a:t>
            </a:r>
          </a:p>
        </p:txBody>
      </p:sp>
      <p:sp>
        <p:nvSpPr>
          <p:cNvPr id="23" name="bullet-detail-知识库">
            <a:extLst xmlns:a="http://schemas.openxmlformats.org/drawingml/2006/main">
              <a:ext uri="{FF2B5EF4-FFF2-40B4-BE49-F238E27FC236}">
                <a16:creationId xmlns:a16="http://schemas.microsoft.com/office/drawing/2014/main" id="{CB22C2C9-F0B6-48BC-AB70-0CF0A80D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996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补充真实场景、误报边界和修复建议。</a:t>
            </a:r>
          </a:p>
        </p:txBody>
      </p:sp>
      <p:sp>
        <p:nvSpPr>
          <p:cNvPr id="24" name="bullet-dot-规则覆盖">
            <a:extLst xmlns:a="http://schemas.openxmlformats.org/drawingml/2006/main">
              <a:ext uri="{FF2B5EF4-FFF2-40B4-BE49-F238E27FC236}">
                <a16:creationId xmlns:a16="http://schemas.microsoft.com/office/drawing/2014/main" id="{CCACFB44-828F-4837-B4E4-903B365C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757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bullet-title-规则覆盖">
            <a:extLst xmlns:a="http://schemas.openxmlformats.org/drawingml/2006/main">
              <a:ext uri="{FF2B5EF4-FFF2-40B4-BE49-F238E27FC236}">
                <a16:creationId xmlns:a16="http://schemas.microsoft.com/office/drawing/2014/main" id="{02C9F8A6-9F88-4769-83E4-46B7DC4A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7571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规则覆盖</a:t>
            </a:r>
          </a:p>
        </p:txBody>
      </p:sp>
      <p:sp>
        <p:nvSpPr>
          <p:cNvPr id="26" name="bullet-detail-规则覆盖">
            <a:extLst xmlns:a="http://schemas.openxmlformats.org/drawingml/2006/main">
              <a:ext uri="{FF2B5EF4-FFF2-40B4-BE49-F238E27FC236}">
                <a16:creationId xmlns:a16="http://schemas.microsoft.com/office/drawing/2014/main" id="{341B7BC6-4161-46D7-814B-121F17F7A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0812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扩充语言、框架和项目类型，减少人工补充。</a:t>
            </a:r>
          </a:p>
        </p:txBody>
      </p:sp>
      <p:sp>
        <p:nvSpPr>
          <p:cNvPr id="27" name="bullet-dot-部署与监控">
            <a:extLst xmlns:a="http://schemas.openxmlformats.org/drawingml/2006/main">
              <a:ext uri="{FF2B5EF4-FFF2-40B4-BE49-F238E27FC236}">
                <a16:creationId xmlns:a16="http://schemas.microsoft.com/office/drawing/2014/main" id="{C939B0E1-5AD6-457E-AEF5-82375A19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938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28" name="bullet-title-部署与监控">
            <a:extLst xmlns:a="http://schemas.openxmlformats.org/drawingml/2006/main">
              <a:ext uri="{FF2B5EF4-FFF2-40B4-BE49-F238E27FC236}">
                <a16:creationId xmlns:a16="http://schemas.microsoft.com/office/drawing/2014/main" id="{7D5B7196-5D84-465F-A3FE-39A43838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9387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部署与监控</a:t>
            </a:r>
          </a:p>
        </p:txBody>
      </p:sp>
      <p:sp>
        <p:nvSpPr>
          <p:cNvPr id="29" name="bullet-detail-部署与监控">
            <a:extLst xmlns:a="http://schemas.openxmlformats.org/drawingml/2006/main">
              <a:ext uri="{FF2B5EF4-FFF2-40B4-BE49-F238E27FC236}">
                <a16:creationId xmlns:a16="http://schemas.microsoft.com/office/drawing/2014/main" id="{C6759987-5F26-41D4-BB83-6683A530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2628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完善 ASGI / Redis / Nginx / 日志和告警。</a:t>
            </a:r>
          </a:p>
        </p:txBody>
      </p:sp>
      <p:sp>
        <p:nvSpPr>
          <p:cNvPr id="30" name="bullet-dot-真实指标">
            <a:extLst xmlns:a="http://schemas.openxmlformats.org/drawingml/2006/main">
              <a:ext uri="{FF2B5EF4-FFF2-40B4-BE49-F238E27FC236}">
                <a16:creationId xmlns:a16="http://schemas.microsoft.com/office/drawing/2014/main" id="{783F6EA4-B824-4195-9AE7-19F84714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120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31" name="bullet-title-真实指标">
            <a:extLst xmlns:a="http://schemas.openxmlformats.org/drawingml/2006/main">
              <a:ext uri="{FF2B5EF4-FFF2-40B4-BE49-F238E27FC236}">
                <a16:creationId xmlns:a16="http://schemas.microsoft.com/office/drawing/2014/main" id="{39F3103E-2168-4009-9A63-027601D1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1203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真实指标</a:t>
            </a:r>
          </a:p>
        </p:txBody>
      </p:sp>
      <p:sp>
        <p:nvSpPr>
          <p:cNvPr id="32" name="bullet-detail-真实指标">
            <a:extLst xmlns:a="http://schemas.openxmlformats.org/drawingml/2006/main">
              <a:ext uri="{FF2B5EF4-FFF2-40B4-BE49-F238E27FC236}">
                <a16:creationId xmlns:a16="http://schemas.microsoft.com/office/drawing/2014/main" id="{67182D78-379F-46BA-A740-B9710CFF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4444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现场前补真实值，不在 PPT 里硬编数字。</a:t>
            </a:r>
          </a:p>
        </p:txBody>
      </p:sp>
      <p:sp>
        <p:nvSpPr>
          <p:cNvPr id="33" name="results-metrics-kicker">
            <a:extLst xmlns:a="http://schemas.openxmlformats.org/drawingml/2006/main">
              <a:ext uri="{FF2B5EF4-FFF2-40B4-BE49-F238E27FC236}">
                <a16:creationId xmlns:a16="http://schemas.microsoft.com/office/drawing/2014/main" id="{89E99987-84E8-49E3-B5B6-AD329B49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00250"/>
            <a:ext cx="68094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预留指标位</a:t>
            </a:r>
          </a:p>
        </p:txBody>
      </p:sp>
      <p:sp>
        <p:nvSpPr>
          <p:cNvPr id="34" name="metric-value-审计任务数">
            <a:extLst xmlns:a="http://schemas.openxmlformats.org/drawingml/2006/main">
              <a:ext uri="{FF2B5EF4-FFF2-40B4-BE49-F238E27FC236}">
                <a16:creationId xmlns:a16="http://schemas.microsoft.com/office/drawing/2014/main" id="{BCF60A19-EB08-4036-A68F-DD8ADFC0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93620"/>
            <a:ext cx="229362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—</a:t>
            </a:r>
          </a:p>
        </p:txBody>
      </p:sp>
      <p:sp>
        <p:nvSpPr>
          <p:cNvPr id="35" name="metric-label-审计任务数">
            <a:extLst xmlns:a="http://schemas.openxmlformats.org/drawingml/2006/main">
              <a:ext uri="{FF2B5EF4-FFF2-40B4-BE49-F238E27FC236}">
                <a16:creationId xmlns:a16="http://schemas.microsoft.com/office/drawing/2014/main" id="{72B489D2-825A-4061-A73F-EEE55922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827020"/>
            <a:ext cx="777811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审计任务数</a:t>
            </a:r>
          </a:p>
        </p:txBody>
      </p:sp>
      <p:sp>
        <p:nvSpPr>
          <p:cNvPr id="36" name="metric-note-审计任务数">
            <a:extLst xmlns:a="http://schemas.openxmlformats.org/drawingml/2006/main">
              <a:ext uri="{FF2B5EF4-FFF2-40B4-BE49-F238E27FC236}">
                <a16:creationId xmlns:a16="http://schemas.microsoft.com/office/drawing/2014/main" id="{749CB49E-3942-43A2-BEC5-ADE77B3D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68980"/>
            <a:ext cx="631984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475467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475467"/>
                </a:solidFill>
                <a:latin typeface="Menlo"/>
                <a:ea typeface="Menlo"/>
                <a:cs typeface="Menlo"/>
              </a:rPr>
              <a:t>待补真实值</a:t>
            </a:r>
          </a:p>
        </p:txBody>
      </p:sp>
      <p:sp>
        <p:nvSpPr>
          <p:cNvPr id="37" name="metric-value-有效发现数">
            <a:extLst xmlns:a="http://schemas.openxmlformats.org/drawingml/2006/main">
              <a:ext uri="{FF2B5EF4-FFF2-40B4-BE49-F238E27FC236}">
                <a16:creationId xmlns:a16="http://schemas.microsoft.com/office/drawing/2014/main" id="{C697710C-0011-4515-BD7A-6378C5C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93620"/>
            <a:ext cx="229362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—</a:t>
            </a:r>
          </a:p>
        </p:txBody>
      </p:sp>
      <p:sp>
        <p:nvSpPr>
          <p:cNvPr id="38" name="metric-label-有效发现数">
            <a:extLst xmlns:a="http://schemas.openxmlformats.org/drawingml/2006/main">
              <a:ext uri="{FF2B5EF4-FFF2-40B4-BE49-F238E27FC236}">
                <a16:creationId xmlns:a16="http://schemas.microsoft.com/office/drawing/2014/main" id="{68D6F55C-6ACD-4EA8-9F8D-8FF0A2C1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27020"/>
            <a:ext cx="777811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有效发现数</a:t>
            </a:r>
          </a:p>
        </p:txBody>
      </p:sp>
      <p:sp>
        <p:nvSpPr>
          <p:cNvPr id="39" name="metric-note-有效发现数">
            <a:extLst xmlns:a="http://schemas.openxmlformats.org/drawingml/2006/main">
              <a:ext uri="{FF2B5EF4-FFF2-40B4-BE49-F238E27FC236}">
                <a16:creationId xmlns:a16="http://schemas.microsoft.com/office/drawing/2014/main" id="{341F54DD-8596-4C62-911F-5F58A0368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68980"/>
            <a:ext cx="631984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475467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475467"/>
                </a:solidFill>
                <a:latin typeface="Menlo"/>
                <a:ea typeface="Menlo"/>
                <a:cs typeface="Menlo"/>
              </a:rPr>
              <a:t>待补真实值</a:t>
            </a:r>
          </a:p>
        </p:txBody>
      </p:sp>
      <p:sp>
        <p:nvSpPr>
          <p:cNvPr id="40" name="metric-value-报告导出数">
            <a:extLst xmlns:a="http://schemas.openxmlformats.org/drawingml/2006/main">
              <a:ext uri="{FF2B5EF4-FFF2-40B4-BE49-F238E27FC236}">
                <a16:creationId xmlns:a16="http://schemas.microsoft.com/office/drawing/2014/main" id="{1F2C658F-E02F-49A9-8DAA-6B28755A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531870"/>
            <a:ext cx="229362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—</a:t>
            </a:r>
          </a:p>
        </p:txBody>
      </p:sp>
      <p:sp>
        <p:nvSpPr>
          <p:cNvPr id="41" name="metric-label-报告导出数">
            <a:extLst xmlns:a="http://schemas.openxmlformats.org/drawingml/2006/main">
              <a:ext uri="{FF2B5EF4-FFF2-40B4-BE49-F238E27FC236}">
                <a16:creationId xmlns:a16="http://schemas.microsoft.com/office/drawing/2014/main" id="{9C17A4FE-DC81-42A9-A3EE-790B017E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65270"/>
            <a:ext cx="777811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报告导出数</a:t>
            </a:r>
          </a:p>
        </p:txBody>
      </p:sp>
      <p:sp>
        <p:nvSpPr>
          <p:cNvPr id="42" name="metric-note-报告导出数">
            <a:extLst xmlns:a="http://schemas.openxmlformats.org/drawingml/2006/main">
              <a:ext uri="{FF2B5EF4-FFF2-40B4-BE49-F238E27FC236}">
                <a16:creationId xmlns:a16="http://schemas.microsoft.com/office/drawing/2014/main" id="{4581C45A-B463-42D2-9F62-55DB03D4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07230"/>
            <a:ext cx="631984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475467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475467"/>
                </a:solidFill>
                <a:latin typeface="Menlo"/>
                <a:ea typeface="Menlo"/>
                <a:cs typeface="Menlo"/>
              </a:rPr>
              <a:t>待补真实值</a:t>
            </a:r>
          </a:p>
        </p:txBody>
      </p:sp>
      <p:sp>
        <p:nvSpPr>
          <p:cNvPr id="43" name="metric-value-知识库条目数">
            <a:extLst xmlns:a="http://schemas.openxmlformats.org/drawingml/2006/main">
              <a:ext uri="{FF2B5EF4-FFF2-40B4-BE49-F238E27FC236}">
                <a16:creationId xmlns:a16="http://schemas.microsoft.com/office/drawing/2014/main" id="{B21E2FEF-FE48-411A-A1D1-817CAFE8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31870"/>
            <a:ext cx="229362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—</a:t>
            </a:r>
          </a:p>
        </p:txBody>
      </p:sp>
      <p:sp>
        <p:nvSpPr>
          <p:cNvPr id="44" name="metric-label-知识库条目数">
            <a:extLst xmlns:a="http://schemas.openxmlformats.org/drawingml/2006/main">
              <a:ext uri="{FF2B5EF4-FFF2-40B4-BE49-F238E27FC236}">
                <a16:creationId xmlns:a16="http://schemas.microsoft.com/office/drawing/2014/main" id="{E800022B-3530-44DA-BD63-11797AEA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65270"/>
            <a:ext cx="933355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知识库条目数</a:t>
            </a:r>
          </a:p>
        </p:txBody>
      </p:sp>
      <p:sp>
        <p:nvSpPr>
          <p:cNvPr id="45" name="metric-note-知识库条目数">
            <a:extLst xmlns:a="http://schemas.openxmlformats.org/drawingml/2006/main">
              <a:ext uri="{FF2B5EF4-FFF2-40B4-BE49-F238E27FC236}">
                <a16:creationId xmlns:a16="http://schemas.microsoft.com/office/drawing/2014/main" id="{512193E1-46DA-4A8D-A44D-241C35C4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324350"/>
            <a:ext cx="631984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475467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475467"/>
                </a:solidFill>
                <a:latin typeface="Menlo"/>
                <a:ea typeface="Menlo"/>
                <a:cs typeface="Menlo"/>
              </a:rPr>
              <a:t>待补真实值</a:t>
            </a:r>
          </a:p>
        </p:txBody>
      </p:sp>
      <p:sp>
        <p:nvSpPr>
          <p:cNvPr id="46" name="results-metrics-note">
            <a:extLst xmlns:a="http://schemas.openxmlformats.org/drawingml/2006/main">
              <a:ext uri="{FF2B5EF4-FFF2-40B4-BE49-F238E27FC236}">
                <a16:creationId xmlns:a16="http://schemas.microsoft.com/office/drawing/2014/main" id="{405336CD-6551-4852-BAE6-F8DDC252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89170"/>
            <a:ext cx="4381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这些位置保留给现场前补充的真实运行数据。</a:t>
            </a:r>
          </a:p>
        </p:txBody>
      </p:sp>
      <p:sp>
        <p:nvSpPr>
          <p:cNvPr id="47" name="results-roadmap-kicker">
            <a:extLst xmlns:a="http://schemas.openxmlformats.org/drawingml/2006/main">
              <a:ext uri="{FF2B5EF4-FFF2-40B4-BE49-F238E27FC236}">
                <a16:creationId xmlns:a16="http://schemas.microsoft.com/office/drawing/2014/main" id="{688D5200-074C-44E4-B187-1BD4AE50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93970"/>
            <a:ext cx="95335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推荐的后续路线</a:t>
            </a:r>
          </a:p>
        </p:txBody>
      </p:sp>
      <p:sp>
        <p:nvSpPr>
          <p:cNvPr id="48" name="chip-知识库沉淀">
            <a:extLst xmlns:a="http://schemas.openxmlformats.org/drawingml/2006/main">
              <a:ext uri="{FF2B5EF4-FFF2-40B4-BE49-F238E27FC236}">
                <a16:creationId xmlns:a16="http://schemas.microsoft.com/office/drawing/2014/main" id="{3C3491B8-4455-4DD5-882A-205F5189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87340"/>
            <a:ext cx="19621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49" name="chip-text-知识库沉淀">
            <a:extLst xmlns:a="http://schemas.openxmlformats.org/drawingml/2006/main">
              <a:ext uri="{FF2B5EF4-FFF2-40B4-BE49-F238E27FC236}">
                <a16:creationId xmlns:a16="http://schemas.microsoft.com/office/drawing/2014/main" id="{E90D5DB2-4503-453F-BE9F-F4CE034F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704" y="5387340"/>
            <a:ext cx="68094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知识库沉淀</a:t>
            </a:r>
          </a:p>
        </p:txBody>
      </p:sp>
      <p:sp>
        <p:nvSpPr>
          <p:cNvPr id="50" name="chip-规则覆盖">
            <a:extLst xmlns:a="http://schemas.openxmlformats.org/drawingml/2006/main">
              <a:ext uri="{FF2B5EF4-FFF2-40B4-BE49-F238E27FC236}">
                <a16:creationId xmlns:a16="http://schemas.microsoft.com/office/drawing/2014/main" id="{9DA07A71-A79D-4042-A426-D1ADA5CB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387340"/>
            <a:ext cx="19621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51" name="chip-text-规则覆盖">
            <a:extLst xmlns:a="http://schemas.openxmlformats.org/drawingml/2006/main">
              <a:ext uri="{FF2B5EF4-FFF2-40B4-BE49-F238E27FC236}">
                <a16:creationId xmlns:a16="http://schemas.microsoft.com/office/drawing/2014/main" id="{EAC0465D-981E-40CE-97E3-D96194FA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158" y="538734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规则覆盖</a:t>
            </a:r>
          </a:p>
        </p:txBody>
      </p:sp>
      <p:sp>
        <p:nvSpPr>
          <p:cNvPr id="52" name="chip-部署监控">
            <a:extLst xmlns:a="http://schemas.openxmlformats.org/drawingml/2006/main">
              <a:ext uri="{FF2B5EF4-FFF2-40B4-BE49-F238E27FC236}">
                <a16:creationId xmlns:a16="http://schemas.microsoft.com/office/drawing/2014/main" id="{A666A48D-CB7F-4D2F-AC8A-A85BF44E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623560"/>
            <a:ext cx="19621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53" name="chip-text-部署监控">
            <a:extLst xmlns:a="http://schemas.openxmlformats.org/drawingml/2006/main">
              <a:ext uri="{FF2B5EF4-FFF2-40B4-BE49-F238E27FC236}">
                <a16:creationId xmlns:a16="http://schemas.microsoft.com/office/drawing/2014/main" id="{34A2B53A-ECA9-427D-87EA-0A071553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808" y="562356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部署监控</a:t>
            </a:r>
          </a:p>
        </p:txBody>
      </p:sp>
      <p:sp>
        <p:nvSpPr>
          <p:cNvPr id="54" name="chip-指标运营">
            <a:extLst xmlns:a="http://schemas.openxmlformats.org/drawingml/2006/main">
              <a:ext uri="{FF2B5EF4-FFF2-40B4-BE49-F238E27FC236}">
                <a16:creationId xmlns:a16="http://schemas.microsoft.com/office/drawing/2014/main" id="{2B7C6510-7984-4CA3-8D25-F0B5C24A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623560"/>
            <a:ext cx="19621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55" name="chip-text-指标运营">
            <a:extLst xmlns:a="http://schemas.openxmlformats.org/drawingml/2006/main">
              <a:ext uri="{FF2B5EF4-FFF2-40B4-BE49-F238E27FC236}">
                <a16:creationId xmlns:a16="http://schemas.microsoft.com/office/drawing/2014/main" id="{6F0B8529-0887-4721-925A-C11F9771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158" y="562356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指标运营</a:t>
            </a:r>
          </a:p>
        </p:txBody>
      </p:sp>
    </p:spTree>
    <p:extLst>
      <p:ext uri="{BB962C8B-B14F-4D97-AF65-F5344CB8AC3E}">
        <p14:creationId xmlns:p14="http://schemas.microsoft.com/office/powerpoint/2010/main" val="6871103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核心-api-与页面映射">
            <a:extLst xmlns:a="http://schemas.openxmlformats.org/drawingml/2006/main">
              <a:ext uri="{FF2B5EF4-FFF2-40B4-BE49-F238E27FC236}">
                <a16:creationId xmlns:a16="http://schemas.microsoft.com/office/drawing/2014/main" id="{B60AFAB9-5258-4060-BEEC-E6993C97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688086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APPENDIX</a:t>
            </a:r>
          </a:p>
        </p:txBody>
      </p:sp>
      <p:sp>
        <p:nvSpPr>
          <p:cNvPr id="2" name="header-title-核心-api-与页面映射">
            <a:extLst xmlns:a="http://schemas.openxmlformats.org/drawingml/2006/main">
              <a:ext uri="{FF2B5EF4-FFF2-40B4-BE49-F238E27FC236}">
                <a16:creationId xmlns:a16="http://schemas.microsoft.com/office/drawing/2014/main" id="{78A40510-F368-49F3-BF60-B2925F35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核心 API 与页面映射</a:t>
            </a:r>
          </a:p>
        </p:txBody>
      </p:sp>
      <p:sp>
        <p:nvSpPr>
          <p:cNvPr id="3" name="header-subtitle-核心-api-与页面映射">
            <a:extLst xmlns:a="http://schemas.openxmlformats.org/drawingml/2006/main">
              <a:ext uri="{FF2B5EF4-FFF2-40B4-BE49-F238E27FC236}">
                <a16:creationId xmlns:a16="http://schemas.microsoft.com/office/drawing/2014/main" id="{3E1D3E0A-A1BF-4190-8988-6AF4AD57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这页给领导和现场问答做技术备份：页面怎么进，接口怎么挂。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047DA455-90BA-4BE4-BA8A-3789BD7E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5" name="appendix-pages-kicker">
            <a:extLst xmlns:a="http://schemas.openxmlformats.org/drawingml/2006/main">
              <a:ext uri="{FF2B5EF4-FFF2-40B4-BE49-F238E27FC236}">
                <a16:creationId xmlns:a16="http://schemas.microsoft.com/office/drawing/2014/main" id="{F06D1A4B-7266-40AC-B423-D5953410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前端页面</a:t>
            </a:r>
          </a:p>
        </p:txBody>
      </p:sp>
      <p:sp>
        <p:nvSpPr>
          <p:cNvPr id="6" name="appendix-pages-title">
            <a:extLst xmlns:a="http://schemas.openxmlformats.org/drawingml/2006/main">
              <a:ext uri="{FF2B5EF4-FFF2-40B4-BE49-F238E27FC236}">
                <a16:creationId xmlns:a16="http://schemas.microsoft.com/office/drawing/2014/main" id="{82A34C99-F330-4DB2-A34F-792AB230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4570"/>
            <a:ext cx="221742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独立路由入口</a:t>
            </a:r>
          </a:p>
        </p:txBody>
      </p:sp>
      <p:sp>
        <p:nvSpPr>
          <p:cNvPr id="7" name="route-path-agent审计">
            <a:extLst xmlns:a="http://schemas.openxmlformats.org/drawingml/2006/main">
              <a:ext uri="{FF2B5EF4-FFF2-40B4-BE49-F238E27FC236}">
                <a16:creationId xmlns:a16="http://schemas.microsoft.com/office/drawing/2014/main" id="{F4FEA280-B59C-43E9-8F31-4737F18E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23210"/>
            <a:ext cx="1065847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/   Agent审计</a:t>
            </a:r>
          </a:p>
        </p:txBody>
      </p:sp>
      <p:sp>
        <p:nvSpPr>
          <p:cNvPr id="8" name="route-desc-agent审计">
            <a:extLst xmlns:a="http://schemas.openxmlformats.org/drawingml/2006/main">
              <a:ext uri="{FF2B5EF4-FFF2-40B4-BE49-F238E27FC236}">
                <a16:creationId xmlns:a16="http://schemas.microsoft.com/office/drawing/2014/main" id="{8445C423-7AC4-43F4-AB0C-98DBF333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32760"/>
            <a:ext cx="2377631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核心工作台，创建并观察 Agent 任务。</a:t>
            </a:r>
          </a:p>
        </p:txBody>
      </p:sp>
      <p:sp>
        <p:nvSpPr>
          <p:cNvPr id="9" name="route-path-dashboard-仪表盘">
            <a:extLst xmlns:a="http://schemas.openxmlformats.org/drawingml/2006/main">
              <a:ext uri="{FF2B5EF4-FFF2-40B4-BE49-F238E27FC236}">
                <a16:creationId xmlns:a16="http://schemas.microsoft.com/office/drawing/2014/main" id="{8A49DFBC-4956-4978-944D-D92CBBE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07080"/>
            <a:ext cx="1555718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/dashboard   仪表盘</a:t>
            </a:r>
          </a:p>
        </p:txBody>
      </p:sp>
      <p:sp>
        <p:nvSpPr>
          <p:cNvPr id="10" name="route-desc-dashboard-仪表盘">
            <a:extLst xmlns:a="http://schemas.openxmlformats.org/drawingml/2006/main">
              <a:ext uri="{FF2B5EF4-FFF2-40B4-BE49-F238E27FC236}">
                <a16:creationId xmlns:a16="http://schemas.microsoft.com/office/drawing/2014/main" id="{C8D70690-E699-4EB6-A956-F19A4472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16630"/>
            <a:ext cx="190681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总览、最近项目、任务与统计。</a:t>
            </a:r>
          </a:p>
        </p:txBody>
      </p:sp>
      <p:sp>
        <p:nvSpPr>
          <p:cNvPr id="11" name="route-path-projects-项目管理">
            <a:extLst xmlns:a="http://schemas.openxmlformats.org/drawingml/2006/main">
              <a:ext uri="{FF2B5EF4-FFF2-40B4-BE49-F238E27FC236}">
                <a16:creationId xmlns:a16="http://schemas.microsoft.com/office/drawing/2014/main" id="{260EE81C-D1A0-4428-9F5A-62923555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161553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/projects   项目管理</a:t>
            </a:r>
          </a:p>
        </p:txBody>
      </p:sp>
      <p:sp>
        <p:nvSpPr>
          <p:cNvPr id="12" name="route-desc-projects-项目管理">
            <a:extLst xmlns:a="http://schemas.openxmlformats.org/drawingml/2006/main">
              <a:ext uri="{FF2B5EF4-FFF2-40B4-BE49-F238E27FC236}">
                <a16:creationId xmlns:a16="http://schemas.microsoft.com/office/drawing/2014/main" id="{B818FC94-BDD1-44D0-9D74-C1C06CFA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0"/>
            <a:ext cx="186880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仓库 / ZIP、成员、项目详情。</a:t>
            </a:r>
          </a:p>
        </p:txBody>
      </p:sp>
      <p:sp>
        <p:nvSpPr>
          <p:cNvPr id="13" name="route-path-instant-analysis-即时分析">
            <a:extLst xmlns:a="http://schemas.openxmlformats.org/drawingml/2006/main">
              <a:ext uri="{FF2B5EF4-FFF2-40B4-BE49-F238E27FC236}">
                <a16:creationId xmlns:a16="http://schemas.microsoft.com/office/drawing/2014/main" id="{1B8801BB-A5E5-4A95-BFE5-F9AC9F3A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74820"/>
            <a:ext cx="230362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/instant-analysis   即时分析</a:t>
            </a:r>
          </a:p>
        </p:txBody>
      </p:sp>
      <p:sp>
        <p:nvSpPr>
          <p:cNvPr id="14" name="route-desc-instant-analysis-即时分析">
            <a:extLst xmlns:a="http://schemas.openxmlformats.org/drawingml/2006/main">
              <a:ext uri="{FF2B5EF4-FFF2-40B4-BE49-F238E27FC236}">
                <a16:creationId xmlns:a16="http://schemas.microsoft.com/office/drawing/2014/main" id="{A2EC90FC-8536-47E3-9208-4F508B13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84370"/>
            <a:ext cx="1770602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快速分析，不走完整任务链。</a:t>
            </a:r>
          </a:p>
        </p:txBody>
      </p:sp>
      <p:sp>
        <p:nvSpPr>
          <p:cNvPr id="15" name="route-path-audit-tasks-传统任务">
            <a:extLst xmlns:a="http://schemas.openxmlformats.org/drawingml/2006/main">
              <a:ext uri="{FF2B5EF4-FFF2-40B4-BE49-F238E27FC236}">
                <a16:creationId xmlns:a16="http://schemas.microsoft.com/office/drawing/2014/main" id="{D0FE9FA6-35D4-4CFD-9F6A-AD2D5C53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18710"/>
            <a:ext cx="1873568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/audit-tasks   传统任务</a:t>
            </a:r>
          </a:p>
        </p:txBody>
      </p:sp>
      <p:sp>
        <p:nvSpPr>
          <p:cNvPr id="16" name="route-desc-audit-tasks-传统任务">
            <a:extLst xmlns:a="http://schemas.openxmlformats.org/drawingml/2006/main">
              <a:ext uri="{FF2B5EF4-FFF2-40B4-BE49-F238E27FC236}">
                <a16:creationId xmlns:a16="http://schemas.microsoft.com/office/drawing/2014/main" id="{20D21EE8-CA24-4924-AA3A-384079F2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8260"/>
            <a:ext cx="2026729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仓库扫描、ZIP 扫描、任务详情。</a:t>
            </a:r>
          </a:p>
        </p:txBody>
      </p:sp>
      <p:sp>
        <p:nvSpPr>
          <p:cNvPr id="17" name="route-path-audit-rules-prompts-admin-recycle-bin">
            <a:extLst xmlns:a="http://schemas.openxmlformats.org/drawingml/2006/main">
              <a:ext uri="{FF2B5EF4-FFF2-40B4-BE49-F238E27FC236}">
                <a16:creationId xmlns:a16="http://schemas.microsoft.com/office/drawing/2014/main" id="{736C0534-8020-4213-B759-059CE436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3784473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/audit-rules / prompts / admin / recycle-bin</a:t>
            </a:r>
          </a:p>
        </p:txBody>
      </p:sp>
      <p:sp>
        <p:nvSpPr>
          <p:cNvPr id="18" name="route-desc-audit-rules-prompts-admin-recycle-bin">
            <a:extLst xmlns:a="http://schemas.openxmlformats.org/drawingml/2006/main">
              <a:ext uri="{FF2B5EF4-FFF2-40B4-BE49-F238E27FC236}">
                <a16:creationId xmlns:a16="http://schemas.microsoft.com/office/drawing/2014/main" id="{CEBC1436-BE7B-42D8-98F6-F3EBA0FC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72150"/>
            <a:ext cx="1225772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策略治理与回收站。</a:t>
            </a:r>
          </a:p>
        </p:txBody>
      </p:sp>
      <p:sp>
        <p:nvSpPr>
          <p:cNvPr id="19" name="appendix-apis-kicker">
            <a:extLst xmlns:a="http://schemas.openxmlformats.org/drawingml/2006/main">
              <a:ext uri="{FF2B5EF4-FFF2-40B4-BE49-F238E27FC236}">
                <a16:creationId xmlns:a16="http://schemas.microsoft.com/office/drawing/2014/main" id="{714D3AD1-8D65-4C8D-BEDF-1730421D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0025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后端接口</a:t>
            </a:r>
          </a:p>
        </p:txBody>
      </p:sp>
      <p:sp>
        <p:nvSpPr>
          <p:cNvPr id="20" name="appendix-apis-title">
            <a:extLst xmlns:a="http://schemas.openxmlformats.org/drawingml/2006/main">
              <a:ext uri="{FF2B5EF4-FFF2-40B4-BE49-F238E27FC236}">
                <a16:creationId xmlns:a16="http://schemas.microsoft.com/office/drawing/2014/main" id="{74BC62E0-F4F0-404A-80D6-B835A409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74570"/>
            <a:ext cx="554355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按业务域拆分，不是单一大接口。</a:t>
            </a:r>
          </a:p>
        </p:txBody>
      </p:sp>
      <p:sp>
        <p:nvSpPr>
          <p:cNvPr id="21" name="api-path-api-deepaudit-projects-members">
            <a:extLst xmlns:a="http://schemas.openxmlformats.org/drawingml/2006/main">
              <a:ext uri="{FF2B5EF4-FFF2-40B4-BE49-F238E27FC236}">
                <a16:creationId xmlns:a16="http://schemas.microsoft.com/office/drawing/2014/main" id="{BD0007AC-BF40-4D6A-BC5B-0EEB11B1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23210"/>
            <a:ext cx="283835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/api/deepaudit/projects / members</a:t>
            </a:r>
          </a:p>
        </p:txBody>
      </p:sp>
      <p:sp>
        <p:nvSpPr>
          <p:cNvPr id="22" name="api-desc-api-deepaudit-projects-members">
            <a:extLst xmlns:a="http://schemas.openxmlformats.org/drawingml/2006/main">
              <a:ext uri="{FF2B5EF4-FFF2-40B4-BE49-F238E27FC236}">
                <a16:creationId xmlns:a16="http://schemas.microsoft.com/office/drawing/2014/main" id="{43E86678-97D8-4ED8-921D-D8147ABAC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32760"/>
            <a:ext cx="188861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项目、成员、owner、回收站。</a:t>
            </a:r>
          </a:p>
        </p:txBody>
      </p:sp>
      <p:sp>
        <p:nvSpPr>
          <p:cNvPr id="23" name="api-path-api-deepaudit-scan">
            <a:extLst xmlns:a="http://schemas.openxmlformats.org/drawingml/2006/main">
              <a:ext uri="{FF2B5EF4-FFF2-40B4-BE49-F238E27FC236}">
                <a16:creationId xmlns:a16="http://schemas.microsoft.com/office/drawing/2014/main" id="{345FBD11-387E-4D78-BF49-C2A614C8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07080"/>
            <a:ext cx="1806226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/api/deepaudit/scan/*</a:t>
            </a:r>
          </a:p>
        </p:txBody>
      </p:sp>
      <p:sp>
        <p:nvSpPr>
          <p:cNvPr id="24" name="api-desc-api-deepaudit-scan">
            <a:extLst xmlns:a="http://schemas.openxmlformats.org/drawingml/2006/main">
              <a:ext uri="{FF2B5EF4-FFF2-40B4-BE49-F238E27FC236}">
                <a16:creationId xmlns:a16="http://schemas.microsoft.com/office/drawing/2014/main" id="{23EAC71E-E790-4D92-910E-5F40C1A5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16630"/>
            <a:ext cx="2026729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仓库扫描、ZIP 扫描、即时分析。</a:t>
            </a:r>
          </a:p>
        </p:txBody>
      </p:sp>
      <p:sp>
        <p:nvSpPr>
          <p:cNvPr id="25" name="api-path-api-deepaudit-agent-tasks">
            <a:extLst xmlns:a="http://schemas.openxmlformats.org/drawingml/2006/main">
              <a:ext uri="{FF2B5EF4-FFF2-40B4-BE49-F238E27FC236}">
                <a16:creationId xmlns:a16="http://schemas.microsoft.com/office/drawing/2014/main" id="{9800B7D7-BEC6-4BAB-96EA-1D29252B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50970"/>
            <a:ext cx="2236279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/api/deepaudit/agent-tasks</a:t>
            </a:r>
          </a:p>
        </p:txBody>
      </p:sp>
      <p:sp>
        <p:nvSpPr>
          <p:cNvPr id="26" name="api-desc-api-deepaudit-agent-tasks">
            <a:extLst xmlns:a="http://schemas.openxmlformats.org/drawingml/2006/main">
              <a:ext uri="{FF2B5EF4-FFF2-40B4-BE49-F238E27FC236}">
                <a16:creationId xmlns:a16="http://schemas.microsoft.com/office/drawing/2014/main" id="{1635B022-D93D-4E79-B665-95A7136D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60520"/>
            <a:ext cx="2714339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Agent 任务、Finding、Checkpoint、摘要。</a:t>
            </a:r>
          </a:p>
        </p:txBody>
      </p:sp>
      <p:sp>
        <p:nvSpPr>
          <p:cNvPr id="27" name="api-path-api-deepaudit-rules-prompts-settings-ssh-keys-rag-data-tools">
            <a:extLst xmlns:a="http://schemas.openxmlformats.org/drawingml/2006/main">
              <a:ext uri="{FF2B5EF4-FFF2-40B4-BE49-F238E27FC236}">
                <a16:creationId xmlns:a16="http://schemas.microsoft.com/office/drawing/2014/main" id="{ACF80589-8814-4616-83D3-4C25E92E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94860"/>
            <a:ext cx="6106763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/api/deepaudit/rules / prompts / settings / ssh-keys / rag / data-tools</a:t>
            </a:r>
          </a:p>
        </p:txBody>
      </p:sp>
      <p:sp>
        <p:nvSpPr>
          <p:cNvPr id="28" name="api-desc-api-deepaudit-rules-prompts-settings-ssh-keys-rag-data-tools">
            <a:extLst xmlns:a="http://schemas.openxmlformats.org/drawingml/2006/main">
              <a:ext uri="{FF2B5EF4-FFF2-40B4-BE49-F238E27FC236}">
                <a16:creationId xmlns:a16="http://schemas.microsoft.com/office/drawing/2014/main" id="{38A465AE-775A-436F-AF59-59DD5182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04410"/>
            <a:ext cx="272405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规则、提示词、配置、知识检索与数据导出。</a:t>
            </a:r>
          </a:p>
        </p:txBody>
      </p:sp>
      <p:sp>
        <p:nvSpPr>
          <p:cNvPr id="29" name="api-path-api-deepaudit-dashboard-reports">
            <a:extLst xmlns:a="http://schemas.openxmlformats.org/drawingml/2006/main">
              <a:ext uri="{FF2B5EF4-FFF2-40B4-BE49-F238E27FC236}">
                <a16:creationId xmlns:a16="http://schemas.microsoft.com/office/drawing/2014/main" id="{CAACC4D6-4302-4B89-BE71-B04F9B7F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78730"/>
            <a:ext cx="3096387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/api/deepaudit/dashboard / reports/*</a:t>
            </a:r>
          </a:p>
        </p:txBody>
      </p:sp>
      <p:sp>
        <p:nvSpPr>
          <p:cNvPr id="30" name="api-desc-api-deepaudit-dashboard-reports">
            <a:extLst xmlns:a="http://schemas.openxmlformats.org/drawingml/2006/main">
              <a:ext uri="{FF2B5EF4-FFF2-40B4-BE49-F238E27FC236}">
                <a16:creationId xmlns:a16="http://schemas.microsoft.com/office/drawing/2014/main" id="{41924C8F-C6A5-4FF2-A42C-CE45E759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288280"/>
            <a:ext cx="1974056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看板摘要与 JSON / PDF 导出。</a:t>
            </a:r>
          </a:p>
        </p:txBody>
      </p:sp>
      <p:sp>
        <p:nvSpPr>
          <p:cNvPr id="31" name="appendix-api-stream-note">
            <a:extLst xmlns:a="http://schemas.openxmlformats.org/drawingml/2006/main">
              <a:ext uri="{FF2B5EF4-FFF2-40B4-BE49-F238E27FC236}">
                <a16:creationId xmlns:a16="http://schemas.microsoft.com/office/drawing/2014/main" id="{230AAB0F-DF83-4663-B147-D0D6B0EA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722620"/>
            <a:ext cx="723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前端实现：agentStream.ts / useResilientStream.ts / focusAdapter.ts；实时链路：SSE + WebSocket。</a:t>
            </a:r>
          </a:p>
        </p:txBody>
      </p:sp>
    </p:spTree>
    <p:extLst>
      <p:ext uri="{BB962C8B-B14F-4D97-AF65-F5344CB8AC3E}">
        <p14:creationId xmlns:p14="http://schemas.microsoft.com/office/powerpoint/2010/main" val="1931331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演示兜底与部署">
            <a:extLst xmlns:a="http://schemas.openxmlformats.org/drawingml/2006/main">
              <a:ext uri="{FF2B5EF4-FFF2-40B4-BE49-F238E27FC236}">
                <a16:creationId xmlns:a16="http://schemas.microsoft.com/office/drawing/2014/main" id="{D3896104-9707-45DD-93F3-7747EDC2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688086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APPENDIX</a:t>
            </a:r>
          </a:p>
        </p:txBody>
      </p:sp>
      <p:sp>
        <p:nvSpPr>
          <p:cNvPr id="2" name="header-title-演示兜底与部署">
            <a:extLst xmlns:a="http://schemas.openxmlformats.org/drawingml/2006/main">
              <a:ext uri="{FF2B5EF4-FFF2-40B4-BE49-F238E27FC236}">
                <a16:creationId xmlns:a16="http://schemas.microsoft.com/office/drawing/2014/main" id="{9559C069-6B66-4D1E-95C9-25488434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演示兜底与部署</a:t>
            </a:r>
          </a:p>
        </p:txBody>
      </p:sp>
      <p:sp>
        <p:nvSpPr>
          <p:cNvPr id="3" name="header-subtitle-演示兜底与部署">
            <a:extLst xmlns:a="http://schemas.openxmlformats.org/drawingml/2006/main">
              <a:ext uri="{FF2B5EF4-FFF2-40B4-BE49-F238E27FC236}">
                <a16:creationId xmlns:a16="http://schemas.microsoft.com/office/drawing/2014/main" id="{5E856777-CDB8-4017-AF1E-E85C0D4D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现场如果实时流不稳，先保主线，再切截图兜底。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D6A0A0E1-3219-436C-8040-7C07908F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30000"/>
            </a:srgbClr>
          </a:solidFill>
          <a:ln xmlns:a="http://schemas.openxmlformats.org/drawingml/2006/main" w="0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5" name="ops-left-kicker">
            <a:extLst xmlns:a="http://schemas.openxmlformats.org/drawingml/2006/main">
              <a:ext uri="{FF2B5EF4-FFF2-40B4-BE49-F238E27FC236}">
                <a16:creationId xmlns:a16="http://schemas.microsoft.com/office/drawing/2014/main" id="{39005795-91EB-4D9F-A03F-5BB78CC2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演示兜底</a:t>
            </a:r>
          </a:p>
        </p:txBody>
      </p:sp>
      <p:sp>
        <p:nvSpPr>
          <p:cNvPr id="6" name="ops-left-title">
            <a:extLst xmlns:a="http://schemas.openxmlformats.org/drawingml/2006/main">
              <a:ext uri="{FF2B5EF4-FFF2-40B4-BE49-F238E27FC236}">
                <a16:creationId xmlns:a16="http://schemas.microsoft.com/office/drawing/2014/main" id="{A39CDA30-2996-41C8-AC80-02376A6F3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4570"/>
            <a:ext cx="333375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先保主线</a:t>
            </a:r>
          </a:p>
        </p:txBody>
      </p:sp>
      <p:sp>
        <p:nvSpPr>
          <p:cNvPr id="7" name="bullet-dot-优先路径">
            <a:extLst xmlns:a="http://schemas.openxmlformats.org/drawingml/2006/main">
              <a:ext uri="{FF2B5EF4-FFF2-40B4-BE49-F238E27FC236}">
                <a16:creationId xmlns:a16="http://schemas.microsoft.com/office/drawing/2014/main" id="{F4252A0A-AADB-40AB-BA72-FEE51C39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优先路径">
            <a:extLst xmlns:a="http://schemas.openxmlformats.org/drawingml/2006/main">
              <a:ext uri="{FF2B5EF4-FFF2-40B4-BE49-F238E27FC236}">
                <a16:creationId xmlns:a16="http://schemas.microsoft.com/office/drawing/2014/main" id="{ABC1636F-D231-45E1-B76D-DC0D06BF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2321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优先路径</a:t>
            </a:r>
          </a:p>
        </p:txBody>
      </p:sp>
      <p:sp>
        <p:nvSpPr>
          <p:cNvPr id="9" name="bullet-detail-优先路径">
            <a:extLst xmlns:a="http://schemas.openxmlformats.org/drawingml/2006/main">
              <a:ext uri="{FF2B5EF4-FFF2-40B4-BE49-F238E27FC236}">
                <a16:creationId xmlns:a16="http://schemas.microsoft.com/office/drawing/2014/main" id="{37C8EF0B-484E-448E-97D4-960D23FA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5620"/>
            <a:ext cx="3143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Dashboard → 项目管理 → Agent 审计 → 报告页。</a:t>
            </a:r>
          </a:p>
        </p:txBody>
      </p:sp>
      <p:sp>
        <p:nvSpPr>
          <p:cNvPr id="10" name="bullet-dot-备用素材">
            <a:extLst xmlns:a="http://schemas.openxmlformats.org/drawingml/2006/main">
              <a:ext uri="{FF2B5EF4-FFF2-40B4-BE49-F238E27FC236}">
                <a16:creationId xmlns:a16="http://schemas.microsoft.com/office/drawing/2014/main" id="{EA1C7025-83FD-41CE-9126-A59ABE80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128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备用素材">
            <a:extLst xmlns:a="http://schemas.openxmlformats.org/drawingml/2006/main">
              <a:ext uri="{FF2B5EF4-FFF2-40B4-BE49-F238E27FC236}">
                <a16:creationId xmlns:a16="http://schemas.microsoft.com/office/drawing/2014/main" id="{393AA80D-6422-4882-B907-7ADDA852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1282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备用素材</a:t>
            </a:r>
          </a:p>
        </p:txBody>
      </p:sp>
      <p:sp>
        <p:nvSpPr>
          <p:cNvPr id="12" name="bullet-detail-备用素材">
            <a:extLst xmlns:a="http://schemas.openxmlformats.org/drawingml/2006/main">
              <a:ext uri="{FF2B5EF4-FFF2-40B4-BE49-F238E27FC236}">
                <a16:creationId xmlns:a16="http://schemas.microsoft.com/office/drawing/2014/main" id="{E1DD7B6A-F8A8-4335-BA73-68751570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4523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home / report 两张截图已准备好。</a:t>
            </a:r>
          </a:p>
        </p:txBody>
      </p:sp>
      <p:sp>
        <p:nvSpPr>
          <p:cNvPr id="13" name="bullet-dot-节奏控制">
            <a:extLst xmlns:a="http://schemas.openxmlformats.org/drawingml/2006/main">
              <a:ext uri="{FF2B5EF4-FFF2-40B4-BE49-F238E27FC236}">
                <a16:creationId xmlns:a16="http://schemas.microsoft.com/office/drawing/2014/main" id="{02058374-B2B0-4DE0-8901-AE9207D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309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节奏控制">
            <a:extLst xmlns:a="http://schemas.openxmlformats.org/drawingml/2006/main">
              <a:ext uri="{FF2B5EF4-FFF2-40B4-BE49-F238E27FC236}">
                <a16:creationId xmlns:a16="http://schemas.microsoft.com/office/drawing/2014/main" id="{3B5AB626-C268-4A2F-A78D-85EDEE46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098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节奏控制</a:t>
            </a:r>
          </a:p>
        </p:txBody>
      </p:sp>
      <p:sp>
        <p:nvSpPr>
          <p:cNvPr id="15" name="bullet-detail-节奏控制">
            <a:extLst xmlns:a="http://schemas.openxmlformats.org/drawingml/2006/main">
              <a:ext uri="{FF2B5EF4-FFF2-40B4-BE49-F238E27FC236}">
                <a16:creationId xmlns:a16="http://schemas.microsoft.com/office/drawing/2014/main" id="{BFAD14CC-A9B3-4A6C-A27B-7F7DA293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339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流卡住就切报告页，主结论不受影响。</a:t>
            </a:r>
          </a:p>
        </p:txBody>
      </p:sp>
      <p:sp>
        <p:nvSpPr>
          <p:cNvPr id="16" name="ops-callout">
            <a:extLst xmlns:a="http://schemas.openxmlformats.org/drawingml/2006/main">
              <a:ext uri="{FF2B5EF4-FFF2-40B4-BE49-F238E27FC236}">
                <a16:creationId xmlns:a16="http://schemas.microsoft.com/office/drawing/2014/main" id="{E0EB8CC9-7732-4025-A219-938405CC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9140"/>
            <a:ext cx="3333750" cy="849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12">
              <a:alpha val="10000"/>
            </a:srgbClr>
          </a:solidFill>
          <a:ln xmlns:a="http://schemas.openxmlformats.org/drawingml/2006/main" w="9525">
            <a:solidFill>
              <a:srgbClr val="E60012">
                <a:alpha val="30000"/>
              </a:srgbClr>
            </a:solidFill>
            <a:prstDash val="solid"/>
          </a:ln>
        </p:spPr>
      </p:sp>
      <p:sp>
        <p:nvSpPr>
          <p:cNvPr id="17" name="ops-callout-kicker">
            <a:extLst xmlns:a="http://schemas.openxmlformats.org/drawingml/2006/main">
              <a:ext uri="{FF2B5EF4-FFF2-40B4-BE49-F238E27FC236}">
                <a16:creationId xmlns:a16="http://schemas.microsoft.com/office/drawing/2014/main" id="{4156E564-F8B9-464C-BB65-1D53386E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9140"/>
            <a:ext cx="68094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一句话原则</a:t>
            </a:r>
          </a:p>
        </p:txBody>
      </p:sp>
      <p:sp>
        <p:nvSpPr>
          <p:cNvPr id="18" name="ops-callout-title">
            <a:extLst xmlns:a="http://schemas.openxmlformats.org/drawingml/2006/main">
              <a:ext uri="{FF2B5EF4-FFF2-40B4-BE49-F238E27FC236}">
                <a16:creationId xmlns:a16="http://schemas.microsoft.com/office/drawing/2014/main" id="{3A80361A-92E4-40CD-A60D-BBA620D8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56785"/>
            <a:ext cx="3619500" cy="4114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只要“项目接入 + 分析 + 报告”能跑通，主线就成立。</a:t>
            </a:r>
          </a:p>
        </p:txBody>
      </p:sp>
      <p:sp>
        <p:nvSpPr>
          <p:cNvPr id="19" name="ops-callout-subtitle">
            <a:extLst xmlns:a="http://schemas.openxmlformats.org/drawingml/2006/main">
              <a:ext uri="{FF2B5EF4-FFF2-40B4-BE49-F238E27FC236}">
                <a16:creationId xmlns:a16="http://schemas.microsoft.com/office/drawing/2014/main" id="{AB759B62-E048-4558-9351-39A34368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5890"/>
            <a:ext cx="361950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实时链路是加分项；不稳时，用截图保住理解路径。</a:t>
            </a:r>
          </a:p>
        </p:txBody>
      </p:sp>
      <p:sp>
        <p:nvSpPr>
          <p:cNvPr id="20" name="ops-middle-kicker">
            <a:extLst xmlns:a="http://schemas.openxmlformats.org/drawingml/2006/main">
              <a:ext uri="{FF2B5EF4-FFF2-40B4-BE49-F238E27FC236}">
                <a16:creationId xmlns:a16="http://schemas.microsoft.com/office/drawing/2014/main" id="{D3B72FD3-10C6-48E7-BBC7-7A230FF1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00250"/>
            <a:ext cx="54473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运行前提</a:t>
            </a:r>
          </a:p>
        </p:txBody>
      </p:sp>
      <p:sp>
        <p:nvSpPr>
          <p:cNvPr id="21" name="ops-middle-title">
            <a:extLst xmlns:a="http://schemas.openxmlformats.org/drawingml/2006/main">
              <a:ext uri="{FF2B5EF4-FFF2-40B4-BE49-F238E27FC236}">
                <a16:creationId xmlns:a16="http://schemas.microsoft.com/office/drawing/2014/main" id="{1B9313B8-63AF-4C5F-B4A0-FF2BE208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74570"/>
            <a:ext cx="381000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先看依赖</a:t>
            </a:r>
          </a:p>
        </p:txBody>
      </p:sp>
      <p:sp>
        <p:nvSpPr>
          <p:cNvPr id="22" name="bullet-dot-asgi-celery">
            <a:extLst xmlns:a="http://schemas.openxmlformats.org/drawingml/2006/main">
              <a:ext uri="{FF2B5EF4-FFF2-40B4-BE49-F238E27FC236}">
                <a16:creationId xmlns:a16="http://schemas.microsoft.com/office/drawing/2014/main" id="{A386D092-BB01-46D0-95CC-2A8EC18B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23" name="bullet-title-asgi-celery">
            <a:extLst xmlns:a="http://schemas.openxmlformats.org/drawingml/2006/main">
              <a:ext uri="{FF2B5EF4-FFF2-40B4-BE49-F238E27FC236}">
                <a16:creationId xmlns:a16="http://schemas.microsoft.com/office/drawing/2014/main" id="{5616AAAE-3E72-44B1-9CA6-2A5707DF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23210"/>
            <a:ext cx="3619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ASGI / Celery</a:t>
            </a:r>
          </a:p>
        </p:txBody>
      </p:sp>
      <p:sp>
        <p:nvSpPr>
          <p:cNvPr id="24" name="bullet-detail-asgi-celery">
            <a:extLst xmlns:a="http://schemas.openxmlformats.org/drawingml/2006/main">
              <a:ext uri="{FF2B5EF4-FFF2-40B4-BE49-F238E27FC236}">
                <a16:creationId xmlns:a16="http://schemas.microsoft.com/office/drawing/2014/main" id="{E3FFF7D2-A21F-43BC-9699-D5D197BD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55620"/>
            <a:ext cx="361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长任务、SSE 和 WebSocket 都依赖异步执行。</a:t>
            </a:r>
          </a:p>
        </p:txBody>
      </p:sp>
      <p:sp>
        <p:nvSpPr>
          <p:cNvPr id="25" name="bullet-dot-redis-channels">
            <a:extLst xmlns:a="http://schemas.openxmlformats.org/drawingml/2006/main">
              <a:ext uri="{FF2B5EF4-FFF2-40B4-BE49-F238E27FC236}">
                <a16:creationId xmlns:a16="http://schemas.microsoft.com/office/drawing/2014/main" id="{FBC50053-28EA-449B-89C0-7D606800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413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B7"/>
          </a:solidFill>
          <a:ln xmlns:a="http://schemas.openxmlformats.org/drawingml/2006/main">
            <a:noFill/>
            <a:prstDash val="solid"/>
          </a:ln>
        </p:spPr>
      </p:sp>
      <p:sp>
        <p:nvSpPr>
          <p:cNvPr id="26" name="bullet-title-redis-channels">
            <a:extLst xmlns:a="http://schemas.openxmlformats.org/drawingml/2006/main">
              <a:ext uri="{FF2B5EF4-FFF2-40B4-BE49-F238E27FC236}">
                <a16:creationId xmlns:a16="http://schemas.microsoft.com/office/drawing/2014/main" id="{69E71B8F-ACE3-4468-A053-9F2D52D2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41370"/>
            <a:ext cx="3619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Redis + Channels</a:t>
            </a:r>
          </a:p>
        </p:txBody>
      </p:sp>
      <p:sp>
        <p:nvSpPr>
          <p:cNvPr id="27" name="bullet-detail-redis-channels">
            <a:extLst xmlns:a="http://schemas.openxmlformats.org/drawingml/2006/main">
              <a:ext uri="{FF2B5EF4-FFF2-40B4-BE49-F238E27FC236}">
                <a16:creationId xmlns:a16="http://schemas.microsoft.com/office/drawing/2014/main" id="{216507C6-34E2-4BED-8802-F725D2AA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73780"/>
            <a:ext cx="361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group 状态、队列和推送都靠它。</a:t>
            </a:r>
          </a:p>
        </p:txBody>
      </p:sp>
      <p:sp>
        <p:nvSpPr>
          <p:cNvPr id="28" name="bullet-dot-nginx-代理">
            <a:extLst xmlns:a="http://schemas.openxmlformats.org/drawingml/2006/main">
              <a:ext uri="{FF2B5EF4-FFF2-40B4-BE49-F238E27FC236}">
                <a16:creationId xmlns:a16="http://schemas.microsoft.com/office/drawing/2014/main" id="{2772BA7E-0E6E-49DB-8B74-F94445C3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595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29" name="bullet-title-nginx-代理">
            <a:extLst xmlns:a="http://schemas.openxmlformats.org/drawingml/2006/main">
              <a:ext uri="{FF2B5EF4-FFF2-40B4-BE49-F238E27FC236}">
                <a16:creationId xmlns:a16="http://schemas.microsoft.com/office/drawing/2014/main" id="{A93FAFD6-4F24-4115-B817-6DFC6D38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59530"/>
            <a:ext cx="3619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Nginx 代理</a:t>
            </a:r>
          </a:p>
        </p:txBody>
      </p:sp>
      <p:sp>
        <p:nvSpPr>
          <p:cNvPr id="30" name="bullet-detail-nginx-代理">
            <a:extLst xmlns:a="http://schemas.openxmlformats.org/drawingml/2006/main">
              <a:ext uri="{FF2B5EF4-FFF2-40B4-BE49-F238E27FC236}">
                <a16:creationId xmlns:a16="http://schemas.microsoft.com/office/drawing/2014/main" id="{41688406-3F00-4781-B6D7-04D4F027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1940"/>
            <a:ext cx="3619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/basic-api/api、/ws/、stream 要转发且 stream 不能缓冲。</a:t>
            </a:r>
          </a:p>
        </p:txBody>
      </p:sp>
      <p:sp>
        <p:nvSpPr>
          <p:cNvPr id="31" name="bullet-dot-tiktoken-llm">
            <a:extLst xmlns:a="http://schemas.openxmlformats.org/drawingml/2006/main">
              <a:ext uri="{FF2B5EF4-FFF2-40B4-BE49-F238E27FC236}">
                <a16:creationId xmlns:a16="http://schemas.microsoft.com/office/drawing/2014/main" id="{C0237255-82B3-407D-9772-90A1C745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491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32" name="bullet-title-tiktoken-llm">
            <a:extLst xmlns:a="http://schemas.openxmlformats.org/drawingml/2006/main">
              <a:ext uri="{FF2B5EF4-FFF2-40B4-BE49-F238E27FC236}">
                <a16:creationId xmlns:a16="http://schemas.microsoft.com/office/drawing/2014/main" id="{FE364AA4-C55C-4F1B-9A0E-1E45E2E5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49140"/>
            <a:ext cx="3619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tiktoken / LLM</a:t>
            </a:r>
          </a:p>
        </p:txBody>
      </p:sp>
      <p:sp>
        <p:nvSpPr>
          <p:cNvPr id="33" name="bullet-detail-tiktoken-llm">
            <a:extLst xmlns:a="http://schemas.openxmlformats.org/drawingml/2006/main">
              <a:ext uri="{FF2B5EF4-FFF2-40B4-BE49-F238E27FC236}">
                <a16:creationId xmlns:a16="http://schemas.microsoft.com/office/drawing/2014/main" id="{D3B7AC70-A1FA-4C1F-9902-65CB7587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81550"/>
            <a:ext cx="361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内网网关、离线缓存和首包超时都要预先处理。</a:t>
            </a:r>
          </a:p>
        </p:txBody>
      </p:sp>
      <p:sp>
        <p:nvSpPr>
          <p:cNvPr id="34" name="ops-right-kicker">
            <a:extLst xmlns:a="http://schemas.openxmlformats.org/drawingml/2006/main">
              <a:ext uri="{FF2B5EF4-FFF2-40B4-BE49-F238E27FC236}">
                <a16:creationId xmlns:a16="http://schemas.microsoft.com/office/drawing/2014/main" id="{22C5D4FD-323C-4A4E-A131-B0905C91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00250"/>
            <a:ext cx="8171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60012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E60012"/>
                </a:solidFill>
                <a:latin typeface="Menlo"/>
                <a:ea typeface="Menlo"/>
                <a:cs typeface="Menlo"/>
              </a:rPr>
              <a:t>常见故障信号</a:t>
            </a:r>
          </a:p>
        </p:txBody>
      </p:sp>
      <p:sp>
        <p:nvSpPr>
          <p:cNvPr id="35" name="ops-right-title">
            <a:extLst xmlns:a="http://schemas.openxmlformats.org/drawingml/2006/main">
              <a:ext uri="{FF2B5EF4-FFF2-40B4-BE49-F238E27FC236}">
                <a16:creationId xmlns:a16="http://schemas.microsoft.com/office/drawing/2014/main" id="{069517E3-4D96-44F4-BEB2-173216C7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74570"/>
            <a:ext cx="352425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先查代理和 worker</a:t>
            </a:r>
          </a:p>
        </p:txBody>
      </p:sp>
      <p:sp>
        <p:nvSpPr>
          <p:cNvPr id="36" name="bullet-dot-页面能打开-但流不刷新">
            <a:extLst xmlns:a="http://schemas.openxmlformats.org/drawingml/2006/main">
              <a:ext uri="{FF2B5EF4-FFF2-40B4-BE49-F238E27FC236}">
                <a16:creationId xmlns:a16="http://schemas.microsoft.com/office/drawing/2014/main" id="{D0649855-14DD-484C-8FDF-7F06F2AD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0012"/>
          </a:solidFill>
          <a:ln xmlns:a="http://schemas.openxmlformats.org/drawingml/2006/main">
            <a:noFill/>
            <a:prstDash val="solid"/>
          </a:ln>
        </p:spPr>
      </p:sp>
      <p:sp>
        <p:nvSpPr>
          <p:cNvPr id="37" name="bullet-title-页面能打开-但流不刷新">
            <a:extLst xmlns:a="http://schemas.openxmlformats.org/drawingml/2006/main">
              <a:ext uri="{FF2B5EF4-FFF2-40B4-BE49-F238E27FC236}">
                <a16:creationId xmlns:a16="http://schemas.microsoft.com/office/drawing/2014/main" id="{3AC3E2E1-8281-446E-A7AB-BD2B8377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23210"/>
            <a:ext cx="3333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页面能打开，但流不刷新</a:t>
            </a:r>
          </a:p>
        </p:txBody>
      </p:sp>
      <p:sp>
        <p:nvSpPr>
          <p:cNvPr id="38" name="bullet-detail-页面能打开-但流不刷新">
            <a:extLst xmlns:a="http://schemas.openxmlformats.org/drawingml/2006/main">
              <a:ext uri="{FF2B5EF4-FFF2-40B4-BE49-F238E27FC236}">
                <a16:creationId xmlns:a16="http://schemas.microsoft.com/office/drawing/2014/main" id="{3199A533-0614-4E44-B99E-1965993D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55620"/>
            <a:ext cx="3333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优先查 SSE / WS / buffering 与 Nginx 配置。</a:t>
            </a:r>
          </a:p>
        </p:txBody>
      </p:sp>
      <p:sp>
        <p:nvSpPr>
          <p:cNvPr id="39" name="bullet-dot-接口-401-404">
            <a:extLst xmlns:a="http://schemas.openxmlformats.org/drawingml/2006/main">
              <a:ext uri="{FF2B5EF4-FFF2-40B4-BE49-F238E27FC236}">
                <a16:creationId xmlns:a16="http://schemas.microsoft.com/office/drawing/2014/main" id="{EF2B80EB-D4E2-42FA-AD7C-E82427B4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413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7700"/>
          </a:solidFill>
          <a:ln xmlns:a="http://schemas.openxmlformats.org/drawingml/2006/main">
            <a:noFill/>
            <a:prstDash val="solid"/>
          </a:ln>
        </p:spPr>
      </p:sp>
      <p:sp>
        <p:nvSpPr>
          <p:cNvPr id="40" name="bullet-title-接口-401-404">
            <a:extLst xmlns:a="http://schemas.openxmlformats.org/drawingml/2006/main">
              <a:ext uri="{FF2B5EF4-FFF2-40B4-BE49-F238E27FC236}">
                <a16:creationId xmlns:a16="http://schemas.microsoft.com/office/drawing/2014/main" id="{D4187CCD-3228-4820-A654-C031FD51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341370"/>
            <a:ext cx="3333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接口 401 / 404</a:t>
            </a:r>
          </a:p>
        </p:txBody>
      </p:sp>
      <p:sp>
        <p:nvSpPr>
          <p:cNvPr id="41" name="bullet-detail-接口-401-404">
            <a:extLst xmlns:a="http://schemas.openxmlformats.org/drawingml/2006/main">
              <a:ext uri="{FF2B5EF4-FFF2-40B4-BE49-F238E27FC236}">
                <a16:creationId xmlns:a16="http://schemas.microsoft.com/office/drawing/2014/main" id="{EDD842F9-CE7D-4E4F-BD98-893FCFC6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73780"/>
            <a:ext cx="3333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先看 token、baseURL、/basic-api/api 是否对齐。</a:t>
            </a:r>
          </a:p>
        </p:txBody>
      </p:sp>
      <p:sp>
        <p:nvSpPr>
          <p:cNvPr id="42" name="bullet-dot-日志有任务-ui-没事件">
            <a:extLst xmlns:a="http://schemas.openxmlformats.org/drawingml/2006/main">
              <a:ext uri="{FF2B5EF4-FFF2-40B4-BE49-F238E27FC236}">
                <a16:creationId xmlns:a16="http://schemas.microsoft.com/office/drawing/2014/main" id="{6FF8B7A5-68C1-485C-BBF3-CBD72935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309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F5A"/>
          </a:solidFill>
          <a:ln xmlns:a="http://schemas.openxmlformats.org/drawingml/2006/main">
            <a:noFill/>
            <a:prstDash val="solid"/>
          </a:ln>
        </p:spPr>
      </p:sp>
      <p:sp>
        <p:nvSpPr>
          <p:cNvPr id="43" name="bullet-title-日志有任务-ui-没事件">
            <a:extLst xmlns:a="http://schemas.openxmlformats.org/drawingml/2006/main">
              <a:ext uri="{FF2B5EF4-FFF2-40B4-BE49-F238E27FC236}">
                <a16:creationId xmlns:a16="http://schemas.microsoft.com/office/drawing/2014/main" id="{55BCB479-AB4D-4BC4-8DBC-F90D2A5E9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30980"/>
            <a:ext cx="3333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01828"/>
                </a:solidFill>
                <a:latin typeface="PingFang SC"/>
                <a:ea typeface="PingFang SC"/>
                <a:cs typeface="PingFang SC"/>
              </a:rPr>
              <a:t>日志有任务，UI 没事件</a:t>
            </a:r>
          </a:p>
        </p:txBody>
      </p:sp>
      <p:sp>
        <p:nvSpPr>
          <p:cNvPr id="44" name="bullet-detail-日志有任务-ui-没事件">
            <a:extLst xmlns:a="http://schemas.openxmlformats.org/drawingml/2006/main">
              <a:ext uri="{FF2B5EF4-FFF2-40B4-BE49-F238E27FC236}">
                <a16:creationId xmlns:a16="http://schemas.microsoft.com/office/drawing/2014/main" id="{731003C0-2FB4-4D1F-99D6-17665DD6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63390"/>
            <a:ext cx="3333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467"/>
                </a:solidFill>
                <a:latin typeface="PingFang SC"/>
                <a:ea typeface="PingFang SC"/>
                <a:cs typeface="PingFang SC"/>
              </a:rPr>
              <a:t>常见是 Redis、Channels 或 DeepAudit worker 未就绪。</a:t>
            </a:r>
          </a:p>
        </p:txBody>
      </p:sp>
      <p:sp>
        <p:nvSpPr>
          <p:cNvPr id="45" name="chip-enable-scheduler-false">
            <a:extLst xmlns:a="http://schemas.openxmlformats.org/drawingml/2006/main">
              <a:ext uri="{FF2B5EF4-FFF2-40B4-BE49-F238E27FC236}">
                <a16:creationId xmlns:a16="http://schemas.microsoft.com/office/drawing/2014/main" id="{635C32C1-CF8A-456E-BE41-FB234CC8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20590"/>
            <a:ext cx="1724025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46" name="chip-text-enable-scheduler-false">
            <a:extLst xmlns:a="http://schemas.openxmlformats.org/drawingml/2006/main">
              <a:ext uri="{FF2B5EF4-FFF2-40B4-BE49-F238E27FC236}">
                <a16:creationId xmlns:a16="http://schemas.microsoft.com/office/drawing/2014/main" id="{482C04E6-6D09-4200-9001-4267D708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3109" y="4720590"/>
            <a:ext cx="176650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ENABLE_SCHEDULER=false</a:t>
            </a:r>
          </a:p>
        </p:txBody>
      </p:sp>
      <p:sp>
        <p:nvSpPr>
          <p:cNvPr id="47" name="chip-redis-db-隔离">
            <a:extLst xmlns:a="http://schemas.openxmlformats.org/drawingml/2006/main">
              <a:ext uri="{FF2B5EF4-FFF2-40B4-BE49-F238E27FC236}">
                <a16:creationId xmlns:a16="http://schemas.microsoft.com/office/drawing/2014/main" id="{97D98270-5BE5-436F-A2C7-BEB6B421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720590"/>
            <a:ext cx="1724025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48" name="chip-text-redis-db-隔离">
            <a:extLst xmlns:a="http://schemas.openxmlformats.org/drawingml/2006/main">
              <a:ext uri="{FF2B5EF4-FFF2-40B4-BE49-F238E27FC236}">
                <a16:creationId xmlns:a16="http://schemas.microsoft.com/office/drawing/2014/main" id="{D4FA261D-74B4-461D-A585-482D7D07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9097" y="4720590"/>
            <a:ext cx="99498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REDIS DB 隔离</a:t>
            </a:r>
          </a:p>
        </p:txBody>
      </p:sp>
      <p:sp>
        <p:nvSpPr>
          <p:cNvPr id="49" name="chip-deepaudit-local-sh">
            <a:extLst xmlns:a="http://schemas.openxmlformats.org/drawingml/2006/main">
              <a:ext uri="{FF2B5EF4-FFF2-40B4-BE49-F238E27FC236}">
                <a16:creationId xmlns:a16="http://schemas.microsoft.com/office/drawing/2014/main" id="{28E36401-3BC8-4D27-8F26-D6BCB6D7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956810"/>
            <a:ext cx="1724025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50" name="chip-text-deepaudit-local-sh">
            <a:extLst xmlns:a="http://schemas.openxmlformats.org/drawingml/2006/main">
              <a:ext uri="{FF2B5EF4-FFF2-40B4-BE49-F238E27FC236}">
                <a16:creationId xmlns:a16="http://schemas.microsoft.com/office/drawing/2014/main" id="{04CF82EE-99E5-4155-9B75-EF260997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701" y="4956810"/>
            <a:ext cx="1445324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deepaudit-local.sh</a:t>
            </a:r>
          </a:p>
        </p:txBody>
      </p:sp>
      <p:sp>
        <p:nvSpPr>
          <p:cNvPr id="51" name="chip-warm-tiktoken-cache-py">
            <a:extLst xmlns:a="http://schemas.openxmlformats.org/drawingml/2006/main">
              <a:ext uri="{FF2B5EF4-FFF2-40B4-BE49-F238E27FC236}">
                <a16:creationId xmlns:a16="http://schemas.microsoft.com/office/drawing/2014/main" id="{4FD7C010-7C58-4809-9FEA-9D31E940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956810"/>
            <a:ext cx="1724025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>
              <a:alpha val="4000"/>
            </a:srgbClr>
          </a:solidFill>
          <a:ln xmlns:a="http://schemas.openxmlformats.org/drawingml/2006/main" w="9525">
            <a:solidFill>
              <a:srgbClr val="101828">
                <a:alpha val="10000"/>
              </a:srgbClr>
            </a:solidFill>
            <a:prstDash val="solid"/>
          </a:ln>
        </p:spPr>
      </p:sp>
      <p:sp>
        <p:nvSpPr>
          <p:cNvPr id="52" name="chip-text-warm-tiktoken-cache-py">
            <a:extLst xmlns:a="http://schemas.openxmlformats.org/drawingml/2006/main">
              <a:ext uri="{FF2B5EF4-FFF2-40B4-BE49-F238E27FC236}">
                <a16:creationId xmlns:a16="http://schemas.microsoft.com/office/drawing/2014/main" id="{7BE08617-AA4E-489F-9E4D-E3C7D9EF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3334" y="4956810"/>
            <a:ext cx="176650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1828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101828"/>
                </a:solidFill>
                <a:latin typeface="Menlo"/>
                <a:ea typeface="Menlo"/>
                <a:cs typeface="Menlo"/>
              </a:rPr>
              <a:t>warm_tiktoken_cache.py</a:t>
            </a:r>
          </a:p>
        </p:txBody>
      </p:sp>
    </p:spTree>
    <p:extLst>
      <p:ext uri="{BB962C8B-B14F-4D97-AF65-F5344CB8AC3E}">
        <p14:creationId xmlns:p14="http://schemas.microsoft.com/office/powerpoint/2010/main" val="14264568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2026-04-29T03:44:35.4510000Z</dcterms:created>
  <dcterms:modified xsi:type="dcterms:W3CDTF">2026-04-29T03:44:35.4510000Z</dcterms:modified>
</coreProperties>
</file>